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91440"/>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8368"/>
            <a:ext cx="4572000" cy="320040"/>
          </a:xfrm>
          <a:prstGeom prst="rect">
            <a:avLst/>
          </a:prstGeom>
          <a:noFill/>
        </p:spPr>
        <p:txBody>
          <a:bodyPr wrap="square" lIns="36576" rIns="36576" tIns="18288" anchor="t">
            <a:spAutoFit/>
          </a:bodyPr>
          <a:lstStyle/>
          <a:p>
            <a:pPr>
              <a:defRPr sz="1500" b="1">
                <a:solidFill>
                  <a:srgbClr val="37E0C5"/>
                </a:solidFill>
                <a:latin typeface="Aptos"/>
              </a:defRPr>
            </a:pPr>
            <a:r>
              <a:t>DEVICE SHIELD</a:t>
            </a:r>
          </a:p>
        </p:txBody>
      </p:sp>
      <p:sp>
        <p:nvSpPr>
          <p:cNvPr id="8" name="TextBox 7"/>
          <p:cNvSpPr txBox="1"/>
          <p:nvPr/>
        </p:nvSpPr>
        <p:spPr>
          <a:xfrm>
            <a:off x="658368" y="1298448"/>
            <a:ext cx="8412480" cy="1417320"/>
          </a:xfrm>
          <a:prstGeom prst="rect">
            <a:avLst/>
          </a:prstGeom>
          <a:noFill/>
        </p:spPr>
        <p:txBody>
          <a:bodyPr wrap="square" lIns="36576" rIns="36576" tIns="18288" anchor="t">
            <a:spAutoFit/>
          </a:bodyPr>
          <a:lstStyle/>
          <a:p>
            <a:pPr>
              <a:defRPr sz="4200" b="1">
                <a:solidFill>
                  <a:srgbClr val="F7FBFF"/>
                </a:solidFill>
                <a:latin typeface="Aptos"/>
              </a:defRPr>
            </a:pPr>
            <a:r>
              <a:t>Smart City GBV</a:t>
            </a:r>
            <a:br/>
            <a:r>
              <a:t>Response System</a:t>
            </a:r>
          </a:p>
        </p:txBody>
      </p:sp>
      <p:sp>
        <p:nvSpPr>
          <p:cNvPr id="9" name="TextBox 8"/>
          <p:cNvSpPr txBox="1"/>
          <p:nvPr/>
        </p:nvSpPr>
        <p:spPr>
          <a:xfrm>
            <a:off x="713232" y="2907792"/>
            <a:ext cx="7772400" cy="411480"/>
          </a:xfrm>
          <a:prstGeom prst="rect">
            <a:avLst/>
          </a:prstGeom>
          <a:noFill/>
        </p:spPr>
        <p:txBody>
          <a:bodyPr wrap="square" lIns="36576" rIns="36576" tIns="18288" anchor="t">
            <a:spAutoFit/>
          </a:bodyPr>
          <a:lstStyle/>
          <a:p>
            <a:pPr>
              <a:defRPr sz="1700" b="0">
                <a:solidFill>
                  <a:srgbClr val="C4D3E4"/>
                </a:solidFill>
                <a:latin typeface="Aptos"/>
              </a:defRPr>
            </a:pPr>
            <a:r>
              <a:t>Web ecosystem concept and hackathon-ready prototype plan</a:t>
            </a:r>
          </a:p>
        </p:txBody>
      </p:sp>
      <p:sp>
        <p:nvSpPr>
          <p:cNvPr id="10" name="Rectangle 9"/>
          <p:cNvSpPr/>
          <p:nvPr/>
        </p:nvSpPr>
        <p:spPr>
          <a:xfrm>
            <a:off x="713232" y="3977639"/>
            <a:ext cx="3657600" cy="54864"/>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224528"/>
            <a:ext cx="7498079" cy="594360"/>
          </a:xfrm>
          <a:prstGeom prst="rect">
            <a:avLst/>
          </a:prstGeom>
          <a:noFill/>
        </p:spPr>
        <p:txBody>
          <a:bodyPr wrap="square" lIns="36576" rIns="36576" tIns="18288" anchor="t">
            <a:spAutoFit/>
          </a:bodyPr>
          <a:lstStyle/>
          <a:p>
            <a:pPr>
              <a:defRPr sz="2200" b="1">
                <a:solidFill>
                  <a:srgbClr val="F7FBFF"/>
                </a:solidFill>
                <a:latin typeface="Aptos"/>
              </a:defRPr>
            </a:pPr>
            <a:r>
              <a:t>Helping survivors silently request help through real-time city intelligence and automated dispatch.</a:t>
            </a:r>
          </a:p>
        </p:txBody>
      </p:sp>
      <p:sp>
        <p:nvSpPr>
          <p:cNvPr id="12" name="Rounded Rectangle 11"/>
          <p:cNvSpPr/>
          <p:nvPr/>
        </p:nvSpPr>
        <p:spPr>
          <a:xfrm>
            <a:off x="8641080" y="1024128"/>
            <a:ext cx="2468880" cy="44348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2832" y="1353312"/>
            <a:ext cx="1874519" cy="228600"/>
          </a:xfrm>
          <a:prstGeom prst="rect">
            <a:avLst/>
          </a:prstGeom>
          <a:noFill/>
        </p:spPr>
        <p:txBody>
          <a:bodyPr wrap="square" lIns="36576" rIns="36576" tIns="18288" anchor="t">
            <a:spAutoFit/>
          </a:bodyPr>
          <a:lstStyle/>
          <a:p>
            <a:pPr algn="ctr">
              <a:defRPr sz="1000" b="1">
                <a:solidFill>
                  <a:srgbClr val="37E0C5"/>
                </a:solidFill>
                <a:latin typeface="Aptos"/>
              </a:defRPr>
            </a:pPr>
            <a:r>
              <a:t>INCIDENT STATUS</a:t>
            </a:r>
          </a:p>
        </p:txBody>
      </p:sp>
      <p:sp>
        <p:nvSpPr>
          <p:cNvPr id="14" name="Rounded Rectangle 13"/>
          <p:cNvSpPr/>
          <p:nvPr/>
        </p:nvSpPr>
        <p:spPr>
          <a:xfrm>
            <a:off x="9189720" y="1828800"/>
            <a:ext cx="201168" cy="201168"/>
          </a:xfrm>
          <a:prstGeom prst="roundRect">
            <a:avLst>
              <a:gd name="adj" fmla="val 12000"/>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37192" y="1819656"/>
            <a:ext cx="1234440" cy="292608"/>
          </a:xfrm>
          <a:prstGeom prst="rect">
            <a:avLst/>
          </a:prstGeom>
          <a:noFill/>
        </p:spPr>
        <p:txBody>
          <a:bodyPr wrap="square" lIns="36576" rIns="36576" tIns="18288" anchor="t">
            <a:spAutoFit/>
          </a:bodyPr>
          <a:lstStyle/>
          <a:p>
            <a:pPr>
              <a:defRPr sz="950" b="1">
                <a:solidFill>
                  <a:srgbClr val="F7FBFF"/>
                </a:solidFill>
                <a:latin typeface="Aptos"/>
              </a:defRPr>
            </a:pPr>
            <a:r>
              <a:t>KEYWORD DETECTED</a:t>
            </a:r>
          </a:p>
        </p:txBody>
      </p:sp>
      <p:sp>
        <p:nvSpPr>
          <p:cNvPr id="16" name="Rounded Rectangle 15"/>
          <p:cNvSpPr/>
          <p:nvPr/>
        </p:nvSpPr>
        <p:spPr>
          <a:xfrm>
            <a:off x="9189720" y="2468880"/>
            <a:ext cx="201168" cy="201168"/>
          </a:xfrm>
          <a:prstGeom prst="roundRect">
            <a:avLst>
              <a:gd name="adj" fmla="val 12000"/>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37192" y="2459736"/>
            <a:ext cx="1234440" cy="292608"/>
          </a:xfrm>
          <a:prstGeom prst="rect">
            <a:avLst/>
          </a:prstGeom>
          <a:noFill/>
        </p:spPr>
        <p:txBody>
          <a:bodyPr wrap="square" lIns="36576" rIns="36576" tIns="18288" anchor="t">
            <a:spAutoFit/>
          </a:bodyPr>
          <a:lstStyle/>
          <a:p>
            <a:pPr>
              <a:defRPr sz="950" b="1">
                <a:solidFill>
                  <a:srgbClr val="F7FBFF"/>
                </a:solidFill>
                <a:latin typeface="Aptos"/>
              </a:defRPr>
            </a:pPr>
            <a:r>
              <a:t>INCIDENT CREATED</a:t>
            </a:r>
          </a:p>
        </p:txBody>
      </p:sp>
      <p:sp>
        <p:nvSpPr>
          <p:cNvPr id="18" name="Rounded Rectangle 17"/>
          <p:cNvSpPr/>
          <p:nvPr/>
        </p:nvSpPr>
        <p:spPr>
          <a:xfrm>
            <a:off x="9189720" y="3108960"/>
            <a:ext cx="201168" cy="201168"/>
          </a:xfrm>
          <a:prstGeom prst="roundRect">
            <a:avLst>
              <a:gd name="adj" fmla="val 12000"/>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37192" y="3099816"/>
            <a:ext cx="1234440" cy="292608"/>
          </a:xfrm>
          <a:prstGeom prst="rect">
            <a:avLst/>
          </a:prstGeom>
          <a:noFill/>
        </p:spPr>
        <p:txBody>
          <a:bodyPr wrap="square" lIns="36576" rIns="36576" tIns="18288" anchor="t">
            <a:spAutoFit/>
          </a:bodyPr>
          <a:lstStyle/>
          <a:p>
            <a:pPr>
              <a:defRPr sz="950" b="1">
                <a:solidFill>
                  <a:srgbClr val="F7FBFF"/>
                </a:solidFill>
                <a:latin typeface="Aptos"/>
              </a:defRPr>
            </a:pPr>
            <a:r>
              <a:t>TRUSTED MEMBERS</a:t>
            </a:r>
          </a:p>
        </p:txBody>
      </p:sp>
      <p:sp>
        <p:nvSpPr>
          <p:cNvPr id="20" name="Rounded Rectangle 19"/>
          <p:cNvSpPr/>
          <p:nvPr/>
        </p:nvSpPr>
        <p:spPr>
          <a:xfrm>
            <a:off x="9189720" y="3749039"/>
            <a:ext cx="201168" cy="201168"/>
          </a:xfrm>
          <a:prstGeom prst="roundRect">
            <a:avLst>
              <a:gd name="adj" fmla="val 12000"/>
            </a:avLst>
          </a:prstGeom>
          <a:solidFill>
            <a:srgbClr val="73E29A"/>
          </a:solidFill>
          <a:ln>
            <a:solidFill>
              <a:srgbClr val="73E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37192" y="3739896"/>
            <a:ext cx="1234440" cy="292608"/>
          </a:xfrm>
          <a:prstGeom prst="rect">
            <a:avLst/>
          </a:prstGeom>
          <a:noFill/>
        </p:spPr>
        <p:txBody>
          <a:bodyPr wrap="square" lIns="36576" rIns="36576" tIns="18288" anchor="t">
            <a:spAutoFit/>
          </a:bodyPr>
          <a:lstStyle/>
          <a:p>
            <a:pPr>
              <a:defRPr sz="950" b="1">
                <a:solidFill>
                  <a:srgbClr val="F7FBFF"/>
                </a:solidFill>
                <a:latin typeface="Aptos"/>
              </a:defRPr>
            </a:pPr>
            <a:r>
              <a:t>EVIDENCE LIVE</a:t>
            </a:r>
          </a:p>
        </p:txBody>
      </p:sp>
      <p:sp>
        <p:nvSpPr>
          <p:cNvPr id="22" name="Rounded Rectangle 21"/>
          <p:cNvSpPr/>
          <p:nvPr/>
        </p:nvSpPr>
        <p:spPr>
          <a:xfrm>
            <a:off x="9189720" y="4389120"/>
            <a:ext cx="201168" cy="201168"/>
          </a:xfrm>
          <a:prstGeom prst="roundRect">
            <a:avLst>
              <a:gd name="adj" fmla="val 12000"/>
            </a:avLst>
          </a:prstGeom>
          <a:solidFill>
            <a:srgbClr val="F7FBFF"/>
          </a:solidFill>
          <a:ln>
            <a:solidFill>
              <a:srgbClr val="F7F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37192" y="4379976"/>
            <a:ext cx="1234440" cy="292608"/>
          </a:xfrm>
          <a:prstGeom prst="rect">
            <a:avLst/>
          </a:prstGeom>
          <a:noFill/>
        </p:spPr>
        <p:txBody>
          <a:bodyPr wrap="square" lIns="36576" rIns="36576" tIns="18288" anchor="t">
            <a:spAutoFit/>
          </a:bodyPr>
          <a:lstStyle/>
          <a:p>
            <a:pPr>
              <a:defRPr sz="950" b="1">
                <a:solidFill>
                  <a:srgbClr val="F7FBFF"/>
                </a:solidFill>
                <a:latin typeface="Aptos"/>
              </a:defRPr>
            </a:pPr>
            <a:r>
              <a:t>RESOLUTION</a:t>
            </a:r>
          </a:p>
        </p:txBody>
      </p:sp>
      <p:sp>
        <p:nvSpPr>
          <p:cNvPr id="24" name="TextBox 23"/>
          <p:cNvSpPr txBox="1"/>
          <p:nvPr/>
        </p:nvSpPr>
        <p:spPr>
          <a:xfrm>
            <a:off x="713232" y="6144768"/>
            <a:ext cx="4754880" cy="228600"/>
          </a:xfrm>
          <a:prstGeom prst="rect">
            <a:avLst/>
          </a:prstGeom>
          <a:noFill/>
        </p:spPr>
        <p:txBody>
          <a:bodyPr wrap="square" lIns="36576" rIns="36576" tIns="18288" anchor="t">
            <a:spAutoFit/>
          </a:bodyPr>
          <a:lstStyle/>
          <a:p>
            <a:pPr>
              <a:defRPr sz="1000" b="1">
                <a:solidFill>
                  <a:srgbClr val="C4AAEB"/>
                </a:solidFill>
                <a:latin typeface="Aptos"/>
              </a:defRPr>
            </a:pPr>
            <a:r>
              <a:t>WEB ONLY • DEMO MODE • GBV AWARENESS THEME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WHY THIS MATTERS</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Introduction: a survivor’s story</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02</a:t>
            </a:r>
          </a:p>
        </p:txBody>
      </p:sp>
      <p:sp>
        <p:nvSpPr>
          <p:cNvPr id="10" name="TextBox 9"/>
          <p:cNvSpPr txBox="1"/>
          <p:nvPr/>
        </p:nvSpPr>
        <p:spPr>
          <a:xfrm>
            <a:off x="713232" y="1298448"/>
            <a:ext cx="4846320" cy="274320"/>
          </a:xfrm>
          <a:prstGeom prst="rect">
            <a:avLst/>
          </a:prstGeom>
          <a:noFill/>
        </p:spPr>
        <p:txBody>
          <a:bodyPr wrap="square" lIns="36576" rIns="36576" tIns="18288" anchor="t">
            <a:spAutoFit/>
          </a:bodyPr>
          <a:lstStyle/>
          <a:p>
            <a:pPr>
              <a:defRPr sz="1200" b="1">
                <a:solidFill>
                  <a:srgbClr val="C4AAEB"/>
                </a:solidFill>
                <a:latin typeface="Aptos"/>
              </a:defRPr>
            </a:pPr>
            <a:r>
              <a:t>Illustrative scenario — not a real person</a:t>
            </a:r>
          </a:p>
        </p:txBody>
      </p:sp>
      <p:sp>
        <p:nvSpPr>
          <p:cNvPr id="11" name="Rounded Rectangle 10"/>
          <p:cNvSpPr/>
          <p:nvPr/>
        </p:nvSpPr>
        <p:spPr>
          <a:xfrm>
            <a:off x="713232" y="1755648"/>
            <a:ext cx="6400800" cy="3401568"/>
          </a:xfrm>
          <a:prstGeom prst="roundRect">
            <a:avLst>
              <a:gd name="adj" fmla="val 12000"/>
            </a:avLst>
          </a:prstGeom>
          <a:solidFill>
            <a:srgbClr val="371F4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084831"/>
            <a:ext cx="5760720" cy="777240"/>
          </a:xfrm>
          <a:prstGeom prst="rect">
            <a:avLst/>
          </a:prstGeom>
          <a:noFill/>
        </p:spPr>
        <p:txBody>
          <a:bodyPr wrap="square" lIns="36576" rIns="36576" tIns="18288" anchor="t">
            <a:spAutoFit/>
          </a:bodyPr>
          <a:lstStyle/>
          <a:p>
            <a:pPr>
              <a:defRPr sz="2000" b="1">
                <a:solidFill>
                  <a:srgbClr val="F7FBFF"/>
                </a:solidFill>
                <a:latin typeface="Aptos"/>
              </a:defRPr>
            </a:pPr>
            <a:r>
              <a:t>Lerato is a young woman returning home when she realizes that she is being followed. She is afraid that speaking, making a call or visibly reaching for her phone could increase the danger. Quietly, she uses her configured activation mechanism.</a:t>
            </a:r>
          </a:p>
        </p:txBody>
      </p:sp>
      <p:sp>
        <p:nvSpPr>
          <p:cNvPr id="13" name="TextBox 12"/>
          <p:cNvSpPr txBox="1"/>
          <p:nvPr/>
        </p:nvSpPr>
        <p:spPr>
          <a:xfrm>
            <a:off x="1024128" y="3182112"/>
            <a:ext cx="5760720" cy="1417320"/>
          </a:xfrm>
          <a:prstGeom prst="rect">
            <a:avLst/>
          </a:prstGeom>
          <a:noFill/>
        </p:spPr>
        <p:txBody>
          <a:bodyPr wrap="square" lIns="36576" rIns="36576" tIns="18288" anchor="t">
            <a:spAutoFit/>
          </a:bodyPr>
          <a:lstStyle/>
          <a:p>
            <a:pPr>
              <a:defRPr sz="1600" b="0">
                <a:solidFill>
                  <a:srgbClr val="C4D3E4"/>
                </a:solidFill>
                <a:latin typeface="Aptos"/>
              </a:defRPr>
            </a:pPr>
            <a:r>
              <a:t>Within seconds, Device Shield creates an incident, captures Lerato’s consented location, uses available real-time city context and guides the appropriate response pathway. Trusted responders receive an alert, the nearest available response can be coordinated, and Lerato’s status is tracked until help arrives and the incident is resolved.</a:t>
            </a:r>
          </a:p>
        </p:txBody>
      </p:sp>
      <p:sp>
        <p:nvSpPr>
          <p:cNvPr id="14" name="Rounded Rectangle 13"/>
          <p:cNvSpPr/>
          <p:nvPr/>
        </p:nvSpPr>
        <p:spPr>
          <a:xfrm>
            <a:off x="7498079" y="1755648"/>
            <a:ext cx="3977639" cy="9601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79" y="1755648"/>
            <a:ext cx="64008" cy="96012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1956816"/>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01</a:t>
            </a:r>
          </a:p>
        </p:txBody>
      </p:sp>
      <p:sp>
        <p:nvSpPr>
          <p:cNvPr id="17" name="TextBox 16"/>
          <p:cNvSpPr txBox="1"/>
          <p:nvPr/>
        </p:nvSpPr>
        <p:spPr>
          <a:xfrm>
            <a:off x="8229600" y="1920240"/>
            <a:ext cx="3017520" cy="384048"/>
          </a:xfrm>
          <a:prstGeom prst="rect">
            <a:avLst/>
          </a:prstGeom>
          <a:noFill/>
        </p:spPr>
        <p:txBody>
          <a:bodyPr wrap="square" lIns="36576" rIns="36576" tIns="18288" anchor="t">
            <a:spAutoFit/>
          </a:bodyPr>
          <a:lstStyle/>
          <a:p>
            <a:pPr>
              <a:defRPr sz="1800" b="1">
                <a:solidFill>
                  <a:srgbClr val="F7FBFF"/>
                </a:solidFill>
                <a:latin typeface="Aptos"/>
              </a:defRPr>
            </a:pPr>
            <a:r>
              <a:t>Silent request</a:t>
            </a:r>
          </a:p>
        </p:txBody>
      </p:sp>
      <p:sp>
        <p:nvSpPr>
          <p:cNvPr id="18" name="TextBox 17"/>
          <p:cNvSpPr txBox="1"/>
          <p:nvPr/>
        </p:nvSpPr>
        <p:spPr>
          <a:xfrm>
            <a:off x="7726679" y="2468880"/>
            <a:ext cx="3520439" cy="82296"/>
          </a:xfrm>
          <a:prstGeom prst="rect">
            <a:avLst/>
          </a:prstGeom>
          <a:noFill/>
        </p:spPr>
        <p:txBody>
          <a:bodyPr wrap="square" lIns="36576" rIns="36576" tIns="18288" anchor="t">
            <a:spAutoFit/>
          </a:bodyPr>
          <a:lstStyle/>
          <a:p>
            <a:pPr>
              <a:defRPr sz="1450" b="0">
                <a:solidFill>
                  <a:srgbClr val="C4D3E4"/>
                </a:solidFill>
                <a:latin typeface="Aptos"/>
              </a:defRPr>
            </a:pPr>
            <a:r>
              <a:t>No conversation required</a:t>
            </a:r>
          </a:p>
        </p:txBody>
      </p:sp>
      <p:sp>
        <p:nvSpPr>
          <p:cNvPr id="19" name="Rounded Rectangle 18"/>
          <p:cNvSpPr/>
          <p:nvPr/>
        </p:nvSpPr>
        <p:spPr>
          <a:xfrm>
            <a:off x="7498079" y="2907792"/>
            <a:ext cx="3977639" cy="9601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79" y="2907792"/>
            <a:ext cx="64008" cy="96012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26679" y="3108960"/>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02</a:t>
            </a:r>
          </a:p>
        </p:txBody>
      </p:sp>
      <p:sp>
        <p:nvSpPr>
          <p:cNvPr id="22" name="TextBox 21"/>
          <p:cNvSpPr txBox="1"/>
          <p:nvPr/>
        </p:nvSpPr>
        <p:spPr>
          <a:xfrm>
            <a:off x="8229600" y="3072384"/>
            <a:ext cx="3017520" cy="384048"/>
          </a:xfrm>
          <a:prstGeom prst="rect">
            <a:avLst/>
          </a:prstGeom>
          <a:noFill/>
        </p:spPr>
        <p:txBody>
          <a:bodyPr wrap="square" lIns="36576" rIns="36576" tIns="18288" anchor="t">
            <a:spAutoFit/>
          </a:bodyPr>
          <a:lstStyle/>
          <a:p>
            <a:pPr>
              <a:defRPr sz="1800" b="1">
                <a:solidFill>
                  <a:srgbClr val="F7FBFF"/>
                </a:solidFill>
                <a:latin typeface="Aptos"/>
              </a:defRPr>
            </a:pPr>
            <a:r>
              <a:t>Smart coordination</a:t>
            </a:r>
          </a:p>
        </p:txBody>
      </p:sp>
      <p:sp>
        <p:nvSpPr>
          <p:cNvPr id="23" name="TextBox 22"/>
          <p:cNvSpPr txBox="1"/>
          <p:nvPr/>
        </p:nvSpPr>
        <p:spPr>
          <a:xfrm>
            <a:off x="7726679" y="3621024"/>
            <a:ext cx="3520439" cy="82296"/>
          </a:xfrm>
          <a:prstGeom prst="rect">
            <a:avLst/>
          </a:prstGeom>
          <a:noFill/>
        </p:spPr>
        <p:txBody>
          <a:bodyPr wrap="square" lIns="36576" rIns="36576" tIns="18288" anchor="t">
            <a:spAutoFit/>
          </a:bodyPr>
          <a:lstStyle/>
          <a:p>
            <a:pPr>
              <a:defRPr sz="1450" b="0">
                <a:solidFill>
                  <a:srgbClr val="C4D3E4"/>
                </a:solidFill>
                <a:latin typeface="Aptos"/>
              </a:defRPr>
            </a:pPr>
            <a:r>
              <a:t>City context + location</a:t>
            </a:r>
          </a:p>
        </p:txBody>
      </p:sp>
      <p:sp>
        <p:nvSpPr>
          <p:cNvPr id="24" name="Rounded Rectangle 23"/>
          <p:cNvSpPr/>
          <p:nvPr/>
        </p:nvSpPr>
        <p:spPr>
          <a:xfrm>
            <a:off x="7498079" y="4059936"/>
            <a:ext cx="3977639" cy="109728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98079" y="4059936"/>
            <a:ext cx="64008" cy="1097280"/>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6679" y="4261104"/>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03</a:t>
            </a:r>
          </a:p>
        </p:txBody>
      </p:sp>
      <p:sp>
        <p:nvSpPr>
          <p:cNvPr id="27" name="TextBox 26"/>
          <p:cNvSpPr txBox="1"/>
          <p:nvPr/>
        </p:nvSpPr>
        <p:spPr>
          <a:xfrm>
            <a:off x="8229600" y="4224528"/>
            <a:ext cx="3017520" cy="384048"/>
          </a:xfrm>
          <a:prstGeom prst="rect">
            <a:avLst/>
          </a:prstGeom>
          <a:noFill/>
        </p:spPr>
        <p:txBody>
          <a:bodyPr wrap="square" lIns="36576" rIns="36576" tIns="18288" anchor="t">
            <a:spAutoFit/>
          </a:bodyPr>
          <a:lstStyle/>
          <a:p>
            <a:pPr>
              <a:defRPr sz="1800" b="1">
                <a:solidFill>
                  <a:srgbClr val="F7FBFF"/>
                </a:solidFill>
                <a:latin typeface="Aptos"/>
              </a:defRPr>
            </a:pPr>
            <a:r>
              <a:t>Human response</a:t>
            </a:r>
          </a:p>
        </p:txBody>
      </p:sp>
      <p:sp>
        <p:nvSpPr>
          <p:cNvPr id="28" name="TextBox 27"/>
          <p:cNvSpPr txBox="1"/>
          <p:nvPr/>
        </p:nvSpPr>
        <p:spPr>
          <a:xfrm>
            <a:off x="7726679" y="4773168"/>
            <a:ext cx="3520439" cy="219456"/>
          </a:xfrm>
          <a:prstGeom prst="rect">
            <a:avLst/>
          </a:prstGeom>
          <a:noFill/>
        </p:spPr>
        <p:txBody>
          <a:bodyPr wrap="square" lIns="36576" rIns="36576" tIns="18288" anchor="t">
            <a:spAutoFit/>
          </a:bodyPr>
          <a:lstStyle/>
          <a:p>
            <a:pPr>
              <a:defRPr sz="1450" b="0">
                <a:solidFill>
                  <a:srgbClr val="C4D3E4"/>
                </a:solidFill>
                <a:latin typeface="Aptos"/>
              </a:defRPr>
            </a:pPr>
            <a:r>
              <a:t>Trusted or dispatched responders</a:t>
            </a:r>
          </a:p>
        </p:txBody>
      </p:sp>
      <p:sp>
        <p:nvSpPr>
          <p:cNvPr id="29" name="TextBox 28"/>
          <p:cNvSpPr txBox="1"/>
          <p:nvPr/>
        </p:nvSpPr>
        <p:spPr>
          <a:xfrm>
            <a:off x="822960" y="5715000"/>
            <a:ext cx="10424160" cy="320040"/>
          </a:xfrm>
          <a:prstGeom prst="rect">
            <a:avLst/>
          </a:prstGeom>
          <a:noFill/>
        </p:spPr>
        <p:txBody>
          <a:bodyPr wrap="square" lIns="36576" rIns="36576" tIns="18288" anchor="t">
            <a:spAutoFit/>
          </a:bodyPr>
          <a:lstStyle/>
          <a:p>
            <a:pPr algn="ctr">
              <a:defRPr sz="1700" b="1">
                <a:solidFill>
                  <a:srgbClr val="F7FBFF"/>
                </a:solidFill>
                <a:latin typeface="Aptos"/>
              </a:defRPr>
            </a:pPr>
            <a:r>
              <a:t>The promise: a safer route from silent signal to coordinated help.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CONTEXT</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Domain and problem statement</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03</a:t>
            </a:r>
          </a:p>
        </p:txBody>
      </p:sp>
      <p:sp>
        <p:nvSpPr>
          <p:cNvPr id="10" name="Rounded Rectangle 9"/>
          <p:cNvSpPr/>
          <p:nvPr/>
        </p:nvSpPr>
        <p:spPr>
          <a:xfrm>
            <a:off x="685800" y="1417320"/>
            <a:ext cx="5166360" cy="361188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417320"/>
            <a:ext cx="64008" cy="361188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61848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DOMAIN</a:t>
            </a:r>
          </a:p>
        </p:txBody>
      </p:sp>
      <p:sp>
        <p:nvSpPr>
          <p:cNvPr id="13" name="TextBox 12"/>
          <p:cNvSpPr txBox="1"/>
          <p:nvPr/>
        </p:nvSpPr>
        <p:spPr>
          <a:xfrm>
            <a:off x="1417320" y="1581912"/>
            <a:ext cx="4206240" cy="384048"/>
          </a:xfrm>
          <a:prstGeom prst="rect">
            <a:avLst/>
          </a:prstGeom>
          <a:noFill/>
        </p:spPr>
        <p:txBody>
          <a:bodyPr wrap="square" lIns="36576" rIns="36576" tIns="18288" anchor="t">
            <a:spAutoFit/>
          </a:bodyPr>
          <a:lstStyle/>
          <a:p>
            <a:pPr>
              <a:defRPr sz="1800" b="1">
                <a:solidFill>
                  <a:srgbClr val="F7FBFF"/>
                </a:solidFill>
                <a:latin typeface="Aptos"/>
              </a:defRPr>
            </a:pPr>
            <a:r>
              <a:t>DOMAIN</a:t>
            </a:r>
          </a:p>
        </p:txBody>
      </p:sp>
      <p:sp>
        <p:nvSpPr>
          <p:cNvPr id="14" name="TextBox 13"/>
          <p:cNvSpPr txBox="1"/>
          <p:nvPr/>
        </p:nvSpPr>
        <p:spPr>
          <a:xfrm>
            <a:off x="914400" y="2130552"/>
            <a:ext cx="4709160" cy="2734056"/>
          </a:xfrm>
          <a:prstGeom prst="rect">
            <a:avLst/>
          </a:prstGeom>
          <a:noFill/>
        </p:spPr>
        <p:txBody>
          <a:bodyPr wrap="square" lIns="36576" rIns="36576" tIns="18288" anchor="t">
            <a:spAutoFit/>
          </a:bodyPr>
          <a:lstStyle/>
          <a:p>
            <a:pPr>
              <a:defRPr sz="1450" b="0">
                <a:solidFill>
                  <a:srgbClr val="C4D3E4"/>
                </a:solidFill>
                <a:latin typeface="Aptos"/>
              </a:defRPr>
            </a:pPr>
            <a:r>
              <a:t>Gender-based violence (GBV) response and smart-city safety</a:t>
            </a:r>
            <a:br/>
            <a:br/>
            <a:r>
              <a:t>Survivor protection • Crisis coordination • Real-time city data • Automated dispatch • Digital evidence • Location awareness • Simulated IoT / wearable monitoring</a:t>
            </a:r>
          </a:p>
        </p:txBody>
      </p:sp>
      <p:sp>
        <p:nvSpPr>
          <p:cNvPr id="15" name="Rounded Rectangle 14"/>
          <p:cNvSpPr/>
          <p:nvPr/>
        </p:nvSpPr>
        <p:spPr>
          <a:xfrm>
            <a:off x="6144768" y="1417320"/>
            <a:ext cx="5349240" cy="361188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1417320"/>
            <a:ext cx="64008" cy="361188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161848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a:t>
            </a:r>
          </a:p>
        </p:txBody>
      </p:sp>
      <p:sp>
        <p:nvSpPr>
          <p:cNvPr id="18" name="TextBox 17"/>
          <p:cNvSpPr txBox="1"/>
          <p:nvPr/>
        </p:nvSpPr>
        <p:spPr>
          <a:xfrm>
            <a:off x="6876288" y="1581912"/>
            <a:ext cx="4389120" cy="384048"/>
          </a:xfrm>
          <a:prstGeom prst="rect">
            <a:avLst/>
          </a:prstGeom>
          <a:noFill/>
        </p:spPr>
        <p:txBody>
          <a:bodyPr wrap="square" lIns="36576" rIns="36576" tIns="18288" anchor="t">
            <a:spAutoFit/>
          </a:bodyPr>
          <a:lstStyle/>
          <a:p>
            <a:pPr>
              <a:defRPr sz="1800" b="1">
                <a:solidFill>
                  <a:srgbClr val="F7FBFF"/>
                </a:solidFill>
                <a:latin typeface="Aptos"/>
              </a:defRPr>
            </a:pPr>
            <a:r>
              <a:t>PROBLEM STATEMENT</a:t>
            </a:r>
          </a:p>
        </p:txBody>
      </p:sp>
      <p:sp>
        <p:nvSpPr>
          <p:cNvPr id="19" name="TextBox 18"/>
          <p:cNvSpPr txBox="1"/>
          <p:nvPr/>
        </p:nvSpPr>
        <p:spPr>
          <a:xfrm>
            <a:off x="6373368" y="2130552"/>
            <a:ext cx="4892040" cy="2734056"/>
          </a:xfrm>
          <a:prstGeom prst="rect">
            <a:avLst/>
          </a:prstGeom>
          <a:noFill/>
        </p:spPr>
        <p:txBody>
          <a:bodyPr wrap="square" lIns="36576" rIns="36576" tIns="18288" anchor="t">
            <a:spAutoFit/>
          </a:bodyPr>
          <a:lstStyle/>
          <a:p>
            <a:pPr>
              <a:defRPr sz="1450" b="0">
                <a:solidFill>
                  <a:srgbClr val="C4D3E4"/>
                </a:solidFill>
                <a:latin typeface="Aptos"/>
              </a:defRPr>
            </a:pPr>
            <a:r>
              <a:t>During a GBV incident, a survivor may not be able to make a conventional phone call or speak openly without increasing risk. Responders and trusted contacts may lack timely location, evidence and situational awareness, while fragmented tools delay intervention.</a:t>
            </a:r>
            <a:br/>
            <a:br/>
            <a:r>
              <a:t>Device Shield turns a silent activation into a coordinated, trackable response using real-time city data and automated dispatch.</a:t>
            </a:r>
          </a:p>
        </p:txBody>
      </p:sp>
      <p:sp>
        <p:nvSpPr>
          <p:cNvPr id="20" name="TextBox 19"/>
          <p:cNvSpPr txBox="1"/>
          <p:nvPr/>
        </p:nvSpPr>
        <p:spPr>
          <a:xfrm>
            <a:off x="713232" y="5413248"/>
            <a:ext cx="1645920" cy="274320"/>
          </a:xfrm>
          <a:prstGeom prst="rect">
            <a:avLst/>
          </a:prstGeom>
          <a:noFill/>
        </p:spPr>
        <p:txBody>
          <a:bodyPr wrap="square" lIns="36576" rIns="36576" tIns="18288" anchor="t">
            <a:spAutoFit/>
          </a:bodyPr>
          <a:lstStyle/>
          <a:p>
            <a:pPr>
              <a:defRPr sz="1400" b="1">
                <a:solidFill>
                  <a:srgbClr val="37E0C5"/>
                </a:solidFill>
                <a:latin typeface="Aptos"/>
              </a:defRPr>
            </a:pPr>
            <a:r>
              <a:t>The opportunity</a:t>
            </a:r>
          </a:p>
        </p:txBody>
      </p:sp>
      <p:sp>
        <p:nvSpPr>
          <p:cNvPr id="21" name="TextBox 20"/>
          <p:cNvSpPr txBox="1"/>
          <p:nvPr/>
        </p:nvSpPr>
        <p:spPr>
          <a:xfrm>
            <a:off x="2240280" y="5358384"/>
            <a:ext cx="8961120" cy="411480"/>
          </a:xfrm>
          <a:prstGeom prst="rect">
            <a:avLst/>
          </a:prstGeom>
          <a:noFill/>
        </p:spPr>
        <p:txBody>
          <a:bodyPr wrap="square" lIns="36576" rIns="36576" tIns="18288" anchor="t">
            <a:spAutoFit/>
          </a:bodyPr>
          <a:lstStyle/>
          <a:p>
            <a:pPr>
              <a:defRPr sz="1600" b="1">
                <a:solidFill>
                  <a:srgbClr val="F7FBFF"/>
                </a:solidFill>
                <a:latin typeface="Aptos"/>
              </a:defRPr>
            </a:pPr>
            <a:r>
              <a:t>Create one secure web ecosystem that connects the person in danger, trusted responders and simulated devices through a shared incident record.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CONTEXT</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Background information: why this matters</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04</a:t>
            </a:r>
          </a:p>
        </p:txBody>
      </p:sp>
      <p:sp>
        <p:nvSpPr>
          <p:cNvPr id="10" name="TextBox 9"/>
          <p:cNvSpPr txBox="1"/>
          <p:nvPr/>
        </p:nvSpPr>
        <p:spPr>
          <a:xfrm>
            <a:off x="685800" y="1298448"/>
            <a:ext cx="10332720" cy="411480"/>
          </a:xfrm>
          <a:prstGeom prst="rect">
            <a:avLst/>
          </a:prstGeom>
          <a:noFill/>
        </p:spPr>
        <p:txBody>
          <a:bodyPr wrap="square" lIns="36576" rIns="36576" tIns="18288" anchor="t">
            <a:spAutoFit/>
          </a:bodyPr>
          <a:lstStyle/>
          <a:p>
            <a:pPr>
              <a:defRPr sz="1900" b="1">
                <a:solidFill>
                  <a:srgbClr val="F7FBFF"/>
                </a:solidFill>
                <a:latin typeface="Aptos"/>
              </a:defRPr>
            </a:pPr>
            <a:r>
              <a:t>Emergency situations are time-critical, uncertain and difficult to communicate discreetly.</a:t>
            </a:r>
          </a:p>
        </p:txBody>
      </p:sp>
      <p:sp>
        <p:nvSpPr>
          <p:cNvPr id="11" name="Rounded Rectangle 10"/>
          <p:cNvSpPr/>
          <p:nvPr/>
        </p:nvSpPr>
        <p:spPr>
          <a:xfrm>
            <a:off x="685800" y="1965960"/>
            <a:ext cx="3429000" cy="333756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965960"/>
            <a:ext cx="64008" cy="333756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16712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01</a:t>
            </a:r>
          </a:p>
        </p:txBody>
      </p:sp>
      <p:sp>
        <p:nvSpPr>
          <p:cNvPr id="14" name="TextBox 13"/>
          <p:cNvSpPr txBox="1"/>
          <p:nvPr/>
        </p:nvSpPr>
        <p:spPr>
          <a:xfrm>
            <a:off x="1417320" y="2130552"/>
            <a:ext cx="2468880" cy="384048"/>
          </a:xfrm>
          <a:prstGeom prst="rect">
            <a:avLst/>
          </a:prstGeom>
          <a:noFill/>
        </p:spPr>
        <p:txBody>
          <a:bodyPr wrap="square" lIns="36576" rIns="36576" tIns="18288" anchor="t">
            <a:spAutoFit/>
          </a:bodyPr>
          <a:lstStyle/>
          <a:p>
            <a:pPr>
              <a:defRPr sz="1800" b="1">
                <a:solidFill>
                  <a:srgbClr val="F7FBFF"/>
                </a:solidFill>
                <a:latin typeface="Aptos"/>
              </a:defRPr>
            </a:pPr>
            <a:r>
              <a:t>The person at risk</a:t>
            </a:r>
          </a:p>
        </p:txBody>
      </p:sp>
      <p:sp>
        <p:nvSpPr>
          <p:cNvPr id="15" name="TextBox 14"/>
          <p:cNvSpPr txBox="1"/>
          <p:nvPr/>
        </p:nvSpPr>
        <p:spPr>
          <a:xfrm>
            <a:off x="914400" y="2679191"/>
            <a:ext cx="2971800" cy="2459736"/>
          </a:xfrm>
          <a:prstGeom prst="rect">
            <a:avLst/>
          </a:prstGeom>
          <a:noFill/>
        </p:spPr>
        <p:txBody>
          <a:bodyPr wrap="square" lIns="36576" rIns="36576" tIns="18288" anchor="t">
            <a:spAutoFit/>
          </a:bodyPr>
          <a:lstStyle/>
          <a:p>
            <a:pPr>
              <a:defRPr sz="1450" b="0">
                <a:solidFill>
                  <a:srgbClr val="C4D3E4"/>
                </a:solidFill>
                <a:latin typeface="Aptos"/>
              </a:defRPr>
            </a:pPr>
            <a:r>
              <a:t>May be unable to call, speak openly, describe their location or gather evidence manually. A low-friction activation path is essential.</a:t>
            </a:r>
          </a:p>
        </p:txBody>
      </p:sp>
      <p:sp>
        <p:nvSpPr>
          <p:cNvPr id="16" name="Rounded Rectangle 15"/>
          <p:cNvSpPr/>
          <p:nvPr/>
        </p:nvSpPr>
        <p:spPr>
          <a:xfrm>
            <a:off x="4370832" y="1965960"/>
            <a:ext cx="3429000" cy="333756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1965960"/>
            <a:ext cx="64008" cy="333756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9432" y="216712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02</a:t>
            </a:r>
          </a:p>
        </p:txBody>
      </p:sp>
      <p:sp>
        <p:nvSpPr>
          <p:cNvPr id="19" name="TextBox 18"/>
          <p:cNvSpPr txBox="1"/>
          <p:nvPr/>
        </p:nvSpPr>
        <p:spPr>
          <a:xfrm>
            <a:off x="5102352" y="2130552"/>
            <a:ext cx="2468880" cy="384048"/>
          </a:xfrm>
          <a:prstGeom prst="rect">
            <a:avLst/>
          </a:prstGeom>
          <a:noFill/>
        </p:spPr>
        <p:txBody>
          <a:bodyPr wrap="square" lIns="36576" rIns="36576" tIns="18288" anchor="t">
            <a:spAutoFit/>
          </a:bodyPr>
          <a:lstStyle/>
          <a:p>
            <a:pPr>
              <a:defRPr sz="1800" b="1">
                <a:solidFill>
                  <a:srgbClr val="F7FBFF"/>
                </a:solidFill>
                <a:latin typeface="Aptos"/>
              </a:defRPr>
            </a:pPr>
            <a:r>
              <a:t>The trusted responder</a:t>
            </a:r>
          </a:p>
        </p:txBody>
      </p:sp>
      <p:sp>
        <p:nvSpPr>
          <p:cNvPr id="20" name="TextBox 19"/>
          <p:cNvSpPr txBox="1"/>
          <p:nvPr/>
        </p:nvSpPr>
        <p:spPr>
          <a:xfrm>
            <a:off x="4599432" y="2679191"/>
            <a:ext cx="2971800" cy="2459736"/>
          </a:xfrm>
          <a:prstGeom prst="rect">
            <a:avLst/>
          </a:prstGeom>
          <a:noFill/>
        </p:spPr>
        <p:txBody>
          <a:bodyPr wrap="square" lIns="36576" rIns="36576" tIns="18288" anchor="t">
            <a:spAutoFit/>
          </a:bodyPr>
          <a:lstStyle/>
          <a:p>
            <a:pPr>
              <a:defRPr sz="1450" b="0">
                <a:solidFill>
                  <a:srgbClr val="C4D3E4"/>
                </a:solidFill>
                <a:latin typeface="Aptos"/>
              </a:defRPr>
            </a:pPr>
            <a:r>
              <a:t>Needs a single, current view of what happened, where it happened, what evidence arrived and what action has already been taken.</a:t>
            </a:r>
          </a:p>
        </p:txBody>
      </p:sp>
      <p:sp>
        <p:nvSpPr>
          <p:cNvPr id="21" name="Rounded Rectangle 20"/>
          <p:cNvSpPr/>
          <p:nvPr/>
        </p:nvSpPr>
        <p:spPr>
          <a:xfrm>
            <a:off x="8055864" y="1965960"/>
            <a:ext cx="3429000" cy="333756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5864" y="1965960"/>
            <a:ext cx="64008" cy="3337560"/>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4464" y="2167128"/>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03</a:t>
            </a:r>
          </a:p>
        </p:txBody>
      </p:sp>
      <p:sp>
        <p:nvSpPr>
          <p:cNvPr id="24" name="TextBox 23"/>
          <p:cNvSpPr txBox="1"/>
          <p:nvPr/>
        </p:nvSpPr>
        <p:spPr>
          <a:xfrm>
            <a:off x="8787384" y="2130552"/>
            <a:ext cx="2468880" cy="384048"/>
          </a:xfrm>
          <a:prstGeom prst="rect">
            <a:avLst/>
          </a:prstGeom>
          <a:noFill/>
        </p:spPr>
        <p:txBody>
          <a:bodyPr wrap="square" lIns="36576" rIns="36576" tIns="18288" anchor="t">
            <a:spAutoFit/>
          </a:bodyPr>
          <a:lstStyle/>
          <a:p>
            <a:pPr>
              <a:defRPr sz="1800" b="1">
                <a:solidFill>
                  <a:srgbClr val="F7FBFF"/>
                </a:solidFill>
                <a:latin typeface="Aptos"/>
              </a:defRPr>
            </a:pPr>
            <a:r>
              <a:t>The coordination gap</a:t>
            </a:r>
          </a:p>
        </p:txBody>
      </p:sp>
      <p:sp>
        <p:nvSpPr>
          <p:cNvPr id="25" name="TextBox 24"/>
          <p:cNvSpPr txBox="1"/>
          <p:nvPr/>
        </p:nvSpPr>
        <p:spPr>
          <a:xfrm>
            <a:off x="8284464" y="2679191"/>
            <a:ext cx="2971800" cy="2459736"/>
          </a:xfrm>
          <a:prstGeom prst="rect">
            <a:avLst/>
          </a:prstGeom>
          <a:noFill/>
        </p:spPr>
        <p:txBody>
          <a:bodyPr wrap="square" lIns="36576" rIns="36576" tIns="18288" anchor="t">
            <a:spAutoFit/>
          </a:bodyPr>
          <a:lstStyle/>
          <a:p>
            <a:pPr>
              <a:defRPr sz="1450" b="0">
                <a:solidFill>
                  <a:srgbClr val="C4D3E4"/>
                </a:solidFill>
                <a:latin typeface="Aptos"/>
              </a:defRPr>
            </a:pPr>
            <a:r>
              <a:t>Calls, messages, location sharing and device data are often fragmented. This makes handover, accountability and escalation harder.</a:t>
            </a:r>
          </a:p>
        </p:txBody>
      </p:sp>
      <p:sp>
        <p:nvSpPr>
          <p:cNvPr id="26" name="TextBox 25"/>
          <p:cNvSpPr txBox="1"/>
          <p:nvPr/>
        </p:nvSpPr>
        <p:spPr>
          <a:xfrm>
            <a:off x="713232" y="5596128"/>
            <a:ext cx="1554480" cy="274320"/>
          </a:xfrm>
          <a:prstGeom prst="rect">
            <a:avLst/>
          </a:prstGeom>
          <a:noFill/>
        </p:spPr>
        <p:txBody>
          <a:bodyPr wrap="square" lIns="36576" rIns="36576" tIns="18288" anchor="t">
            <a:spAutoFit/>
          </a:bodyPr>
          <a:lstStyle/>
          <a:p>
            <a:pPr>
              <a:defRPr sz="1400" b="1">
                <a:solidFill>
                  <a:srgbClr val="37E0C5"/>
                </a:solidFill>
                <a:latin typeface="Aptos"/>
              </a:defRPr>
            </a:pPr>
            <a:r>
              <a:t>Our response</a:t>
            </a:r>
          </a:p>
        </p:txBody>
      </p:sp>
      <p:sp>
        <p:nvSpPr>
          <p:cNvPr id="27" name="TextBox 26"/>
          <p:cNvSpPr txBox="1"/>
          <p:nvPr/>
        </p:nvSpPr>
        <p:spPr>
          <a:xfrm>
            <a:off x="2148840" y="5541264"/>
            <a:ext cx="9144000" cy="384048"/>
          </a:xfrm>
          <a:prstGeom prst="rect">
            <a:avLst/>
          </a:prstGeom>
          <a:noFill/>
        </p:spPr>
        <p:txBody>
          <a:bodyPr wrap="square" lIns="36576" rIns="36576" tIns="18288" anchor="t">
            <a:spAutoFit/>
          </a:bodyPr>
          <a:lstStyle/>
          <a:p>
            <a:pPr>
              <a:defRPr sz="1550" b="1">
                <a:solidFill>
                  <a:srgbClr val="F7FBFF"/>
                </a:solidFill>
                <a:latin typeface="Aptos"/>
              </a:defRPr>
            </a:pPr>
            <a:r>
              <a:t>A secure response hub connects discreet activation, live city data, evidence, location, automated dispatch and human response in one traceable workflow.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WHY DEVICE SHIELD</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Strongest unique selling proposition</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05</a:t>
            </a:r>
          </a:p>
        </p:txBody>
      </p:sp>
      <p:sp>
        <p:nvSpPr>
          <p:cNvPr id="10" name="Rounded Rectangle 9"/>
          <p:cNvSpPr/>
          <p:nvPr/>
        </p:nvSpPr>
        <p:spPr>
          <a:xfrm>
            <a:off x="749808" y="1417320"/>
            <a:ext cx="10698480" cy="1417320"/>
          </a:xfrm>
          <a:prstGeom prst="roundRect">
            <a:avLst>
              <a:gd name="adj" fmla="val 12000"/>
            </a:avLst>
          </a:prstGeom>
          <a:solidFill>
            <a:srgbClr val="371F4E"/>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1719072"/>
            <a:ext cx="10012680" cy="731520"/>
          </a:xfrm>
          <a:prstGeom prst="rect">
            <a:avLst/>
          </a:prstGeom>
          <a:noFill/>
        </p:spPr>
        <p:txBody>
          <a:bodyPr wrap="square" lIns="36576" rIns="36576" tIns="18288" anchor="ctr">
            <a:spAutoFit/>
          </a:bodyPr>
          <a:lstStyle/>
          <a:p>
            <a:pPr algn="ctr">
              <a:defRPr sz="2300" b="1">
                <a:solidFill>
                  <a:srgbClr val="F7FBFF"/>
                </a:solidFill>
                <a:latin typeface="Aptos"/>
              </a:defRPr>
            </a:pPr>
            <a:r>
              <a:t>“A survivor can silently request emergency help — without speaking, making a phone call or visibly interacting with a device.”</a:t>
            </a:r>
          </a:p>
        </p:txBody>
      </p:sp>
      <p:sp>
        <p:nvSpPr>
          <p:cNvPr id="12" name="Rounded Rectangle 11"/>
          <p:cNvSpPr/>
          <p:nvPr/>
        </p:nvSpPr>
        <p:spPr>
          <a:xfrm>
            <a:off x="777240" y="3337560"/>
            <a:ext cx="3337560" cy="205740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37560"/>
            <a:ext cx="64008" cy="205740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53872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SILENT</a:t>
            </a:r>
          </a:p>
        </p:txBody>
      </p:sp>
      <p:sp>
        <p:nvSpPr>
          <p:cNvPr id="15" name="TextBox 14"/>
          <p:cNvSpPr txBox="1"/>
          <p:nvPr/>
        </p:nvSpPr>
        <p:spPr>
          <a:xfrm>
            <a:off x="1508760" y="3502152"/>
            <a:ext cx="2377439" cy="384048"/>
          </a:xfrm>
          <a:prstGeom prst="rect">
            <a:avLst/>
          </a:prstGeom>
          <a:noFill/>
        </p:spPr>
        <p:txBody>
          <a:bodyPr wrap="square" lIns="36576" rIns="36576" tIns="18288" anchor="t">
            <a:spAutoFit/>
          </a:bodyPr>
          <a:lstStyle/>
          <a:p>
            <a:pPr>
              <a:defRPr sz="1800" b="1">
                <a:solidFill>
                  <a:srgbClr val="F7FBFF"/>
                </a:solidFill>
                <a:latin typeface="Aptos"/>
              </a:defRPr>
            </a:pPr>
            <a:r>
              <a:t>1. Silent activation</a:t>
            </a:r>
          </a:p>
        </p:txBody>
      </p:sp>
      <p:sp>
        <p:nvSpPr>
          <p:cNvPr id="16" name="TextBox 15"/>
          <p:cNvSpPr txBox="1"/>
          <p:nvPr/>
        </p:nvSpPr>
        <p:spPr>
          <a:xfrm>
            <a:off x="1005840" y="4050791"/>
            <a:ext cx="2880360" cy="1179576"/>
          </a:xfrm>
          <a:prstGeom prst="rect">
            <a:avLst/>
          </a:prstGeom>
          <a:noFill/>
        </p:spPr>
        <p:txBody>
          <a:bodyPr wrap="square" lIns="36576" rIns="36576" tIns="18288" anchor="t">
            <a:spAutoFit/>
          </a:bodyPr>
          <a:lstStyle/>
          <a:p>
            <a:pPr>
              <a:defRPr sz="1450" b="0">
                <a:solidFill>
                  <a:srgbClr val="C4D3E4"/>
                </a:solidFill>
                <a:latin typeface="Aptos"/>
              </a:defRPr>
            </a:pPr>
            <a:r>
              <a:t>A custom keyword or discreet simulated trigger can initiate an incident when speaking or calling may be unsafe.</a:t>
            </a:r>
          </a:p>
        </p:txBody>
      </p:sp>
      <p:sp>
        <p:nvSpPr>
          <p:cNvPr id="17" name="Rounded Rectangle 16"/>
          <p:cNvSpPr/>
          <p:nvPr/>
        </p:nvSpPr>
        <p:spPr>
          <a:xfrm>
            <a:off x="4425696" y="3337560"/>
            <a:ext cx="3337560" cy="205740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25696" y="3337560"/>
            <a:ext cx="64008" cy="205740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296" y="353872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SMART</a:t>
            </a:r>
          </a:p>
        </p:txBody>
      </p:sp>
      <p:sp>
        <p:nvSpPr>
          <p:cNvPr id="20" name="TextBox 19"/>
          <p:cNvSpPr txBox="1"/>
          <p:nvPr/>
        </p:nvSpPr>
        <p:spPr>
          <a:xfrm>
            <a:off x="5157216" y="3502152"/>
            <a:ext cx="2377439" cy="384048"/>
          </a:xfrm>
          <a:prstGeom prst="rect">
            <a:avLst/>
          </a:prstGeom>
          <a:noFill/>
        </p:spPr>
        <p:txBody>
          <a:bodyPr wrap="square" lIns="36576" rIns="36576" tIns="18288" anchor="t">
            <a:spAutoFit/>
          </a:bodyPr>
          <a:lstStyle/>
          <a:p>
            <a:pPr>
              <a:defRPr sz="1800" b="1">
                <a:solidFill>
                  <a:srgbClr val="F7FBFF"/>
                </a:solidFill>
                <a:latin typeface="Aptos"/>
              </a:defRPr>
            </a:pPr>
            <a:r>
              <a:t>2. Appropriate response</a:t>
            </a:r>
          </a:p>
        </p:txBody>
      </p:sp>
      <p:sp>
        <p:nvSpPr>
          <p:cNvPr id="21" name="TextBox 20"/>
          <p:cNvSpPr txBox="1"/>
          <p:nvPr/>
        </p:nvSpPr>
        <p:spPr>
          <a:xfrm>
            <a:off x="4654296" y="4050791"/>
            <a:ext cx="2880360" cy="1179576"/>
          </a:xfrm>
          <a:prstGeom prst="rect">
            <a:avLst/>
          </a:prstGeom>
          <a:noFill/>
        </p:spPr>
        <p:txBody>
          <a:bodyPr wrap="square" lIns="36576" rIns="36576" tIns="18288" anchor="t">
            <a:spAutoFit/>
          </a:bodyPr>
          <a:lstStyle/>
          <a:p>
            <a:pPr>
              <a:defRPr sz="1450" b="0">
                <a:solidFill>
                  <a:srgbClr val="C4D3E4"/>
                </a:solidFill>
                <a:latin typeface="Aptos"/>
              </a:defRPr>
            </a:pPr>
            <a:r>
              <a:t>The platform combines the incident type, location, evidence and live city context to guide the right response pathway.</a:t>
            </a:r>
          </a:p>
        </p:txBody>
      </p:sp>
      <p:sp>
        <p:nvSpPr>
          <p:cNvPr id="22" name="Rounded Rectangle 21"/>
          <p:cNvSpPr/>
          <p:nvPr/>
        </p:nvSpPr>
        <p:spPr>
          <a:xfrm>
            <a:off x="8074152" y="3337560"/>
            <a:ext cx="3337560" cy="205740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4152" y="3337560"/>
            <a:ext cx="64008" cy="2057400"/>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2752" y="3538728"/>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NEAR</a:t>
            </a:r>
          </a:p>
        </p:txBody>
      </p:sp>
      <p:sp>
        <p:nvSpPr>
          <p:cNvPr id="25" name="TextBox 24"/>
          <p:cNvSpPr txBox="1"/>
          <p:nvPr/>
        </p:nvSpPr>
        <p:spPr>
          <a:xfrm>
            <a:off x="8805672" y="3502152"/>
            <a:ext cx="2377439" cy="384048"/>
          </a:xfrm>
          <a:prstGeom prst="rect">
            <a:avLst/>
          </a:prstGeom>
          <a:noFill/>
        </p:spPr>
        <p:txBody>
          <a:bodyPr wrap="square" lIns="36576" rIns="36576" tIns="18288" anchor="t">
            <a:spAutoFit/>
          </a:bodyPr>
          <a:lstStyle/>
          <a:p>
            <a:pPr>
              <a:defRPr sz="1800" b="1">
                <a:solidFill>
                  <a:srgbClr val="F7FBFF"/>
                </a:solidFill>
                <a:latin typeface="Aptos"/>
              </a:defRPr>
            </a:pPr>
            <a:r>
              <a:t>3. Nearest coordination</a:t>
            </a:r>
          </a:p>
        </p:txBody>
      </p:sp>
      <p:sp>
        <p:nvSpPr>
          <p:cNvPr id="26" name="TextBox 25"/>
          <p:cNvSpPr txBox="1"/>
          <p:nvPr/>
        </p:nvSpPr>
        <p:spPr>
          <a:xfrm>
            <a:off x="8302752" y="4050791"/>
            <a:ext cx="2880360" cy="1179576"/>
          </a:xfrm>
          <a:prstGeom prst="rect">
            <a:avLst/>
          </a:prstGeom>
          <a:noFill/>
        </p:spPr>
        <p:txBody>
          <a:bodyPr wrap="square" lIns="36576" rIns="36576" tIns="18288" anchor="t">
            <a:spAutoFit/>
          </a:bodyPr>
          <a:lstStyle/>
          <a:p>
            <a:pPr>
              <a:defRPr sz="1450" b="0">
                <a:solidFill>
                  <a:srgbClr val="C4D3E4"/>
                </a:solidFill>
                <a:latin typeface="Aptos"/>
              </a:defRPr>
            </a:pPr>
            <a:r>
              <a:t>Real-time location and city data help coordinate the nearest available trusted responders or dispatch pathway.</a:t>
            </a:r>
          </a:p>
        </p:txBody>
      </p:sp>
      <p:sp>
        <p:nvSpPr>
          <p:cNvPr id="27" name="TextBox 26"/>
          <p:cNvSpPr txBox="1"/>
          <p:nvPr/>
        </p:nvSpPr>
        <p:spPr>
          <a:xfrm>
            <a:off x="822960" y="5806440"/>
            <a:ext cx="10424160" cy="320040"/>
          </a:xfrm>
          <a:prstGeom prst="rect">
            <a:avLst/>
          </a:prstGeom>
          <a:noFill/>
        </p:spPr>
        <p:txBody>
          <a:bodyPr wrap="square" lIns="36576" rIns="36576" tIns="18288" anchor="t">
            <a:spAutoFit/>
          </a:bodyPr>
          <a:lstStyle/>
          <a:p>
            <a:pPr algn="ctr">
              <a:defRPr sz="1600" b="1">
                <a:solidFill>
                  <a:srgbClr val="F7FBFF"/>
                </a:solidFill>
                <a:latin typeface="Aptos"/>
              </a:defRPr>
            </a:pPr>
            <a:r>
              <a:t>This is the difference: not just an alert, but a discreet request-to-response coordination layer.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PURPOSE</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What we want to do with this information</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06</a:t>
            </a:r>
          </a:p>
        </p:txBody>
      </p:sp>
      <p:sp>
        <p:nvSpPr>
          <p:cNvPr id="10" name="TextBox 9"/>
          <p:cNvSpPr txBox="1"/>
          <p:nvPr/>
        </p:nvSpPr>
        <p:spPr>
          <a:xfrm>
            <a:off x="640080" y="1353312"/>
            <a:ext cx="10607040" cy="502920"/>
          </a:xfrm>
          <a:prstGeom prst="rect">
            <a:avLst/>
          </a:prstGeom>
          <a:noFill/>
        </p:spPr>
        <p:txBody>
          <a:bodyPr wrap="square" lIns="36576" rIns="36576" tIns="18288" anchor="t">
            <a:spAutoFit/>
          </a:bodyPr>
          <a:lstStyle/>
          <a:p>
            <a:pPr>
              <a:defRPr sz="2000" b="1">
                <a:solidFill>
                  <a:srgbClr val="F7FBFF"/>
                </a:solidFill>
                <a:latin typeface="Aptos"/>
              </a:defRPr>
            </a:pPr>
            <a:r>
              <a:t>Translate the emergency-safety requirements into one visible, testable web experience — from activation to resolution.</a:t>
            </a:r>
          </a:p>
        </p:txBody>
      </p:sp>
      <p:sp>
        <p:nvSpPr>
          <p:cNvPr id="11" name="Rounded Rectangle 10"/>
          <p:cNvSpPr/>
          <p:nvPr/>
        </p:nvSpPr>
        <p:spPr>
          <a:xfrm>
            <a:off x="685800" y="2240280"/>
            <a:ext cx="3383280" cy="23317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240280"/>
            <a:ext cx="64008" cy="233172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44144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01</a:t>
            </a:r>
          </a:p>
        </p:txBody>
      </p:sp>
      <p:sp>
        <p:nvSpPr>
          <p:cNvPr id="14" name="TextBox 13"/>
          <p:cNvSpPr txBox="1"/>
          <p:nvPr/>
        </p:nvSpPr>
        <p:spPr>
          <a:xfrm>
            <a:off x="1417320" y="2404872"/>
            <a:ext cx="2423160" cy="384048"/>
          </a:xfrm>
          <a:prstGeom prst="rect">
            <a:avLst/>
          </a:prstGeom>
          <a:noFill/>
        </p:spPr>
        <p:txBody>
          <a:bodyPr wrap="square" lIns="36576" rIns="36576" tIns="18288" anchor="t">
            <a:spAutoFit/>
          </a:bodyPr>
          <a:lstStyle/>
          <a:p>
            <a:pPr>
              <a:defRPr sz="1800" b="1">
                <a:solidFill>
                  <a:srgbClr val="F7FBFF"/>
                </a:solidFill>
                <a:latin typeface="Aptos"/>
              </a:defRPr>
            </a:pPr>
            <a:r>
              <a:t>1. Make the signal actionable</a:t>
            </a:r>
          </a:p>
        </p:txBody>
      </p:sp>
      <p:sp>
        <p:nvSpPr>
          <p:cNvPr id="15" name="TextBox 14"/>
          <p:cNvSpPr txBox="1"/>
          <p:nvPr/>
        </p:nvSpPr>
        <p:spPr>
          <a:xfrm>
            <a:off x="914400" y="2953512"/>
            <a:ext cx="2926080" cy="1453895"/>
          </a:xfrm>
          <a:prstGeom prst="rect">
            <a:avLst/>
          </a:prstGeom>
          <a:noFill/>
        </p:spPr>
        <p:txBody>
          <a:bodyPr wrap="square" lIns="36576" rIns="36576" tIns="18288" anchor="t">
            <a:spAutoFit/>
          </a:bodyPr>
          <a:lstStyle/>
          <a:p>
            <a:pPr>
              <a:defRPr sz="1450" b="0">
                <a:solidFill>
                  <a:srgbClr val="C4D3E4"/>
                </a:solidFill>
                <a:latin typeface="Aptos"/>
              </a:defRPr>
            </a:pPr>
            <a:r>
              <a:t>Let survivors configure a discreet keyword and request help without relying on always-listening hardware.</a:t>
            </a:r>
          </a:p>
        </p:txBody>
      </p:sp>
      <p:sp>
        <p:nvSpPr>
          <p:cNvPr id="16" name="Rounded Rectangle 15"/>
          <p:cNvSpPr/>
          <p:nvPr/>
        </p:nvSpPr>
        <p:spPr>
          <a:xfrm>
            <a:off x="4407408" y="2240280"/>
            <a:ext cx="3383280" cy="23317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07408" y="2240280"/>
            <a:ext cx="64008" cy="233172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244144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02</a:t>
            </a:r>
          </a:p>
        </p:txBody>
      </p:sp>
      <p:sp>
        <p:nvSpPr>
          <p:cNvPr id="19" name="TextBox 18"/>
          <p:cNvSpPr txBox="1"/>
          <p:nvPr/>
        </p:nvSpPr>
        <p:spPr>
          <a:xfrm>
            <a:off x="5138928" y="2404872"/>
            <a:ext cx="2423160" cy="384048"/>
          </a:xfrm>
          <a:prstGeom prst="rect">
            <a:avLst/>
          </a:prstGeom>
          <a:noFill/>
        </p:spPr>
        <p:txBody>
          <a:bodyPr wrap="square" lIns="36576" rIns="36576" tIns="18288" anchor="t">
            <a:spAutoFit/>
          </a:bodyPr>
          <a:lstStyle/>
          <a:p>
            <a:pPr>
              <a:defRPr sz="1800" b="1">
                <a:solidFill>
                  <a:srgbClr val="F7FBFF"/>
                </a:solidFill>
                <a:latin typeface="Aptos"/>
              </a:defRPr>
            </a:pPr>
            <a:r>
              <a:t>2. Coordinate the response</a:t>
            </a:r>
          </a:p>
        </p:txBody>
      </p:sp>
      <p:sp>
        <p:nvSpPr>
          <p:cNvPr id="20" name="TextBox 19"/>
          <p:cNvSpPr txBox="1"/>
          <p:nvPr/>
        </p:nvSpPr>
        <p:spPr>
          <a:xfrm>
            <a:off x="4636008" y="2953512"/>
            <a:ext cx="2926080" cy="1453895"/>
          </a:xfrm>
          <a:prstGeom prst="rect">
            <a:avLst/>
          </a:prstGeom>
          <a:noFill/>
        </p:spPr>
        <p:txBody>
          <a:bodyPr wrap="square" lIns="36576" rIns="36576" tIns="18288" anchor="t">
            <a:spAutoFit/>
          </a:bodyPr>
          <a:lstStyle/>
          <a:p>
            <a:pPr>
              <a:defRPr sz="1450" b="0">
                <a:solidFill>
                  <a:srgbClr val="C4D3E4"/>
                </a:solidFill>
                <a:latin typeface="Aptos"/>
              </a:defRPr>
            </a:pPr>
            <a:r>
              <a:t>Give trusted members a live dashboard with location, evidence, telemetry and response actions.</a:t>
            </a:r>
          </a:p>
        </p:txBody>
      </p:sp>
      <p:sp>
        <p:nvSpPr>
          <p:cNvPr id="21" name="Rounded Rectangle 20"/>
          <p:cNvSpPr/>
          <p:nvPr/>
        </p:nvSpPr>
        <p:spPr>
          <a:xfrm>
            <a:off x="8129016" y="2240280"/>
            <a:ext cx="3383280" cy="23317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9016" y="2240280"/>
            <a:ext cx="64008" cy="2331720"/>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7616" y="2441448"/>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03</a:t>
            </a:r>
          </a:p>
        </p:txBody>
      </p:sp>
      <p:sp>
        <p:nvSpPr>
          <p:cNvPr id="24" name="TextBox 23"/>
          <p:cNvSpPr txBox="1"/>
          <p:nvPr/>
        </p:nvSpPr>
        <p:spPr>
          <a:xfrm>
            <a:off x="8860536" y="2404872"/>
            <a:ext cx="2423160" cy="384048"/>
          </a:xfrm>
          <a:prstGeom prst="rect">
            <a:avLst/>
          </a:prstGeom>
          <a:noFill/>
        </p:spPr>
        <p:txBody>
          <a:bodyPr wrap="square" lIns="36576" rIns="36576" tIns="18288" anchor="t">
            <a:spAutoFit/>
          </a:bodyPr>
          <a:lstStyle/>
          <a:p>
            <a:pPr>
              <a:defRPr sz="1800" b="1">
                <a:solidFill>
                  <a:srgbClr val="F7FBFF"/>
                </a:solidFill>
                <a:latin typeface="Aptos"/>
              </a:defRPr>
            </a:pPr>
            <a:r>
              <a:t>3. Prove the journey</a:t>
            </a:r>
          </a:p>
        </p:txBody>
      </p:sp>
      <p:sp>
        <p:nvSpPr>
          <p:cNvPr id="25" name="TextBox 24"/>
          <p:cNvSpPr txBox="1"/>
          <p:nvPr/>
        </p:nvSpPr>
        <p:spPr>
          <a:xfrm>
            <a:off x="8357616" y="2953512"/>
            <a:ext cx="2926080" cy="1453895"/>
          </a:xfrm>
          <a:prstGeom prst="rect">
            <a:avLst/>
          </a:prstGeom>
          <a:noFill/>
        </p:spPr>
        <p:txBody>
          <a:bodyPr wrap="square" lIns="36576" rIns="36576" tIns="18288" anchor="t">
            <a:spAutoFit/>
          </a:bodyPr>
          <a:lstStyle/>
          <a:p>
            <a:pPr>
              <a:defRPr sz="1450" b="0">
                <a:solidFill>
                  <a:srgbClr val="C4D3E4"/>
                </a:solidFill>
                <a:latin typeface="Aptos"/>
              </a:defRPr>
            </a:pPr>
            <a:r>
              <a:t>Persist every event, status change and audit record so judges can follow the complete lifecycle.</a:t>
            </a:r>
          </a:p>
        </p:txBody>
      </p:sp>
      <p:sp>
        <p:nvSpPr>
          <p:cNvPr id="26" name="TextBox 25"/>
          <p:cNvSpPr txBox="1"/>
          <p:nvPr/>
        </p:nvSpPr>
        <p:spPr>
          <a:xfrm>
            <a:off x="713232" y="5138928"/>
            <a:ext cx="1005840" cy="274320"/>
          </a:xfrm>
          <a:prstGeom prst="rect">
            <a:avLst/>
          </a:prstGeom>
          <a:noFill/>
        </p:spPr>
        <p:txBody>
          <a:bodyPr wrap="square" lIns="36576" rIns="36576" tIns="18288" anchor="t">
            <a:spAutoFit/>
          </a:bodyPr>
          <a:lstStyle/>
          <a:p>
            <a:pPr>
              <a:defRPr sz="1100" b="1">
                <a:solidFill>
                  <a:srgbClr val="37E0C5"/>
                </a:solidFill>
                <a:latin typeface="Aptos"/>
              </a:defRPr>
            </a:pPr>
            <a:r>
              <a:t>Outcome</a:t>
            </a:r>
          </a:p>
        </p:txBody>
      </p:sp>
      <p:sp>
        <p:nvSpPr>
          <p:cNvPr id="27" name="TextBox 26"/>
          <p:cNvSpPr txBox="1"/>
          <p:nvPr/>
        </p:nvSpPr>
        <p:spPr>
          <a:xfrm>
            <a:off x="1645920" y="5084064"/>
            <a:ext cx="9326880" cy="411480"/>
          </a:xfrm>
          <a:prstGeom prst="rect">
            <a:avLst/>
          </a:prstGeom>
          <a:noFill/>
        </p:spPr>
        <p:txBody>
          <a:bodyPr wrap="square" lIns="36576" rIns="36576" tIns="18288" anchor="t">
            <a:spAutoFit/>
          </a:bodyPr>
          <a:lstStyle/>
          <a:p>
            <a:pPr>
              <a:defRPr sz="1600" b="0">
                <a:solidFill>
                  <a:srgbClr val="C4D3E4"/>
                </a:solidFill>
                <a:latin typeface="Aptos"/>
              </a:defRPr>
            </a:pPr>
            <a:r>
              <a:t>A production-structured smart-city prototype that is honest about simulation today, while keeping the integration seams ready for real devices and dispatch systems tomorrow.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CORE CONCEPT</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The experience: discreet signal → coordinated response</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07</a:t>
            </a:r>
          </a:p>
        </p:txBody>
      </p:sp>
      <p:sp>
        <p:nvSpPr>
          <p:cNvPr id="10" name="Rounded Rectangle 9"/>
          <p:cNvSpPr/>
          <p:nvPr/>
        </p:nvSpPr>
        <p:spPr>
          <a:xfrm>
            <a:off x="685800" y="1965960"/>
            <a:ext cx="1874519" cy="21488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176272"/>
            <a:ext cx="457200" cy="274320"/>
          </a:xfrm>
          <a:prstGeom prst="rect">
            <a:avLst/>
          </a:prstGeom>
          <a:noFill/>
        </p:spPr>
        <p:txBody>
          <a:bodyPr wrap="square" lIns="36576" rIns="36576" tIns="18288" anchor="t">
            <a:spAutoFit/>
          </a:bodyPr>
          <a:lstStyle/>
          <a:p>
            <a:pPr>
              <a:defRPr sz="1400" b="1">
                <a:solidFill>
                  <a:srgbClr val="37E0C5"/>
                </a:solidFill>
                <a:latin typeface="Aptos"/>
              </a:defRPr>
            </a:pPr>
            <a:r>
              <a:t>01</a:t>
            </a:r>
          </a:p>
        </p:txBody>
      </p:sp>
      <p:sp>
        <p:nvSpPr>
          <p:cNvPr id="12" name="TextBox 11"/>
          <p:cNvSpPr txBox="1"/>
          <p:nvPr/>
        </p:nvSpPr>
        <p:spPr>
          <a:xfrm>
            <a:off x="868680" y="2578608"/>
            <a:ext cx="1508760" cy="320040"/>
          </a:xfrm>
          <a:prstGeom prst="rect">
            <a:avLst/>
          </a:prstGeom>
          <a:noFill/>
        </p:spPr>
        <p:txBody>
          <a:bodyPr wrap="square" lIns="36576" rIns="36576" tIns="18288" anchor="t">
            <a:spAutoFit/>
          </a:bodyPr>
          <a:lstStyle/>
          <a:p>
            <a:pPr>
              <a:defRPr sz="1600" b="1">
                <a:solidFill>
                  <a:srgbClr val="F7FBFF"/>
                </a:solidFill>
                <a:latin typeface="Aptos"/>
              </a:defRPr>
            </a:pPr>
            <a:r>
              <a:t>Configure</a:t>
            </a:r>
          </a:p>
        </p:txBody>
      </p:sp>
      <p:sp>
        <p:nvSpPr>
          <p:cNvPr id="13" name="TextBox 12"/>
          <p:cNvSpPr txBox="1"/>
          <p:nvPr/>
        </p:nvSpPr>
        <p:spPr>
          <a:xfrm>
            <a:off x="868680" y="3063240"/>
            <a:ext cx="1508760" cy="640080"/>
          </a:xfrm>
          <a:prstGeom prst="rect">
            <a:avLst/>
          </a:prstGeom>
          <a:noFill/>
        </p:spPr>
        <p:txBody>
          <a:bodyPr wrap="square" lIns="36576" rIns="36576" tIns="18288" anchor="t">
            <a:spAutoFit/>
          </a:bodyPr>
          <a:lstStyle/>
          <a:p>
            <a:pPr>
              <a:defRPr sz="1100" b="0">
                <a:solidFill>
                  <a:srgbClr val="C4D3E4"/>
                </a:solidFill>
                <a:latin typeface="Aptos"/>
              </a:defRPr>
            </a:pPr>
            <a:r>
              <a:t>User creates HELP, RED or a custom phrase.</a:t>
            </a:r>
          </a:p>
        </p:txBody>
      </p:sp>
      <p:sp>
        <p:nvSpPr>
          <p:cNvPr id="14" name="TextBox 13"/>
          <p:cNvSpPr txBox="1"/>
          <p:nvPr/>
        </p:nvSpPr>
        <p:spPr>
          <a:xfrm>
            <a:off x="2624328" y="2743200"/>
            <a:ext cx="228600" cy="274320"/>
          </a:xfrm>
          <a:prstGeom prst="rect">
            <a:avLst/>
          </a:prstGeom>
          <a:noFill/>
        </p:spPr>
        <p:txBody>
          <a:bodyPr wrap="square" lIns="36576" rIns="36576" tIns="18288" anchor="t">
            <a:spAutoFit/>
          </a:bodyPr>
          <a:lstStyle/>
          <a:p>
            <a:pPr algn="ctr">
              <a:defRPr sz="1800" b="1">
                <a:solidFill>
                  <a:srgbClr val="FF7C6B"/>
                </a:solidFill>
                <a:latin typeface="Aptos"/>
              </a:defRPr>
            </a:pPr>
            <a:r>
              <a:t>→</a:t>
            </a:r>
          </a:p>
        </p:txBody>
      </p:sp>
      <p:sp>
        <p:nvSpPr>
          <p:cNvPr id="15" name="Rounded Rectangle 14"/>
          <p:cNvSpPr/>
          <p:nvPr/>
        </p:nvSpPr>
        <p:spPr>
          <a:xfrm>
            <a:off x="2953512" y="1965960"/>
            <a:ext cx="1874519" cy="21488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36392" y="2176272"/>
            <a:ext cx="457200" cy="274320"/>
          </a:xfrm>
          <a:prstGeom prst="rect">
            <a:avLst/>
          </a:prstGeom>
          <a:noFill/>
        </p:spPr>
        <p:txBody>
          <a:bodyPr wrap="square" lIns="36576" rIns="36576" tIns="18288" anchor="t">
            <a:spAutoFit/>
          </a:bodyPr>
          <a:lstStyle/>
          <a:p>
            <a:pPr>
              <a:defRPr sz="1400" b="1">
                <a:solidFill>
                  <a:srgbClr val="37E0C5"/>
                </a:solidFill>
                <a:latin typeface="Aptos"/>
              </a:defRPr>
            </a:pPr>
            <a:r>
              <a:t>02</a:t>
            </a:r>
          </a:p>
        </p:txBody>
      </p:sp>
      <p:sp>
        <p:nvSpPr>
          <p:cNvPr id="17" name="TextBox 16"/>
          <p:cNvSpPr txBox="1"/>
          <p:nvPr/>
        </p:nvSpPr>
        <p:spPr>
          <a:xfrm>
            <a:off x="3136392" y="2578608"/>
            <a:ext cx="1508760" cy="320040"/>
          </a:xfrm>
          <a:prstGeom prst="rect">
            <a:avLst/>
          </a:prstGeom>
          <a:noFill/>
        </p:spPr>
        <p:txBody>
          <a:bodyPr wrap="square" lIns="36576" rIns="36576" tIns="18288" anchor="t">
            <a:spAutoFit/>
          </a:bodyPr>
          <a:lstStyle/>
          <a:p>
            <a:pPr>
              <a:defRPr sz="1600" b="1">
                <a:solidFill>
                  <a:srgbClr val="F7FBFF"/>
                </a:solidFill>
                <a:latin typeface="Aptos"/>
              </a:defRPr>
            </a:pPr>
            <a:r>
              <a:t>Activate</a:t>
            </a:r>
          </a:p>
        </p:txBody>
      </p:sp>
      <p:sp>
        <p:nvSpPr>
          <p:cNvPr id="18" name="TextBox 17"/>
          <p:cNvSpPr txBox="1"/>
          <p:nvPr/>
        </p:nvSpPr>
        <p:spPr>
          <a:xfrm>
            <a:off x="3136392" y="3063240"/>
            <a:ext cx="1508760" cy="640080"/>
          </a:xfrm>
          <a:prstGeom prst="rect">
            <a:avLst/>
          </a:prstGeom>
          <a:noFill/>
        </p:spPr>
        <p:txBody>
          <a:bodyPr wrap="square" lIns="36576" rIns="36576" tIns="18288" anchor="t">
            <a:spAutoFit/>
          </a:bodyPr>
          <a:lstStyle/>
          <a:p>
            <a:pPr>
              <a:defRPr sz="1100" b="0">
                <a:solidFill>
                  <a:srgbClr val="C4D3E4"/>
                </a:solidFill>
                <a:latin typeface="Aptos"/>
              </a:defRPr>
            </a:pPr>
            <a:r>
              <a:t>Keyword, button, fall or sensor event triggers one incident service.</a:t>
            </a:r>
          </a:p>
        </p:txBody>
      </p:sp>
      <p:sp>
        <p:nvSpPr>
          <p:cNvPr id="19" name="TextBox 18"/>
          <p:cNvSpPr txBox="1"/>
          <p:nvPr/>
        </p:nvSpPr>
        <p:spPr>
          <a:xfrm>
            <a:off x="4892040" y="2743200"/>
            <a:ext cx="228600" cy="274320"/>
          </a:xfrm>
          <a:prstGeom prst="rect">
            <a:avLst/>
          </a:prstGeom>
          <a:noFill/>
        </p:spPr>
        <p:txBody>
          <a:bodyPr wrap="square" lIns="36576" rIns="36576" tIns="18288" anchor="t">
            <a:spAutoFit/>
          </a:bodyPr>
          <a:lstStyle/>
          <a:p>
            <a:pPr algn="ctr">
              <a:defRPr sz="1800" b="1">
                <a:solidFill>
                  <a:srgbClr val="FF7C6B"/>
                </a:solidFill>
                <a:latin typeface="Aptos"/>
              </a:defRPr>
            </a:pPr>
            <a:r>
              <a:t>→</a:t>
            </a:r>
          </a:p>
        </p:txBody>
      </p:sp>
      <p:sp>
        <p:nvSpPr>
          <p:cNvPr id="20" name="Rounded Rectangle 19"/>
          <p:cNvSpPr/>
          <p:nvPr/>
        </p:nvSpPr>
        <p:spPr>
          <a:xfrm>
            <a:off x="5221224" y="1965960"/>
            <a:ext cx="1874519" cy="21488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04104" y="2176272"/>
            <a:ext cx="457200" cy="274320"/>
          </a:xfrm>
          <a:prstGeom prst="rect">
            <a:avLst/>
          </a:prstGeom>
          <a:noFill/>
        </p:spPr>
        <p:txBody>
          <a:bodyPr wrap="square" lIns="36576" rIns="36576" tIns="18288" anchor="t">
            <a:spAutoFit/>
          </a:bodyPr>
          <a:lstStyle/>
          <a:p>
            <a:pPr>
              <a:defRPr sz="1400" b="1">
                <a:solidFill>
                  <a:srgbClr val="37E0C5"/>
                </a:solidFill>
                <a:latin typeface="Aptos"/>
              </a:defRPr>
            </a:pPr>
            <a:r>
              <a:t>03</a:t>
            </a:r>
          </a:p>
        </p:txBody>
      </p:sp>
      <p:sp>
        <p:nvSpPr>
          <p:cNvPr id="22" name="TextBox 21"/>
          <p:cNvSpPr txBox="1"/>
          <p:nvPr/>
        </p:nvSpPr>
        <p:spPr>
          <a:xfrm>
            <a:off x="5404104" y="2578608"/>
            <a:ext cx="1508760" cy="320040"/>
          </a:xfrm>
          <a:prstGeom prst="rect">
            <a:avLst/>
          </a:prstGeom>
          <a:noFill/>
        </p:spPr>
        <p:txBody>
          <a:bodyPr wrap="square" lIns="36576" rIns="36576" tIns="18288" anchor="t">
            <a:spAutoFit/>
          </a:bodyPr>
          <a:lstStyle/>
          <a:p>
            <a:pPr>
              <a:defRPr sz="1600" b="1">
                <a:solidFill>
                  <a:srgbClr val="F7FBFF"/>
                </a:solidFill>
                <a:latin typeface="Aptos"/>
              </a:defRPr>
            </a:pPr>
            <a:r>
              <a:t>Notify</a:t>
            </a:r>
          </a:p>
        </p:txBody>
      </p:sp>
      <p:sp>
        <p:nvSpPr>
          <p:cNvPr id="23" name="TextBox 22"/>
          <p:cNvSpPr txBox="1"/>
          <p:nvPr/>
        </p:nvSpPr>
        <p:spPr>
          <a:xfrm>
            <a:off x="5404104" y="3063240"/>
            <a:ext cx="1508760" cy="640080"/>
          </a:xfrm>
          <a:prstGeom prst="rect">
            <a:avLst/>
          </a:prstGeom>
          <a:noFill/>
        </p:spPr>
        <p:txBody>
          <a:bodyPr wrap="square" lIns="36576" rIns="36576" tIns="18288" anchor="t">
            <a:spAutoFit/>
          </a:bodyPr>
          <a:lstStyle/>
          <a:p>
            <a:pPr>
              <a:defRPr sz="1100" b="0">
                <a:solidFill>
                  <a:srgbClr val="C4D3E4"/>
                </a:solidFill>
                <a:latin typeface="Aptos"/>
              </a:defRPr>
            </a:pPr>
            <a:r>
              <a:t>Trusted members receive an emergency alert with authorized context.</a:t>
            </a:r>
          </a:p>
        </p:txBody>
      </p:sp>
      <p:sp>
        <p:nvSpPr>
          <p:cNvPr id="24" name="TextBox 23"/>
          <p:cNvSpPr txBox="1"/>
          <p:nvPr/>
        </p:nvSpPr>
        <p:spPr>
          <a:xfrm>
            <a:off x="7159752" y="2743200"/>
            <a:ext cx="228600" cy="274320"/>
          </a:xfrm>
          <a:prstGeom prst="rect">
            <a:avLst/>
          </a:prstGeom>
          <a:noFill/>
        </p:spPr>
        <p:txBody>
          <a:bodyPr wrap="square" lIns="36576" rIns="36576" tIns="18288" anchor="t">
            <a:spAutoFit/>
          </a:bodyPr>
          <a:lstStyle/>
          <a:p>
            <a:pPr algn="ctr">
              <a:defRPr sz="1800" b="1">
                <a:solidFill>
                  <a:srgbClr val="FF7C6B"/>
                </a:solidFill>
                <a:latin typeface="Aptos"/>
              </a:defRPr>
            </a:pPr>
            <a:r>
              <a:t>→</a:t>
            </a:r>
          </a:p>
        </p:txBody>
      </p:sp>
      <p:sp>
        <p:nvSpPr>
          <p:cNvPr id="25" name="Rounded Rectangle 24"/>
          <p:cNvSpPr/>
          <p:nvPr/>
        </p:nvSpPr>
        <p:spPr>
          <a:xfrm>
            <a:off x="7488936" y="1965960"/>
            <a:ext cx="1874519" cy="21488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1815" y="2176272"/>
            <a:ext cx="457200" cy="274320"/>
          </a:xfrm>
          <a:prstGeom prst="rect">
            <a:avLst/>
          </a:prstGeom>
          <a:noFill/>
        </p:spPr>
        <p:txBody>
          <a:bodyPr wrap="square" lIns="36576" rIns="36576" tIns="18288" anchor="t">
            <a:spAutoFit/>
          </a:bodyPr>
          <a:lstStyle/>
          <a:p>
            <a:pPr>
              <a:defRPr sz="1400" b="1">
                <a:solidFill>
                  <a:srgbClr val="37E0C5"/>
                </a:solidFill>
                <a:latin typeface="Aptos"/>
              </a:defRPr>
            </a:pPr>
            <a:r>
              <a:t>04</a:t>
            </a:r>
          </a:p>
        </p:txBody>
      </p:sp>
      <p:sp>
        <p:nvSpPr>
          <p:cNvPr id="27" name="TextBox 26"/>
          <p:cNvSpPr txBox="1"/>
          <p:nvPr/>
        </p:nvSpPr>
        <p:spPr>
          <a:xfrm>
            <a:off x="7671815" y="2578608"/>
            <a:ext cx="1508760" cy="320040"/>
          </a:xfrm>
          <a:prstGeom prst="rect">
            <a:avLst/>
          </a:prstGeom>
          <a:noFill/>
        </p:spPr>
        <p:txBody>
          <a:bodyPr wrap="square" lIns="36576" rIns="36576" tIns="18288" anchor="t">
            <a:spAutoFit/>
          </a:bodyPr>
          <a:lstStyle/>
          <a:p>
            <a:pPr>
              <a:defRPr sz="1600" b="1">
                <a:solidFill>
                  <a:srgbClr val="F7FBFF"/>
                </a:solidFill>
                <a:latin typeface="Aptos"/>
              </a:defRPr>
            </a:pPr>
            <a:r>
              <a:t>Collect</a:t>
            </a:r>
          </a:p>
        </p:txBody>
      </p:sp>
      <p:sp>
        <p:nvSpPr>
          <p:cNvPr id="28" name="TextBox 27"/>
          <p:cNvSpPr txBox="1"/>
          <p:nvPr/>
        </p:nvSpPr>
        <p:spPr>
          <a:xfrm>
            <a:off x="7671815" y="3063240"/>
            <a:ext cx="1508760" cy="640080"/>
          </a:xfrm>
          <a:prstGeom prst="rect">
            <a:avLst/>
          </a:prstGeom>
          <a:noFill/>
        </p:spPr>
        <p:txBody>
          <a:bodyPr wrap="square" lIns="36576" rIns="36576" tIns="18288" anchor="t">
            <a:spAutoFit/>
          </a:bodyPr>
          <a:lstStyle/>
          <a:p>
            <a:pPr>
              <a:defRPr sz="1100" b="0">
                <a:solidFill>
                  <a:srgbClr val="C4D3E4"/>
                </a:solidFill>
                <a:latin typeface="Aptos"/>
              </a:defRPr>
            </a:pPr>
            <a:r>
              <a:t>Location, evidence and simulated wearable telemetry arrive on a live timeline.</a:t>
            </a:r>
          </a:p>
        </p:txBody>
      </p:sp>
      <p:sp>
        <p:nvSpPr>
          <p:cNvPr id="29" name="TextBox 28"/>
          <p:cNvSpPr txBox="1"/>
          <p:nvPr/>
        </p:nvSpPr>
        <p:spPr>
          <a:xfrm>
            <a:off x="9427463" y="2743200"/>
            <a:ext cx="228600" cy="274320"/>
          </a:xfrm>
          <a:prstGeom prst="rect">
            <a:avLst/>
          </a:prstGeom>
          <a:noFill/>
        </p:spPr>
        <p:txBody>
          <a:bodyPr wrap="square" lIns="36576" rIns="36576" tIns="18288" anchor="t">
            <a:spAutoFit/>
          </a:bodyPr>
          <a:lstStyle/>
          <a:p>
            <a:pPr algn="ctr">
              <a:defRPr sz="1800" b="1">
                <a:solidFill>
                  <a:srgbClr val="FF7C6B"/>
                </a:solidFill>
                <a:latin typeface="Aptos"/>
              </a:defRPr>
            </a:pPr>
            <a:r>
              <a:t>→</a:t>
            </a:r>
          </a:p>
        </p:txBody>
      </p:sp>
      <p:sp>
        <p:nvSpPr>
          <p:cNvPr id="30" name="Rounded Rectangle 29"/>
          <p:cNvSpPr/>
          <p:nvPr/>
        </p:nvSpPr>
        <p:spPr>
          <a:xfrm>
            <a:off x="9756648" y="1965960"/>
            <a:ext cx="1874519" cy="21488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39528" y="2176272"/>
            <a:ext cx="457200" cy="274320"/>
          </a:xfrm>
          <a:prstGeom prst="rect">
            <a:avLst/>
          </a:prstGeom>
          <a:noFill/>
        </p:spPr>
        <p:txBody>
          <a:bodyPr wrap="square" lIns="36576" rIns="36576" tIns="18288" anchor="t">
            <a:spAutoFit/>
          </a:bodyPr>
          <a:lstStyle/>
          <a:p>
            <a:pPr>
              <a:defRPr sz="1400" b="1">
                <a:solidFill>
                  <a:srgbClr val="37E0C5"/>
                </a:solidFill>
                <a:latin typeface="Aptos"/>
              </a:defRPr>
            </a:pPr>
            <a:r>
              <a:t>05</a:t>
            </a:r>
          </a:p>
        </p:txBody>
      </p:sp>
      <p:sp>
        <p:nvSpPr>
          <p:cNvPr id="32" name="TextBox 31"/>
          <p:cNvSpPr txBox="1"/>
          <p:nvPr/>
        </p:nvSpPr>
        <p:spPr>
          <a:xfrm>
            <a:off x="9939528" y="2578608"/>
            <a:ext cx="1508760" cy="320040"/>
          </a:xfrm>
          <a:prstGeom prst="rect">
            <a:avLst/>
          </a:prstGeom>
          <a:noFill/>
        </p:spPr>
        <p:txBody>
          <a:bodyPr wrap="square" lIns="36576" rIns="36576" tIns="18288" anchor="t">
            <a:spAutoFit/>
          </a:bodyPr>
          <a:lstStyle/>
          <a:p>
            <a:pPr>
              <a:defRPr sz="1600" b="1">
                <a:solidFill>
                  <a:srgbClr val="F7FBFF"/>
                </a:solidFill>
                <a:latin typeface="Aptos"/>
              </a:defRPr>
            </a:pPr>
            <a:r>
              <a:t>Resolve</a:t>
            </a:r>
          </a:p>
        </p:txBody>
      </p:sp>
      <p:sp>
        <p:nvSpPr>
          <p:cNvPr id="33" name="TextBox 32"/>
          <p:cNvSpPr txBox="1"/>
          <p:nvPr/>
        </p:nvSpPr>
        <p:spPr>
          <a:xfrm>
            <a:off x="9939528" y="3063240"/>
            <a:ext cx="1508760" cy="640080"/>
          </a:xfrm>
          <a:prstGeom prst="rect">
            <a:avLst/>
          </a:prstGeom>
          <a:noFill/>
        </p:spPr>
        <p:txBody>
          <a:bodyPr wrap="square" lIns="36576" rIns="36576" tIns="18288" anchor="t">
            <a:spAutoFit/>
          </a:bodyPr>
          <a:lstStyle/>
          <a:p>
            <a:pPr>
              <a:defRPr sz="1100" b="0">
                <a:solidFill>
                  <a:srgbClr val="C4D3E4"/>
                </a:solidFill>
                <a:latin typeface="Aptos"/>
              </a:defRPr>
            </a:pPr>
            <a:r>
              <a:t>Members acknowledge, respond, escalate or resolve — with every action audited.</a:t>
            </a:r>
          </a:p>
        </p:txBody>
      </p:sp>
      <p:sp>
        <p:nvSpPr>
          <p:cNvPr id="34" name="TextBox 33"/>
          <p:cNvSpPr txBox="1"/>
          <p:nvPr/>
        </p:nvSpPr>
        <p:spPr>
          <a:xfrm>
            <a:off x="713232" y="4892040"/>
            <a:ext cx="9784080" cy="411480"/>
          </a:xfrm>
          <a:prstGeom prst="rect">
            <a:avLst/>
          </a:prstGeom>
          <a:noFill/>
        </p:spPr>
        <p:txBody>
          <a:bodyPr wrap="square" lIns="36576" rIns="36576" tIns="18288" anchor="t">
            <a:spAutoFit/>
          </a:bodyPr>
          <a:lstStyle/>
          <a:p>
            <a:pPr>
              <a:defRPr sz="1800" b="1">
                <a:solidFill>
                  <a:srgbClr val="F7FBFF"/>
                </a:solidFill>
                <a:latin typeface="Aptos"/>
              </a:defRPr>
            </a:pPr>
            <a:r>
              <a:t>One incident model. Multiple activation sources. One shared source of truth.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PRODUCT SURFACE</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Web application scope</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08</a:t>
            </a:r>
          </a:p>
        </p:txBody>
      </p:sp>
      <p:sp>
        <p:nvSpPr>
          <p:cNvPr id="10" name="Rounded Rectangle 9"/>
          <p:cNvSpPr/>
          <p:nvPr/>
        </p:nvSpPr>
        <p:spPr>
          <a:xfrm>
            <a:off x="685800" y="1417320"/>
            <a:ext cx="3474720" cy="41605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417320"/>
            <a:ext cx="64008" cy="416052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61848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USER</a:t>
            </a:r>
          </a:p>
        </p:txBody>
      </p:sp>
      <p:sp>
        <p:nvSpPr>
          <p:cNvPr id="13" name="TextBox 12"/>
          <p:cNvSpPr txBox="1"/>
          <p:nvPr/>
        </p:nvSpPr>
        <p:spPr>
          <a:xfrm>
            <a:off x="1417320" y="1581912"/>
            <a:ext cx="2514600" cy="384048"/>
          </a:xfrm>
          <a:prstGeom prst="rect">
            <a:avLst/>
          </a:prstGeom>
          <a:noFill/>
        </p:spPr>
        <p:txBody>
          <a:bodyPr wrap="square" lIns="36576" rIns="36576" tIns="18288" anchor="t">
            <a:spAutoFit/>
          </a:bodyPr>
          <a:lstStyle/>
          <a:p>
            <a:pPr>
              <a:defRPr sz="1800" b="1">
                <a:solidFill>
                  <a:srgbClr val="F7FBFF"/>
                </a:solidFill>
                <a:latin typeface="Aptos"/>
              </a:defRPr>
            </a:pPr>
            <a:r>
              <a:t>Emergency user portal</a:t>
            </a:r>
          </a:p>
        </p:txBody>
      </p:sp>
      <p:sp>
        <p:nvSpPr>
          <p:cNvPr id="14" name="TextBox 13"/>
          <p:cNvSpPr txBox="1"/>
          <p:nvPr/>
        </p:nvSpPr>
        <p:spPr>
          <a:xfrm>
            <a:off x="914400" y="2130552"/>
            <a:ext cx="3017520" cy="3282696"/>
          </a:xfrm>
          <a:prstGeom prst="rect">
            <a:avLst/>
          </a:prstGeom>
          <a:noFill/>
        </p:spPr>
        <p:txBody>
          <a:bodyPr wrap="square" lIns="36576" rIns="36576" tIns="18288" anchor="t">
            <a:spAutoFit/>
          </a:bodyPr>
          <a:lstStyle/>
          <a:p>
            <a:pPr>
              <a:defRPr sz="1450" b="0">
                <a:solidFill>
                  <a:srgbClr val="C4D3E4"/>
                </a:solidFill>
                <a:latin typeface="Aptos"/>
              </a:defRPr>
            </a:pPr>
            <a:r>
              <a:t>• Profile and emergency information</a:t>
            </a:r>
            <a:br/>
            <a:r>
              <a:t>• Keyword configuration and test control</a:t>
            </a:r>
            <a:br/>
            <a:r>
              <a:t>• Trusted-member network and invitations</a:t>
            </a:r>
            <a:br/>
            <a:r>
              <a:t>• Location and evidence permissions</a:t>
            </a:r>
            <a:br/>
            <a:r>
              <a:t>• Wearable/device management</a:t>
            </a:r>
            <a:br/>
            <a:r>
              <a:t>• Incident history and audit trail</a:t>
            </a:r>
          </a:p>
        </p:txBody>
      </p:sp>
      <p:sp>
        <p:nvSpPr>
          <p:cNvPr id="15" name="Rounded Rectangle 14"/>
          <p:cNvSpPr/>
          <p:nvPr/>
        </p:nvSpPr>
        <p:spPr>
          <a:xfrm>
            <a:off x="4370832" y="1417320"/>
            <a:ext cx="3474720" cy="41605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0832" y="1417320"/>
            <a:ext cx="64008" cy="416052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9432" y="161848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TEAM</a:t>
            </a:r>
          </a:p>
        </p:txBody>
      </p:sp>
      <p:sp>
        <p:nvSpPr>
          <p:cNvPr id="18" name="TextBox 17"/>
          <p:cNvSpPr txBox="1"/>
          <p:nvPr/>
        </p:nvSpPr>
        <p:spPr>
          <a:xfrm>
            <a:off x="5102352" y="1581912"/>
            <a:ext cx="2514600" cy="384048"/>
          </a:xfrm>
          <a:prstGeom prst="rect">
            <a:avLst/>
          </a:prstGeom>
          <a:noFill/>
        </p:spPr>
        <p:txBody>
          <a:bodyPr wrap="square" lIns="36576" rIns="36576" tIns="18288" anchor="t">
            <a:spAutoFit/>
          </a:bodyPr>
          <a:lstStyle/>
          <a:p>
            <a:pPr>
              <a:defRPr sz="1800" b="1">
                <a:solidFill>
                  <a:srgbClr val="F7FBFF"/>
                </a:solidFill>
                <a:latin typeface="Aptos"/>
              </a:defRPr>
            </a:pPr>
            <a:r>
              <a:t>Trusted-member console</a:t>
            </a:r>
          </a:p>
        </p:txBody>
      </p:sp>
      <p:sp>
        <p:nvSpPr>
          <p:cNvPr id="19" name="TextBox 18"/>
          <p:cNvSpPr txBox="1"/>
          <p:nvPr/>
        </p:nvSpPr>
        <p:spPr>
          <a:xfrm>
            <a:off x="4599432" y="2130552"/>
            <a:ext cx="3017520" cy="3282696"/>
          </a:xfrm>
          <a:prstGeom prst="rect">
            <a:avLst/>
          </a:prstGeom>
          <a:noFill/>
        </p:spPr>
        <p:txBody>
          <a:bodyPr wrap="square" lIns="36576" rIns="36576" tIns="18288" anchor="t">
            <a:spAutoFit/>
          </a:bodyPr>
          <a:lstStyle/>
          <a:p>
            <a:pPr>
              <a:defRPr sz="1450" b="0">
                <a:solidFill>
                  <a:srgbClr val="C4D3E4"/>
                </a:solidFill>
                <a:latin typeface="Aptos"/>
              </a:defRPr>
            </a:pPr>
            <a:r>
              <a:t>• Active emergencies and notifications</a:t>
            </a:r>
            <a:br/>
            <a:r>
              <a:t>• City-data incident map and last known location</a:t>
            </a:r>
            <a:br/>
            <a:r>
              <a:t>• Chronological evidence stream</a:t>
            </a:r>
            <a:br/>
            <a:r>
              <a:t>• Latest wearable telemetry</a:t>
            </a:r>
            <a:br/>
            <a:r>
              <a:t>• Acknowledge, respond, contact, escalate</a:t>
            </a:r>
            <a:br/>
            <a:r>
              <a:t>• Resolve with resolution notes</a:t>
            </a:r>
          </a:p>
        </p:txBody>
      </p:sp>
      <p:sp>
        <p:nvSpPr>
          <p:cNvPr id="20" name="Rounded Rectangle 19"/>
          <p:cNvSpPr/>
          <p:nvPr/>
        </p:nvSpPr>
        <p:spPr>
          <a:xfrm>
            <a:off x="8055864" y="1417320"/>
            <a:ext cx="3474720" cy="41605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55864" y="1417320"/>
            <a:ext cx="64008" cy="4160520"/>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4464" y="1618488"/>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DEMO</a:t>
            </a:r>
          </a:p>
        </p:txBody>
      </p:sp>
      <p:sp>
        <p:nvSpPr>
          <p:cNvPr id="23" name="TextBox 22"/>
          <p:cNvSpPr txBox="1"/>
          <p:nvPr/>
        </p:nvSpPr>
        <p:spPr>
          <a:xfrm>
            <a:off x="8787384" y="1581912"/>
            <a:ext cx="2514600" cy="384048"/>
          </a:xfrm>
          <a:prstGeom prst="rect">
            <a:avLst/>
          </a:prstGeom>
          <a:noFill/>
        </p:spPr>
        <p:txBody>
          <a:bodyPr wrap="square" lIns="36576" rIns="36576" tIns="18288" anchor="t">
            <a:spAutoFit/>
          </a:bodyPr>
          <a:lstStyle/>
          <a:p>
            <a:pPr>
              <a:defRPr sz="1800" b="1">
                <a:solidFill>
                  <a:srgbClr val="F7FBFF"/>
                </a:solidFill>
                <a:latin typeface="Aptos"/>
              </a:defRPr>
            </a:pPr>
            <a:r>
              <a:t>Demo operator controls</a:t>
            </a:r>
          </a:p>
        </p:txBody>
      </p:sp>
      <p:sp>
        <p:nvSpPr>
          <p:cNvPr id="24" name="TextBox 23"/>
          <p:cNvSpPr txBox="1"/>
          <p:nvPr/>
        </p:nvSpPr>
        <p:spPr>
          <a:xfrm>
            <a:off x="8284464" y="2130552"/>
            <a:ext cx="3017520" cy="3282696"/>
          </a:xfrm>
          <a:prstGeom prst="rect">
            <a:avLst/>
          </a:prstGeom>
          <a:noFill/>
        </p:spPr>
        <p:txBody>
          <a:bodyPr wrap="square" lIns="36576" rIns="36576" tIns="18288" anchor="t">
            <a:spAutoFit/>
          </a:bodyPr>
          <a:lstStyle/>
          <a:p>
            <a:pPr>
              <a:defRPr sz="1450" b="0">
                <a:solidFill>
                  <a:srgbClr val="C4D3E4"/>
                </a:solidFill>
                <a:latin typeface="Aptos"/>
              </a:defRPr>
            </a:pPr>
            <a:r>
              <a:t>• Simulate keyword detection</a:t>
            </a:r>
            <a:br/>
            <a:r>
              <a:t>• Trigger wearable button or fall</a:t>
            </a:r>
            <a:br/>
            <a:r>
              <a:t>• Accelerate evidence interval</a:t>
            </a:r>
            <a:br/>
            <a:r>
              <a:t>• Move simulated location along route</a:t>
            </a:r>
            <a:br/>
            <a:r>
              <a:t>• Toggle connectivity and retry queue</a:t>
            </a:r>
            <a:br/>
            <a:r>
              <a:t>• View system health and audit logs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PRIMARY FLOW</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Activation and incident lifecycle</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09</a:t>
            </a:r>
          </a:p>
        </p:txBody>
      </p:sp>
      <p:sp>
        <p:nvSpPr>
          <p:cNvPr id="10" name="Rectangle 9"/>
          <p:cNvSpPr/>
          <p:nvPr/>
        </p:nvSpPr>
        <p:spPr>
          <a:xfrm>
            <a:off x="1271016" y="2048256"/>
            <a:ext cx="1691640" cy="45720"/>
          </a:xfrm>
          <a:prstGeom prst="rect">
            <a:avLst/>
          </a:prstGeom>
          <a:solidFill>
            <a:srgbClr val="6F4E8B"/>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9808" y="1783080"/>
            <a:ext cx="438912" cy="438912"/>
          </a:xfrm>
          <a:prstGeom prst="roundRect">
            <a:avLst>
              <a:gd name="adj" fmla="val 12000"/>
            </a:avLst>
          </a:prstGeom>
          <a:solidFill>
            <a:srgbClr val="C4D3E4"/>
          </a:solidFill>
          <a:ln>
            <a:solidFill>
              <a:srgbClr val="C4D3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847088"/>
            <a:ext cx="438912" cy="182880"/>
          </a:xfrm>
          <a:prstGeom prst="rect">
            <a:avLst/>
          </a:prstGeom>
          <a:noFill/>
        </p:spPr>
        <p:txBody>
          <a:bodyPr wrap="square" lIns="36576" rIns="36576" tIns="18288" anchor="t">
            <a:spAutoFit/>
          </a:bodyPr>
          <a:lstStyle/>
          <a:p>
            <a:pPr algn="ctr">
              <a:defRPr sz="1200" b="1">
                <a:solidFill>
                  <a:srgbClr val="1F1031"/>
                </a:solidFill>
                <a:latin typeface="Aptos"/>
              </a:defRPr>
            </a:pPr>
            <a:r>
              <a:t>1</a:t>
            </a:r>
          </a:p>
        </p:txBody>
      </p:sp>
      <p:sp>
        <p:nvSpPr>
          <p:cNvPr id="13" name="TextBox 12"/>
          <p:cNvSpPr txBox="1"/>
          <p:nvPr/>
        </p:nvSpPr>
        <p:spPr>
          <a:xfrm>
            <a:off x="521207" y="2496312"/>
            <a:ext cx="914400" cy="274320"/>
          </a:xfrm>
          <a:prstGeom prst="rect">
            <a:avLst/>
          </a:prstGeom>
          <a:noFill/>
        </p:spPr>
        <p:txBody>
          <a:bodyPr wrap="square" lIns="36576" rIns="36576" tIns="18288" anchor="t">
            <a:spAutoFit/>
          </a:bodyPr>
          <a:lstStyle/>
          <a:p>
            <a:pPr algn="ctr">
              <a:defRPr sz="1000" b="1">
                <a:solidFill>
                  <a:srgbClr val="C4D3E4"/>
                </a:solidFill>
                <a:latin typeface="Aptos"/>
              </a:defRPr>
            </a:pPr>
            <a:r>
              <a:t>STANDBY</a:t>
            </a:r>
          </a:p>
        </p:txBody>
      </p:sp>
      <p:sp>
        <p:nvSpPr>
          <p:cNvPr id="14" name="TextBox 13"/>
          <p:cNvSpPr txBox="1"/>
          <p:nvPr/>
        </p:nvSpPr>
        <p:spPr>
          <a:xfrm>
            <a:off x="246887" y="2880360"/>
            <a:ext cx="1463040" cy="384048"/>
          </a:xfrm>
          <a:prstGeom prst="rect">
            <a:avLst/>
          </a:prstGeom>
          <a:noFill/>
        </p:spPr>
        <p:txBody>
          <a:bodyPr wrap="square" lIns="36576" rIns="36576" tIns="18288" anchor="t">
            <a:spAutoFit/>
          </a:bodyPr>
          <a:lstStyle/>
          <a:p>
            <a:pPr algn="ctr">
              <a:defRPr sz="1100" b="0">
                <a:solidFill>
                  <a:srgbClr val="C4D3E4"/>
                </a:solidFill>
                <a:latin typeface="Aptos"/>
              </a:defRPr>
            </a:pPr>
            <a:r>
              <a:t>Ready</a:t>
            </a:r>
          </a:p>
        </p:txBody>
      </p:sp>
      <p:sp>
        <p:nvSpPr>
          <p:cNvPr id="15" name="Rectangle 14"/>
          <p:cNvSpPr/>
          <p:nvPr/>
        </p:nvSpPr>
        <p:spPr>
          <a:xfrm>
            <a:off x="3483863" y="2048256"/>
            <a:ext cx="1691640" cy="45720"/>
          </a:xfrm>
          <a:prstGeom prst="rect">
            <a:avLst/>
          </a:prstGeom>
          <a:solidFill>
            <a:srgbClr val="6F4E8B"/>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962656" y="1783080"/>
            <a:ext cx="438912" cy="438912"/>
          </a:xfrm>
          <a:prstGeom prst="roundRect">
            <a:avLst>
              <a:gd name="adj" fmla="val 12000"/>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62656" y="1847088"/>
            <a:ext cx="438912" cy="182880"/>
          </a:xfrm>
          <a:prstGeom prst="rect">
            <a:avLst/>
          </a:prstGeom>
          <a:noFill/>
        </p:spPr>
        <p:txBody>
          <a:bodyPr wrap="square" lIns="36576" rIns="36576" tIns="18288" anchor="t">
            <a:spAutoFit/>
          </a:bodyPr>
          <a:lstStyle/>
          <a:p>
            <a:pPr algn="ctr">
              <a:defRPr sz="1200" b="1">
                <a:solidFill>
                  <a:srgbClr val="1F1031"/>
                </a:solidFill>
                <a:latin typeface="Aptos"/>
              </a:defRPr>
            </a:pPr>
            <a:r>
              <a:t>2</a:t>
            </a:r>
          </a:p>
        </p:txBody>
      </p:sp>
      <p:sp>
        <p:nvSpPr>
          <p:cNvPr id="18" name="TextBox 17"/>
          <p:cNvSpPr txBox="1"/>
          <p:nvPr/>
        </p:nvSpPr>
        <p:spPr>
          <a:xfrm>
            <a:off x="2734056" y="2496312"/>
            <a:ext cx="914400" cy="274320"/>
          </a:xfrm>
          <a:prstGeom prst="rect">
            <a:avLst/>
          </a:prstGeom>
          <a:noFill/>
        </p:spPr>
        <p:txBody>
          <a:bodyPr wrap="square" lIns="36576" rIns="36576" tIns="18288" anchor="t">
            <a:spAutoFit/>
          </a:bodyPr>
          <a:lstStyle/>
          <a:p>
            <a:pPr algn="ctr">
              <a:defRPr sz="1000" b="1">
                <a:solidFill>
                  <a:srgbClr val="FF7C6B"/>
                </a:solidFill>
                <a:latin typeface="Aptos"/>
              </a:defRPr>
            </a:pPr>
            <a:r>
              <a:t>ACTIVATED</a:t>
            </a:r>
          </a:p>
        </p:txBody>
      </p:sp>
      <p:sp>
        <p:nvSpPr>
          <p:cNvPr id="19" name="TextBox 18"/>
          <p:cNvSpPr txBox="1"/>
          <p:nvPr/>
        </p:nvSpPr>
        <p:spPr>
          <a:xfrm>
            <a:off x="2459735" y="2880360"/>
            <a:ext cx="1463040" cy="384048"/>
          </a:xfrm>
          <a:prstGeom prst="rect">
            <a:avLst/>
          </a:prstGeom>
          <a:noFill/>
        </p:spPr>
        <p:txBody>
          <a:bodyPr wrap="square" lIns="36576" rIns="36576" tIns="18288" anchor="t">
            <a:spAutoFit/>
          </a:bodyPr>
          <a:lstStyle/>
          <a:p>
            <a:pPr algn="ctr">
              <a:defRPr sz="1100" b="0">
                <a:solidFill>
                  <a:srgbClr val="C4D3E4"/>
                </a:solidFill>
                <a:latin typeface="Aptos"/>
              </a:defRPr>
            </a:pPr>
            <a:r>
              <a:t>Signal received</a:t>
            </a:r>
          </a:p>
        </p:txBody>
      </p:sp>
      <p:sp>
        <p:nvSpPr>
          <p:cNvPr id="20" name="Rectangle 19"/>
          <p:cNvSpPr/>
          <p:nvPr/>
        </p:nvSpPr>
        <p:spPr>
          <a:xfrm>
            <a:off x="5696712" y="2048256"/>
            <a:ext cx="1691640" cy="45720"/>
          </a:xfrm>
          <a:prstGeom prst="rect">
            <a:avLst/>
          </a:prstGeom>
          <a:solidFill>
            <a:srgbClr val="6F4E8B"/>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75504" y="1783080"/>
            <a:ext cx="438912" cy="438912"/>
          </a:xfrm>
          <a:prstGeom prst="roundRect">
            <a:avLst>
              <a:gd name="adj" fmla="val 12000"/>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5504" y="1847088"/>
            <a:ext cx="438912" cy="182880"/>
          </a:xfrm>
          <a:prstGeom prst="rect">
            <a:avLst/>
          </a:prstGeom>
          <a:noFill/>
        </p:spPr>
        <p:txBody>
          <a:bodyPr wrap="square" lIns="36576" rIns="36576" tIns="18288" anchor="t">
            <a:spAutoFit/>
          </a:bodyPr>
          <a:lstStyle/>
          <a:p>
            <a:pPr algn="ctr">
              <a:defRPr sz="1200" b="1">
                <a:solidFill>
                  <a:srgbClr val="1F1031"/>
                </a:solidFill>
                <a:latin typeface="Aptos"/>
              </a:defRPr>
            </a:pPr>
            <a:r>
              <a:t>3</a:t>
            </a:r>
          </a:p>
        </p:txBody>
      </p:sp>
      <p:sp>
        <p:nvSpPr>
          <p:cNvPr id="23" name="TextBox 22"/>
          <p:cNvSpPr txBox="1"/>
          <p:nvPr/>
        </p:nvSpPr>
        <p:spPr>
          <a:xfrm>
            <a:off x="4946904" y="2496312"/>
            <a:ext cx="914400" cy="274320"/>
          </a:xfrm>
          <a:prstGeom prst="rect">
            <a:avLst/>
          </a:prstGeom>
          <a:noFill/>
        </p:spPr>
        <p:txBody>
          <a:bodyPr wrap="square" lIns="36576" rIns="36576" tIns="18288" anchor="t">
            <a:spAutoFit/>
          </a:bodyPr>
          <a:lstStyle/>
          <a:p>
            <a:pPr algn="ctr">
              <a:defRPr sz="1000" b="1">
                <a:solidFill>
                  <a:srgbClr val="37E0C5"/>
                </a:solidFill>
                <a:latin typeface="Aptos"/>
              </a:defRPr>
            </a:pPr>
            <a:r>
              <a:t>COLLECTING</a:t>
            </a:r>
          </a:p>
        </p:txBody>
      </p:sp>
      <p:sp>
        <p:nvSpPr>
          <p:cNvPr id="24" name="TextBox 23"/>
          <p:cNvSpPr txBox="1"/>
          <p:nvPr/>
        </p:nvSpPr>
        <p:spPr>
          <a:xfrm>
            <a:off x="4672584" y="2880360"/>
            <a:ext cx="1463040" cy="384048"/>
          </a:xfrm>
          <a:prstGeom prst="rect">
            <a:avLst/>
          </a:prstGeom>
          <a:noFill/>
        </p:spPr>
        <p:txBody>
          <a:bodyPr wrap="square" lIns="36576" rIns="36576" tIns="18288" anchor="t">
            <a:spAutoFit/>
          </a:bodyPr>
          <a:lstStyle/>
          <a:p>
            <a:pPr algn="ctr">
              <a:defRPr sz="1100" b="0">
                <a:solidFill>
                  <a:srgbClr val="C4D3E4"/>
                </a:solidFill>
                <a:latin typeface="Aptos"/>
              </a:defRPr>
            </a:pPr>
            <a:r>
              <a:t>Evidence live</a:t>
            </a:r>
          </a:p>
        </p:txBody>
      </p:sp>
      <p:sp>
        <p:nvSpPr>
          <p:cNvPr id="25" name="Rectangle 24"/>
          <p:cNvSpPr/>
          <p:nvPr/>
        </p:nvSpPr>
        <p:spPr>
          <a:xfrm>
            <a:off x="7909560" y="2048256"/>
            <a:ext cx="1691640" cy="45720"/>
          </a:xfrm>
          <a:prstGeom prst="rect">
            <a:avLst/>
          </a:prstGeom>
          <a:solidFill>
            <a:srgbClr val="6F4E8B"/>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88352" y="1783080"/>
            <a:ext cx="438912" cy="438912"/>
          </a:xfrm>
          <a:prstGeom prst="roundRect">
            <a:avLst>
              <a:gd name="adj" fmla="val 12000"/>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88352" y="1847088"/>
            <a:ext cx="438912" cy="182880"/>
          </a:xfrm>
          <a:prstGeom prst="rect">
            <a:avLst/>
          </a:prstGeom>
          <a:noFill/>
        </p:spPr>
        <p:txBody>
          <a:bodyPr wrap="square" lIns="36576" rIns="36576" tIns="18288" anchor="t">
            <a:spAutoFit/>
          </a:bodyPr>
          <a:lstStyle/>
          <a:p>
            <a:pPr algn="ctr">
              <a:defRPr sz="1200" b="1">
                <a:solidFill>
                  <a:srgbClr val="1F1031"/>
                </a:solidFill>
                <a:latin typeface="Aptos"/>
              </a:defRPr>
            </a:pPr>
            <a:r>
              <a:t>4</a:t>
            </a:r>
          </a:p>
        </p:txBody>
      </p:sp>
      <p:sp>
        <p:nvSpPr>
          <p:cNvPr id="28" name="TextBox 27"/>
          <p:cNvSpPr txBox="1"/>
          <p:nvPr/>
        </p:nvSpPr>
        <p:spPr>
          <a:xfrm>
            <a:off x="7159752" y="2496312"/>
            <a:ext cx="914400" cy="274320"/>
          </a:xfrm>
          <a:prstGeom prst="rect">
            <a:avLst/>
          </a:prstGeom>
          <a:noFill/>
        </p:spPr>
        <p:txBody>
          <a:bodyPr wrap="square" lIns="36576" rIns="36576" tIns="18288" anchor="t">
            <a:spAutoFit/>
          </a:bodyPr>
          <a:lstStyle/>
          <a:p>
            <a:pPr algn="ctr">
              <a:defRPr sz="1000" b="1">
                <a:solidFill>
                  <a:srgbClr val="FFD166"/>
                </a:solidFill>
                <a:latin typeface="Aptos"/>
              </a:defRPr>
            </a:pPr>
            <a:r>
              <a:t>RESPONDING</a:t>
            </a:r>
          </a:p>
        </p:txBody>
      </p:sp>
      <p:sp>
        <p:nvSpPr>
          <p:cNvPr id="29" name="TextBox 28"/>
          <p:cNvSpPr txBox="1"/>
          <p:nvPr/>
        </p:nvSpPr>
        <p:spPr>
          <a:xfrm>
            <a:off x="6885432" y="2880360"/>
            <a:ext cx="1463040" cy="384048"/>
          </a:xfrm>
          <a:prstGeom prst="rect">
            <a:avLst/>
          </a:prstGeom>
          <a:noFill/>
        </p:spPr>
        <p:txBody>
          <a:bodyPr wrap="square" lIns="36576" rIns="36576" tIns="18288" anchor="t">
            <a:spAutoFit/>
          </a:bodyPr>
          <a:lstStyle/>
          <a:p>
            <a:pPr algn="ctr">
              <a:defRPr sz="1100" b="0">
                <a:solidFill>
                  <a:srgbClr val="C4D3E4"/>
                </a:solidFill>
                <a:latin typeface="Aptos"/>
              </a:defRPr>
            </a:pPr>
            <a:r>
              <a:t>Human action</a:t>
            </a:r>
          </a:p>
        </p:txBody>
      </p:sp>
      <p:sp>
        <p:nvSpPr>
          <p:cNvPr id="30" name="Rounded Rectangle 29"/>
          <p:cNvSpPr/>
          <p:nvPr/>
        </p:nvSpPr>
        <p:spPr>
          <a:xfrm>
            <a:off x="9601200" y="1783080"/>
            <a:ext cx="438912" cy="438912"/>
          </a:xfrm>
          <a:prstGeom prst="roundRect">
            <a:avLst>
              <a:gd name="adj" fmla="val 12000"/>
            </a:avLst>
          </a:prstGeom>
          <a:solidFill>
            <a:srgbClr val="73E29A"/>
          </a:solidFill>
          <a:ln>
            <a:solidFill>
              <a:srgbClr val="73E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0" y="1847088"/>
            <a:ext cx="438912" cy="182880"/>
          </a:xfrm>
          <a:prstGeom prst="rect">
            <a:avLst/>
          </a:prstGeom>
          <a:noFill/>
        </p:spPr>
        <p:txBody>
          <a:bodyPr wrap="square" lIns="36576" rIns="36576" tIns="18288" anchor="t">
            <a:spAutoFit/>
          </a:bodyPr>
          <a:lstStyle/>
          <a:p>
            <a:pPr algn="ctr">
              <a:defRPr sz="1200" b="1">
                <a:solidFill>
                  <a:srgbClr val="1F1031"/>
                </a:solidFill>
                <a:latin typeface="Aptos"/>
              </a:defRPr>
            </a:pPr>
            <a:r>
              <a:t>5</a:t>
            </a:r>
          </a:p>
        </p:txBody>
      </p:sp>
      <p:sp>
        <p:nvSpPr>
          <p:cNvPr id="32" name="TextBox 31"/>
          <p:cNvSpPr txBox="1"/>
          <p:nvPr/>
        </p:nvSpPr>
        <p:spPr>
          <a:xfrm>
            <a:off x="9372600" y="2496312"/>
            <a:ext cx="914400" cy="274320"/>
          </a:xfrm>
          <a:prstGeom prst="rect">
            <a:avLst/>
          </a:prstGeom>
          <a:noFill/>
        </p:spPr>
        <p:txBody>
          <a:bodyPr wrap="square" lIns="36576" rIns="36576" tIns="18288" anchor="t">
            <a:spAutoFit/>
          </a:bodyPr>
          <a:lstStyle/>
          <a:p>
            <a:pPr algn="ctr">
              <a:defRPr sz="1000" b="1">
                <a:solidFill>
                  <a:srgbClr val="73E29A"/>
                </a:solidFill>
                <a:latin typeface="Aptos"/>
              </a:defRPr>
            </a:pPr>
            <a:r>
              <a:t>RESOLVED</a:t>
            </a:r>
          </a:p>
        </p:txBody>
      </p:sp>
      <p:sp>
        <p:nvSpPr>
          <p:cNvPr id="33" name="TextBox 32"/>
          <p:cNvSpPr txBox="1"/>
          <p:nvPr/>
        </p:nvSpPr>
        <p:spPr>
          <a:xfrm>
            <a:off x="9098280" y="2880360"/>
            <a:ext cx="1463040" cy="384048"/>
          </a:xfrm>
          <a:prstGeom prst="rect">
            <a:avLst/>
          </a:prstGeom>
          <a:noFill/>
        </p:spPr>
        <p:txBody>
          <a:bodyPr wrap="square" lIns="36576" rIns="36576" tIns="18288" anchor="t">
            <a:spAutoFit/>
          </a:bodyPr>
          <a:lstStyle/>
          <a:p>
            <a:pPr algn="ctr">
              <a:defRPr sz="1100" b="0">
                <a:solidFill>
                  <a:srgbClr val="C4D3E4"/>
                </a:solidFill>
                <a:latin typeface="Aptos"/>
              </a:defRPr>
            </a:pPr>
            <a:r>
              <a:t>Closed safely</a:t>
            </a:r>
          </a:p>
        </p:txBody>
      </p:sp>
      <p:sp>
        <p:nvSpPr>
          <p:cNvPr id="34" name="Rounded Rectangle 33"/>
          <p:cNvSpPr/>
          <p:nvPr/>
        </p:nvSpPr>
        <p:spPr>
          <a:xfrm>
            <a:off x="822960" y="3886200"/>
            <a:ext cx="3246120" cy="114300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960" y="3886200"/>
            <a:ext cx="64008" cy="114300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08736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a:t>
            </a:r>
          </a:p>
        </p:txBody>
      </p:sp>
      <p:sp>
        <p:nvSpPr>
          <p:cNvPr id="37" name="TextBox 36"/>
          <p:cNvSpPr txBox="1"/>
          <p:nvPr/>
        </p:nvSpPr>
        <p:spPr>
          <a:xfrm>
            <a:off x="1554480" y="4050791"/>
            <a:ext cx="2286000" cy="384048"/>
          </a:xfrm>
          <a:prstGeom prst="rect">
            <a:avLst/>
          </a:prstGeom>
          <a:noFill/>
        </p:spPr>
        <p:txBody>
          <a:bodyPr wrap="square" lIns="36576" rIns="36576" tIns="18288" anchor="t">
            <a:spAutoFit/>
          </a:bodyPr>
          <a:lstStyle/>
          <a:p>
            <a:pPr>
              <a:defRPr sz="1800" b="1">
                <a:solidFill>
                  <a:srgbClr val="F7FBFF"/>
                </a:solidFill>
                <a:latin typeface="Aptos"/>
              </a:defRPr>
            </a:pPr>
            <a:r>
              <a:t>Activation event</a:t>
            </a:r>
          </a:p>
        </p:txBody>
      </p:sp>
      <p:sp>
        <p:nvSpPr>
          <p:cNvPr id="38" name="TextBox 37"/>
          <p:cNvSpPr txBox="1"/>
          <p:nvPr/>
        </p:nvSpPr>
        <p:spPr>
          <a:xfrm>
            <a:off x="1051560" y="4599432"/>
            <a:ext cx="2788920" cy="265176"/>
          </a:xfrm>
          <a:prstGeom prst="rect">
            <a:avLst/>
          </a:prstGeom>
          <a:noFill/>
        </p:spPr>
        <p:txBody>
          <a:bodyPr wrap="square" lIns="36576" rIns="36576" tIns="18288" anchor="t">
            <a:spAutoFit/>
          </a:bodyPr>
          <a:lstStyle/>
          <a:p>
            <a:pPr>
              <a:defRPr sz="1450" b="0">
                <a:solidFill>
                  <a:srgbClr val="C4D3E4"/>
                </a:solidFill>
                <a:latin typeface="Aptos"/>
              </a:defRPr>
            </a:pPr>
            <a:r>
              <a:t>Keyword HELP • wearable button • simulated fall</a:t>
            </a:r>
          </a:p>
        </p:txBody>
      </p:sp>
      <p:sp>
        <p:nvSpPr>
          <p:cNvPr id="39" name="Rounded Rectangle 38"/>
          <p:cNvSpPr/>
          <p:nvPr/>
        </p:nvSpPr>
        <p:spPr>
          <a:xfrm>
            <a:off x="4462272" y="3886200"/>
            <a:ext cx="3246120" cy="114300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462272" y="3886200"/>
            <a:ext cx="64008" cy="114300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90872" y="408736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a:t>
            </a:r>
          </a:p>
        </p:txBody>
      </p:sp>
      <p:sp>
        <p:nvSpPr>
          <p:cNvPr id="42" name="TextBox 41"/>
          <p:cNvSpPr txBox="1"/>
          <p:nvPr/>
        </p:nvSpPr>
        <p:spPr>
          <a:xfrm>
            <a:off x="5193792" y="4050791"/>
            <a:ext cx="2286000" cy="384048"/>
          </a:xfrm>
          <a:prstGeom prst="rect">
            <a:avLst/>
          </a:prstGeom>
          <a:noFill/>
        </p:spPr>
        <p:txBody>
          <a:bodyPr wrap="square" lIns="36576" rIns="36576" tIns="18288" anchor="t">
            <a:spAutoFit/>
          </a:bodyPr>
          <a:lstStyle/>
          <a:p>
            <a:pPr>
              <a:defRPr sz="1800" b="1">
                <a:solidFill>
                  <a:srgbClr val="F7FBFF"/>
                </a:solidFill>
                <a:latin typeface="Aptos"/>
              </a:defRPr>
            </a:pPr>
            <a:r>
              <a:t>Incident record</a:t>
            </a:r>
          </a:p>
        </p:txBody>
      </p:sp>
      <p:sp>
        <p:nvSpPr>
          <p:cNvPr id="43" name="TextBox 42"/>
          <p:cNvSpPr txBox="1"/>
          <p:nvPr/>
        </p:nvSpPr>
        <p:spPr>
          <a:xfrm>
            <a:off x="4690872" y="4599432"/>
            <a:ext cx="2788920" cy="265176"/>
          </a:xfrm>
          <a:prstGeom prst="rect">
            <a:avLst/>
          </a:prstGeom>
          <a:noFill/>
        </p:spPr>
        <p:txBody>
          <a:bodyPr wrap="square" lIns="36576" rIns="36576" tIns="18288" anchor="t">
            <a:spAutoFit/>
          </a:bodyPr>
          <a:lstStyle/>
          <a:p>
            <a:pPr>
              <a:defRPr sz="1450" b="0">
                <a:solidFill>
                  <a:srgbClr val="C4D3E4"/>
                </a:solidFill>
                <a:latin typeface="Aptos"/>
              </a:defRPr>
            </a:pPr>
            <a:r>
              <a:t>ID, user, time, method, priority, location</a:t>
            </a:r>
          </a:p>
        </p:txBody>
      </p:sp>
      <p:sp>
        <p:nvSpPr>
          <p:cNvPr id="44" name="Rounded Rectangle 43"/>
          <p:cNvSpPr/>
          <p:nvPr/>
        </p:nvSpPr>
        <p:spPr>
          <a:xfrm>
            <a:off x="8101583" y="3886200"/>
            <a:ext cx="3246120" cy="114300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01583" y="3886200"/>
            <a:ext cx="64008" cy="1143000"/>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30183" y="4087368"/>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a:t>
            </a:r>
          </a:p>
        </p:txBody>
      </p:sp>
      <p:sp>
        <p:nvSpPr>
          <p:cNvPr id="47" name="TextBox 46"/>
          <p:cNvSpPr txBox="1"/>
          <p:nvPr/>
        </p:nvSpPr>
        <p:spPr>
          <a:xfrm>
            <a:off x="8833104" y="4050791"/>
            <a:ext cx="2286000" cy="384048"/>
          </a:xfrm>
          <a:prstGeom prst="rect">
            <a:avLst/>
          </a:prstGeom>
          <a:noFill/>
        </p:spPr>
        <p:txBody>
          <a:bodyPr wrap="square" lIns="36576" rIns="36576" tIns="18288" anchor="t">
            <a:spAutoFit/>
          </a:bodyPr>
          <a:lstStyle/>
          <a:p>
            <a:pPr>
              <a:defRPr sz="1800" b="1">
                <a:solidFill>
                  <a:srgbClr val="F7FBFF"/>
                </a:solidFill>
                <a:latin typeface="Aptos"/>
              </a:defRPr>
            </a:pPr>
            <a:r>
              <a:t>Human response</a:t>
            </a:r>
          </a:p>
        </p:txBody>
      </p:sp>
      <p:sp>
        <p:nvSpPr>
          <p:cNvPr id="48" name="TextBox 47"/>
          <p:cNvSpPr txBox="1"/>
          <p:nvPr/>
        </p:nvSpPr>
        <p:spPr>
          <a:xfrm>
            <a:off x="8330183" y="4599432"/>
            <a:ext cx="2788920" cy="265176"/>
          </a:xfrm>
          <a:prstGeom prst="rect">
            <a:avLst/>
          </a:prstGeom>
          <a:noFill/>
        </p:spPr>
        <p:txBody>
          <a:bodyPr wrap="square" lIns="36576" rIns="36576" tIns="18288" anchor="t">
            <a:spAutoFit/>
          </a:bodyPr>
          <a:lstStyle/>
          <a:p>
            <a:pPr>
              <a:defRPr sz="1450" b="0">
                <a:solidFill>
                  <a:srgbClr val="C4D3E4"/>
                </a:solidFill>
                <a:latin typeface="Aptos"/>
              </a:defRPr>
            </a:pPr>
            <a:r>
              <a:t>Acknowledge → Responding → Resolve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WHAT JUDGES WILL SEE</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Live incident room</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10</a:t>
            </a:r>
          </a:p>
        </p:txBody>
      </p:sp>
      <p:sp>
        <p:nvSpPr>
          <p:cNvPr id="10" name="Rounded Rectangle 9"/>
          <p:cNvSpPr/>
          <p:nvPr/>
        </p:nvSpPr>
        <p:spPr>
          <a:xfrm>
            <a:off x="658368" y="1298448"/>
            <a:ext cx="10927080" cy="480060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298448"/>
            <a:ext cx="10927080" cy="530352"/>
          </a:xfrm>
          <a:prstGeom prst="roundRect">
            <a:avLst>
              <a:gd name="adj" fmla="val 12000"/>
            </a:avLst>
          </a:prstGeom>
          <a:solidFill>
            <a:srgbClr val="452A5E"/>
          </a:solidFill>
          <a:ln>
            <a:solidFill>
              <a:srgbClr val="452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463040"/>
            <a:ext cx="3657600" cy="201168"/>
          </a:xfrm>
          <a:prstGeom prst="rect">
            <a:avLst/>
          </a:prstGeom>
          <a:noFill/>
        </p:spPr>
        <p:txBody>
          <a:bodyPr wrap="square" lIns="36576" rIns="36576" tIns="18288" anchor="t">
            <a:spAutoFit/>
          </a:bodyPr>
          <a:lstStyle/>
          <a:p>
            <a:pPr>
              <a:defRPr sz="1100" b="1">
                <a:solidFill>
                  <a:srgbClr val="F7FBFF"/>
                </a:solidFill>
                <a:latin typeface="Aptos"/>
              </a:defRPr>
            </a:pPr>
            <a:r>
              <a:t>ACTIVE INCIDENT  #INC-2048</a:t>
            </a:r>
          </a:p>
        </p:txBody>
      </p:sp>
      <p:sp>
        <p:nvSpPr>
          <p:cNvPr id="13" name="Rounded Rectangle 12"/>
          <p:cNvSpPr/>
          <p:nvPr/>
        </p:nvSpPr>
        <p:spPr>
          <a:xfrm>
            <a:off x="9646920" y="1435608"/>
            <a:ext cx="1371600" cy="228600"/>
          </a:xfrm>
          <a:prstGeom prst="roundRect">
            <a:avLst>
              <a:gd name="adj" fmla="val 12000"/>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48088" y="1453896"/>
            <a:ext cx="960120" cy="146304"/>
          </a:xfrm>
          <a:prstGeom prst="rect">
            <a:avLst/>
          </a:prstGeom>
          <a:noFill/>
        </p:spPr>
        <p:txBody>
          <a:bodyPr wrap="square" lIns="36576" rIns="36576" tIns="18288" anchor="t">
            <a:spAutoFit/>
          </a:bodyPr>
          <a:lstStyle/>
          <a:p>
            <a:pPr algn="ctr">
              <a:defRPr sz="900" b="1">
                <a:solidFill>
                  <a:srgbClr val="1F1031"/>
                </a:solidFill>
                <a:latin typeface="Aptos"/>
              </a:defRPr>
            </a:pPr>
            <a:r>
              <a:t>● LIVE</a:t>
            </a:r>
          </a:p>
        </p:txBody>
      </p:sp>
      <p:sp>
        <p:nvSpPr>
          <p:cNvPr id="15" name="Rounded Rectangle 14"/>
          <p:cNvSpPr/>
          <p:nvPr/>
        </p:nvSpPr>
        <p:spPr>
          <a:xfrm>
            <a:off x="914400" y="2148840"/>
            <a:ext cx="2880360" cy="3429000"/>
          </a:xfrm>
          <a:prstGeom prst="roundRect">
            <a:avLst>
              <a:gd name="adj" fmla="val 12000"/>
            </a:avLst>
          </a:prstGeom>
          <a:solidFill>
            <a:srgbClr val="1F1031"/>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 y="2404872"/>
            <a:ext cx="2377440" cy="201168"/>
          </a:xfrm>
          <a:prstGeom prst="rect">
            <a:avLst/>
          </a:prstGeom>
          <a:noFill/>
        </p:spPr>
        <p:txBody>
          <a:bodyPr wrap="square" lIns="36576" rIns="36576" tIns="18288" anchor="t">
            <a:spAutoFit/>
          </a:bodyPr>
          <a:lstStyle/>
          <a:p>
            <a:pPr>
              <a:defRPr sz="1000" b="1">
                <a:solidFill>
                  <a:srgbClr val="37E0C5"/>
                </a:solidFill>
                <a:latin typeface="Aptos"/>
              </a:defRPr>
            </a:pPr>
            <a:r>
              <a:t>LAST KNOWN LOCATION</a:t>
            </a:r>
          </a:p>
        </p:txBody>
      </p:sp>
      <p:sp>
        <p:nvSpPr>
          <p:cNvPr id="17" name="TextBox 16"/>
          <p:cNvSpPr txBox="1"/>
          <p:nvPr/>
        </p:nvSpPr>
        <p:spPr>
          <a:xfrm>
            <a:off x="1124712" y="2770632"/>
            <a:ext cx="2377440" cy="274320"/>
          </a:xfrm>
          <a:prstGeom prst="rect">
            <a:avLst/>
          </a:prstGeom>
          <a:noFill/>
        </p:spPr>
        <p:txBody>
          <a:bodyPr wrap="square" lIns="36576" rIns="36576" tIns="18288" anchor="t">
            <a:spAutoFit/>
          </a:bodyPr>
          <a:lstStyle/>
          <a:p>
            <a:pPr>
              <a:defRPr sz="1600" b="1">
                <a:solidFill>
                  <a:srgbClr val="F7FBFF"/>
                </a:solidFill>
                <a:latin typeface="Aptos"/>
              </a:defRPr>
            </a:pPr>
            <a:r>
              <a:t>Mbombela, Mpumalanga</a:t>
            </a:r>
          </a:p>
        </p:txBody>
      </p:sp>
      <p:sp>
        <p:nvSpPr>
          <p:cNvPr id="18" name="TextBox 17"/>
          <p:cNvSpPr txBox="1"/>
          <p:nvPr/>
        </p:nvSpPr>
        <p:spPr>
          <a:xfrm>
            <a:off x="1124712" y="3273552"/>
            <a:ext cx="2377440" cy="1143000"/>
          </a:xfrm>
          <a:prstGeom prst="rect">
            <a:avLst/>
          </a:prstGeom>
          <a:noFill/>
        </p:spPr>
        <p:txBody>
          <a:bodyPr wrap="square" lIns="36576" rIns="36576" tIns="18288" anchor="t">
            <a:spAutoFit/>
          </a:bodyPr>
          <a:lstStyle/>
          <a:p>
            <a:pPr>
              <a:defRPr sz="1200" b="0">
                <a:solidFill>
                  <a:srgbClr val="C4D3E4"/>
                </a:solidFill>
                <a:latin typeface="Aptos"/>
              </a:defRPr>
            </a:pPr>
            <a:r>
              <a:t>Latitude  −25.4745</a:t>
            </a:r>
            <a:br/>
            <a:r>
              <a:t>Longitude  30.9703</a:t>
            </a:r>
            <a:br/>
            <a:r>
              <a:t>Accuracy  ±8 m</a:t>
            </a:r>
            <a:br/>
            <a:r>
              <a:t>Updated  14:32:20</a:t>
            </a:r>
          </a:p>
        </p:txBody>
      </p:sp>
      <p:sp>
        <p:nvSpPr>
          <p:cNvPr id="19" name="Rounded Rectangle 18"/>
          <p:cNvSpPr/>
          <p:nvPr/>
        </p:nvSpPr>
        <p:spPr>
          <a:xfrm>
            <a:off x="4041648" y="2148840"/>
            <a:ext cx="2971800" cy="3429000"/>
          </a:xfrm>
          <a:prstGeom prst="roundRect">
            <a:avLst>
              <a:gd name="adj" fmla="val 12000"/>
            </a:avLst>
          </a:prstGeom>
          <a:solidFill>
            <a:srgbClr val="1F1031"/>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70248" y="2404872"/>
            <a:ext cx="2194560" cy="201168"/>
          </a:xfrm>
          <a:prstGeom prst="rect">
            <a:avLst/>
          </a:prstGeom>
          <a:noFill/>
        </p:spPr>
        <p:txBody>
          <a:bodyPr wrap="square" lIns="36576" rIns="36576" tIns="18288" anchor="t">
            <a:spAutoFit/>
          </a:bodyPr>
          <a:lstStyle/>
          <a:p>
            <a:pPr>
              <a:defRPr sz="1000" b="1">
                <a:solidFill>
                  <a:srgbClr val="37E0C5"/>
                </a:solidFill>
                <a:latin typeface="Aptos"/>
              </a:defRPr>
            </a:pPr>
            <a:r>
              <a:t>TIMELINE</a:t>
            </a:r>
          </a:p>
        </p:txBody>
      </p:sp>
      <p:sp>
        <p:nvSpPr>
          <p:cNvPr id="21" name="TextBox 20"/>
          <p:cNvSpPr txBox="1"/>
          <p:nvPr/>
        </p:nvSpPr>
        <p:spPr>
          <a:xfrm>
            <a:off x="4270248" y="2834640"/>
            <a:ext cx="2286000" cy="228600"/>
          </a:xfrm>
          <a:prstGeom prst="rect">
            <a:avLst/>
          </a:prstGeom>
          <a:noFill/>
        </p:spPr>
        <p:txBody>
          <a:bodyPr wrap="square" lIns="36576" rIns="36576" tIns="18288" anchor="t">
            <a:spAutoFit/>
          </a:bodyPr>
          <a:lstStyle/>
          <a:p>
            <a:pPr>
              <a:defRPr sz="1050" b="0">
                <a:solidFill>
                  <a:srgbClr val="C4D3E4"/>
                </a:solidFill>
                <a:latin typeface="Aptos"/>
              </a:defRPr>
            </a:pPr>
            <a:r>
              <a:t>14:32:05  Keyword detected</a:t>
            </a:r>
          </a:p>
        </p:txBody>
      </p:sp>
      <p:sp>
        <p:nvSpPr>
          <p:cNvPr id="22" name="TextBox 21"/>
          <p:cNvSpPr txBox="1"/>
          <p:nvPr/>
        </p:nvSpPr>
        <p:spPr>
          <a:xfrm>
            <a:off x="4270248" y="3273552"/>
            <a:ext cx="2286000" cy="228600"/>
          </a:xfrm>
          <a:prstGeom prst="rect">
            <a:avLst/>
          </a:prstGeom>
          <a:noFill/>
        </p:spPr>
        <p:txBody>
          <a:bodyPr wrap="square" lIns="36576" rIns="36576" tIns="18288" anchor="t">
            <a:spAutoFit/>
          </a:bodyPr>
          <a:lstStyle/>
          <a:p>
            <a:pPr>
              <a:defRPr sz="1050" b="0">
                <a:solidFill>
                  <a:srgbClr val="C4D3E4"/>
                </a:solidFill>
                <a:latin typeface="Aptos"/>
              </a:defRPr>
            </a:pPr>
            <a:r>
              <a:t>14:32:08  Members notified</a:t>
            </a:r>
          </a:p>
        </p:txBody>
      </p:sp>
      <p:sp>
        <p:nvSpPr>
          <p:cNvPr id="23" name="TextBox 22"/>
          <p:cNvSpPr txBox="1"/>
          <p:nvPr/>
        </p:nvSpPr>
        <p:spPr>
          <a:xfrm>
            <a:off x="4270248" y="3712464"/>
            <a:ext cx="2286000" cy="228600"/>
          </a:xfrm>
          <a:prstGeom prst="rect">
            <a:avLst/>
          </a:prstGeom>
          <a:noFill/>
        </p:spPr>
        <p:txBody>
          <a:bodyPr wrap="square" lIns="36576" rIns="36576" tIns="18288" anchor="t">
            <a:spAutoFit/>
          </a:bodyPr>
          <a:lstStyle/>
          <a:p>
            <a:pPr>
              <a:defRPr sz="1050" b="0">
                <a:solidFill>
                  <a:srgbClr val="C4D3E4"/>
                </a:solidFill>
                <a:latin typeface="Aptos"/>
              </a:defRPr>
            </a:pPr>
            <a:r>
              <a:t>14:32:15  Audio received</a:t>
            </a:r>
          </a:p>
        </p:txBody>
      </p:sp>
      <p:sp>
        <p:nvSpPr>
          <p:cNvPr id="24" name="TextBox 23"/>
          <p:cNvSpPr txBox="1"/>
          <p:nvPr/>
        </p:nvSpPr>
        <p:spPr>
          <a:xfrm>
            <a:off x="4270248" y="4151376"/>
            <a:ext cx="2286000" cy="228600"/>
          </a:xfrm>
          <a:prstGeom prst="rect">
            <a:avLst/>
          </a:prstGeom>
          <a:noFill/>
        </p:spPr>
        <p:txBody>
          <a:bodyPr wrap="square" lIns="36576" rIns="36576" tIns="18288" anchor="t">
            <a:spAutoFit/>
          </a:bodyPr>
          <a:lstStyle/>
          <a:p>
            <a:pPr>
              <a:defRPr sz="1050" b="0">
                <a:solidFill>
                  <a:srgbClr val="C4D3E4"/>
                </a:solidFill>
                <a:latin typeface="Aptos"/>
              </a:defRPr>
            </a:pPr>
            <a:r>
              <a:t>14:32:30  Telemetry received</a:t>
            </a:r>
          </a:p>
        </p:txBody>
      </p:sp>
      <p:sp>
        <p:nvSpPr>
          <p:cNvPr id="25" name="TextBox 24"/>
          <p:cNvSpPr txBox="1"/>
          <p:nvPr/>
        </p:nvSpPr>
        <p:spPr>
          <a:xfrm>
            <a:off x="4270248" y="4590288"/>
            <a:ext cx="2286000" cy="228600"/>
          </a:xfrm>
          <a:prstGeom prst="rect">
            <a:avLst/>
          </a:prstGeom>
          <a:noFill/>
        </p:spPr>
        <p:txBody>
          <a:bodyPr wrap="square" lIns="36576" rIns="36576" tIns="18288" anchor="t">
            <a:spAutoFit/>
          </a:bodyPr>
          <a:lstStyle/>
          <a:p>
            <a:pPr>
              <a:defRPr sz="1050" b="1">
                <a:solidFill>
                  <a:srgbClr val="F7FBFF"/>
                </a:solidFill>
                <a:latin typeface="Aptos"/>
              </a:defRPr>
            </a:pPr>
            <a:r>
              <a:t>14:32:35  Acknowledged</a:t>
            </a:r>
          </a:p>
        </p:txBody>
      </p:sp>
      <p:sp>
        <p:nvSpPr>
          <p:cNvPr id="26" name="Rounded Rectangle 25"/>
          <p:cNvSpPr/>
          <p:nvPr/>
        </p:nvSpPr>
        <p:spPr>
          <a:xfrm>
            <a:off x="7260336" y="2148840"/>
            <a:ext cx="3657600" cy="3429000"/>
          </a:xfrm>
          <a:prstGeom prst="roundRect">
            <a:avLst>
              <a:gd name="adj" fmla="val 12000"/>
            </a:avLst>
          </a:prstGeom>
          <a:solidFill>
            <a:srgbClr val="1F1031"/>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79" y="2404872"/>
            <a:ext cx="2743200" cy="201168"/>
          </a:xfrm>
          <a:prstGeom prst="rect">
            <a:avLst/>
          </a:prstGeom>
          <a:noFill/>
        </p:spPr>
        <p:txBody>
          <a:bodyPr wrap="square" lIns="36576" rIns="36576" tIns="18288" anchor="t">
            <a:spAutoFit/>
          </a:bodyPr>
          <a:lstStyle/>
          <a:p>
            <a:pPr>
              <a:defRPr sz="1000" b="1">
                <a:solidFill>
                  <a:srgbClr val="FFD166"/>
                </a:solidFill>
                <a:latin typeface="Aptos"/>
              </a:defRPr>
            </a:pPr>
            <a:r>
              <a:t>SIMULATED DEVICE</a:t>
            </a:r>
          </a:p>
        </p:txBody>
      </p:sp>
      <p:sp>
        <p:nvSpPr>
          <p:cNvPr id="28" name="TextBox 27"/>
          <p:cNvSpPr txBox="1"/>
          <p:nvPr/>
        </p:nvSpPr>
        <p:spPr>
          <a:xfrm>
            <a:off x="7498079" y="2761488"/>
            <a:ext cx="2011680" cy="274320"/>
          </a:xfrm>
          <a:prstGeom prst="rect">
            <a:avLst/>
          </a:prstGeom>
          <a:noFill/>
        </p:spPr>
        <p:txBody>
          <a:bodyPr wrap="square" lIns="36576" rIns="36576" tIns="18288" anchor="t">
            <a:spAutoFit/>
          </a:bodyPr>
          <a:lstStyle/>
          <a:p>
            <a:pPr>
              <a:defRPr sz="1600" b="1">
                <a:solidFill>
                  <a:srgbClr val="F7FBFF"/>
                </a:solidFill>
                <a:latin typeface="Aptos"/>
              </a:defRPr>
            </a:pPr>
            <a:r>
              <a:t>SafeWatch Demo</a:t>
            </a:r>
          </a:p>
        </p:txBody>
      </p:sp>
      <p:sp>
        <p:nvSpPr>
          <p:cNvPr id="29" name="TextBox 28"/>
          <p:cNvSpPr txBox="1"/>
          <p:nvPr/>
        </p:nvSpPr>
        <p:spPr>
          <a:xfrm>
            <a:off x="7498079" y="3182112"/>
            <a:ext cx="2743200" cy="228600"/>
          </a:xfrm>
          <a:prstGeom prst="rect">
            <a:avLst/>
          </a:prstGeom>
          <a:noFill/>
        </p:spPr>
        <p:txBody>
          <a:bodyPr wrap="square" lIns="36576" rIns="36576" tIns="18288" anchor="t">
            <a:spAutoFit/>
          </a:bodyPr>
          <a:lstStyle/>
          <a:p>
            <a:pPr>
              <a:defRPr sz="1200" b="1">
                <a:solidFill>
                  <a:srgbClr val="73E29A"/>
                </a:solidFill>
                <a:latin typeface="Aptos"/>
              </a:defRPr>
            </a:pPr>
            <a:r>
              <a:t>● Connected    Battery 78%</a:t>
            </a:r>
          </a:p>
        </p:txBody>
      </p:sp>
      <p:sp>
        <p:nvSpPr>
          <p:cNvPr id="30" name="TextBox 29"/>
          <p:cNvSpPr txBox="1"/>
          <p:nvPr/>
        </p:nvSpPr>
        <p:spPr>
          <a:xfrm>
            <a:off x="7498079" y="3639312"/>
            <a:ext cx="2926080" cy="1188720"/>
          </a:xfrm>
          <a:prstGeom prst="rect">
            <a:avLst/>
          </a:prstGeom>
          <a:noFill/>
        </p:spPr>
        <p:txBody>
          <a:bodyPr wrap="square" lIns="36576" rIns="36576" tIns="18288" anchor="t">
            <a:spAutoFit/>
          </a:bodyPr>
          <a:lstStyle/>
          <a:p>
            <a:pPr>
              <a:defRPr sz="1200" b="0">
                <a:solidFill>
                  <a:srgbClr val="C4D3E4"/>
                </a:solidFill>
                <a:latin typeface="Aptos"/>
              </a:defRPr>
            </a:pPr>
            <a:r>
              <a:t>Heart rate     92 BPM</a:t>
            </a:r>
            <a:br/>
            <a:r>
              <a:t>Motion         Walking</a:t>
            </a:r>
            <a:br/>
            <a:r>
              <a:t>Fall detection  Normal</a:t>
            </a:r>
            <a:br/>
            <a:r>
              <a:t>GPS            Available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COLLECTION AND TRANSMISSION</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Evidence is a live, accountable stream</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11</a:t>
            </a:r>
          </a:p>
        </p:txBody>
      </p:sp>
      <p:sp>
        <p:nvSpPr>
          <p:cNvPr id="10" name="TextBox 9"/>
          <p:cNvSpPr txBox="1"/>
          <p:nvPr/>
        </p:nvSpPr>
        <p:spPr>
          <a:xfrm>
            <a:off x="685800" y="1298448"/>
            <a:ext cx="10332720" cy="411480"/>
          </a:xfrm>
          <a:prstGeom prst="rect">
            <a:avLst/>
          </a:prstGeom>
          <a:noFill/>
        </p:spPr>
        <p:txBody>
          <a:bodyPr wrap="square" lIns="36576" rIns="36576" tIns="18288" anchor="t">
            <a:spAutoFit/>
          </a:bodyPr>
          <a:lstStyle/>
          <a:p>
            <a:pPr>
              <a:defRPr sz="1700" b="1">
                <a:solidFill>
                  <a:srgbClr val="F7FBFF"/>
                </a:solidFill>
                <a:latin typeface="Aptos"/>
              </a:defRPr>
            </a:pPr>
            <a:r>
              <a:t>The prototype makes the 10-second concept observable — and lets the operator accelerate it for a fast demo.</a:t>
            </a:r>
          </a:p>
        </p:txBody>
      </p:sp>
      <p:sp>
        <p:nvSpPr>
          <p:cNvPr id="11" name="Rounded Rectangle 10"/>
          <p:cNvSpPr/>
          <p:nvPr/>
        </p:nvSpPr>
        <p:spPr>
          <a:xfrm>
            <a:off x="685800" y="1965960"/>
            <a:ext cx="6629400" cy="361188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212848"/>
            <a:ext cx="2743200" cy="228600"/>
          </a:xfrm>
          <a:prstGeom prst="rect">
            <a:avLst/>
          </a:prstGeom>
          <a:noFill/>
        </p:spPr>
        <p:txBody>
          <a:bodyPr wrap="square" lIns="36576" rIns="36576" tIns="18288" anchor="t">
            <a:spAutoFit/>
          </a:bodyPr>
          <a:lstStyle/>
          <a:p>
            <a:pPr>
              <a:defRPr sz="1000" b="1">
                <a:solidFill>
                  <a:srgbClr val="37E0C5"/>
                </a:solidFill>
                <a:latin typeface="Aptos"/>
              </a:defRPr>
            </a:pPr>
            <a:r>
              <a:t>EVIDENCE STREAM</a:t>
            </a:r>
          </a:p>
        </p:txBody>
      </p:sp>
      <p:sp>
        <p:nvSpPr>
          <p:cNvPr id="13" name="TextBox 12"/>
          <p:cNvSpPr txBox="1"/>
          <p:nvPr/>
        </p:nvSpPr>
        <p:spPr>
          <a:xfrm>
            <a:off x="5623560" y="2212848"/>
            <a:ext cx="1371600" cy="228600"/>
          </a:xfrm>
          <a:prstGeom prst="rect">
            <a:avLst/>
          </a:prstGeom>
          <a:noFill/>
        </p:spPr>
        <p:txBody>
          <a:bodyPr wrap="square" lIns="36576" rIns="36576" tIns="18288" anchor="t">
            <a:spAutoFit/>
          </a:bodyPr>
          <a:lstStyle/>
          <a:p>
            <a:pPr algn="r">
              <a:defRPr sz="1000" b="1">
                <a:solidFill>
                  <a:srgbClr val="FFD166"/>
                </a:solidFill>
                <a:latin typeface="Aptos"/>
              </a:defRPr>
            </a:pPr>
            <a:r>
              <a:t>DEMO INTERVAL  2 sec</a:t>
            </a:r>
          </a:p>
        </p:txBody>
      </p:sp>
      <p:sp>
        <p:nvSpPr>
          <p:cNvPr id="14" name="Rounded Rectangle 13"/>
          <p:cNvSpPr/>
          <p:nvPr/>
        </p:nvSpPr>
        <p:spPr>
          <a:xfrm>
            <a:off x="932688" y="2670048"/>
            <a:ext cx="6126480" cy="384048"/>
          </a:xfrm>
          <a:prstGeom prst="roundRect">
            <a:avLst>
              <a:gd name="adj" fmla="val 12000"/>
            </a:avLst>
          </a:prstGeom>
          <a:solidFill>
            <a:srgbClr val="1F1031"/>
          </a:solidFill>
          <a:ln>
            <a:solidFill>
              <a:srgbClr val="1F10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2752344"/>
            <a:ext cx="1005840" cy="164592"/>
          </a:xfrm>
          <a:prstGeom prst="rect">
            <a:avLst/>
          </a:prstGeom>
          <a:noFill/>
        </p:spPr>
        <p:txBody>
          <a:bodyPr wrap="square" lIns="36576" rIns="36576" tIns="18288" anchor="t">
            <a:spAutoFit/>
          </a:bodyPr>
          <a:lstStyle/>
          <a:p>
            <a:pPr>
              <a:defRPr sz="1000" b="0">
                <a:solidFill>
                  <a:srgbClr val="C4D3E4"/>
                </a:solidFill>
                <a:latin typeface="Aptos"/>
              </a:defRPr>
            </a:pPr>
            <a:r>
              <a:t>14:32:15</a:t>
            </a:r>
          </a:p>
        </p:txBody>
      </p:sp>
      <p:sp>
        <p:nvSpPr>
          <p:cNvPr id="16" name="TextBox 15"/>
          <p:cNvSpPr txBox="1"/>
          <p:nvPr/>
        </p:nvSpPr>
        <p:spPr>
          <a:xfrm>
            <a:off x="2212848" y="2743200"/>
            <a:ext cx="2103120" cy="182880"/>
          </a:xfrm>
          <a:prstGeom prst="rect">
            <a:avLst/>
          </a:prstGeom>
          <a:noFill/>
        </p:spPr>
        <p:txBody>
          <a:bodyPr wrap="square" lIns="36576" rIns="36576" tIns="18288" anchor="t">
            <a:spAutoFit/>
          </a:bodyPr>
          <a:lstStyle/>
          <a:p>
            <a:pPr>
              <a:defRPr sz="1100" b="1">
                <a:solidFill>
                  <a:srgbClr val="F7FBFF"/>
                </a:solidFill>
                <a:latin typeface="Aptos"/>
              </a:defRPr>
            </a:pPr>
            <a:r>
              <a:t>Audio segment</a:t>
            </a:r>
          </a:p>
        </p:txBody>
      </p:sp>
      <p:sp>
        <p:nvSpPr>
          <p:cNvPr id="17" name="TextBox 16"/>
          <p:cNvSpPr txBox="1"/>
          <p:nvPr/>
        </p:nvSpPr>
        <p:spPr>
          <a:xfrm>
            <a:off x="5074920" y="2752344"/>
            <a:ext cx="1417320" cy="164592"/>
          </a:xfrm>
          <a:prstGeom prst="rect">
            <a:avLst/>
          </a:prstGeom>
          <a:noFill/>
        </p:spPr>
        <p:txBody>
          <a:bodyPr wrap="square" lIns="36576" rIns="36576" tIns="18288" anchor="t">
            <a:spAutoFit/>
          </a:bodyPr>
          <a:lstStyle/>
          <a:p>
            <a:pPr algn="r">
              <a:defRPr sz="950" b="1">
                <a:solidFill>
                  <a:srgbClr val="37E0C5"/>
                </a:solidFill>
                <a:latin typeface="Aptos"/>
              </a:defRPr>
            </a:pPr>
            <a:r>
              <a:t>UPLOADED</a:t>
            </a:r>
          </a:p>
        </p:txBody>
      </p:sp>
      <p:sp>
        <p:nvSpPr>
          <p:cNvPr id="18" name="Rounded Rectangle 17"/>
          <p:cNvSpPr/>
          <p:nvPr/>
        </p:nvSpPr>
        <p:spPr>
          <a:xfrm>
            <a:off x="932688" y="3191256"/>
            <a:ext cx="6126480" cy="384048"/>
          </a:xfrm>
          <a:prstGeom prst="roundRect">
            <a:avLst>
              <a:gd name="adj" fmla="val 12000"/>
            </a:avLst>
          </a:prstGeom>
          <a:solidFill>
            <a:srgbClr val="1F1031"/>
          </a:solidFill>
          <a:ln>
            <a:solidFill>
              <a:srgbClr val="1F10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3273551"/>
            <a:ext cx="1005840" cy="164592"/>
          </a:xfrm>
          <a:prstGeom prst="rect">
            <a:avLst/>
          </a:prstGeom>
          <a:noFill/>
        </p:spPr>
        <p:txBody>
          <a:bodyPr wrap="square" lIns="36576" rIns="36576" tIns="18288" anchor="t">
            <a:spAutoFit/>
          </a:bodyPr>
          <a:lstStyle/>
          <a:p>
            <a:pPr>
              <a:defRPr sz="1000" b="0">
                <a:solidFill>
                  <a:srgbClr val="C4D3E4"/>
                </a:solidFill>
                <a:latin typeface="Aptos"/>
              </a:defRPr>
            </a:pPr>
            <a:r>
              <a:t>14:32:20</a:t>
            </a:r>
          </a:p>
        </p:txBody>
      </p:sp>
      <p:sp>
        <p:nvSpPr>
          <p:cNvPr id="20" name="TextBox 19"/>
          <p:cNvSpPr txBox="1"/>
          <p:nvPr/>
        </p:nvSpPr>
        <p:spPr>
          <a:xfrm>
            <a:off x="2212848" y="3264408"/>
            <a:ext cx="2103120" cy="182880"/>
          </a:xfrm>
          <a:prstGeom prst="rect">
            <a:avLst/>
          </a:prstGeom>
          <a:noFill/>
        </p:spPr>
        <p:txBody>
          <a:bodyPr wrap="square" lIns="36576" rIns="36576" tIns="18288" anchor="t">
            <a:spAutoFit/>
          </a:bodyPr>
          <a:lstStyle/>
          <a:p>
            <a:pPr>
              <a:defRPr sz="1100" b="1">
                <a:solidFill>
                  <a:srgbClr val="F7FBFF"/>
                </a:solidFill>
                <a:latin typeface="Aptos"/>
              </a:defRPr>
            </a:pPr>
            <a:r>
              <a:t>Location update</a:t>
            </a:r>
          </a:p>
        </p:txBody>
      </p:sp>
      <p:sp>
        <p:nvSpPr>
          <p:cNvPr id="21" name="TextBox 20"/>
          <p:cNvSpPr txBox="1"/>
          <p:nvPr/>
        </p:nvSpPr>
        <p:spPr>
          <a:xfrm>
            <a:off x="5074920" y="3273551"/>
            <a:ext cx="1417320" cy="164592"/>
          </a:xfrm>
          <a:prstGeom prst="rect">
            <a:avLst/>
          </a:prstGeom>
          <a:noFill/>
        </p:spPr>
        <p:txBody>
          <a:bodyPr wrap="square" lIns="36576" rIns="36576" tIns="18288" anchor="t">
            <a:spAutoFit/>
          </a:bodyPr>
          <a:lstStyle/>
          <a:p>
            <a:pPr algn="r">
              <a:defRPr sz="950" b="1">
                <a:solidFill>
                  <a:srgbClr val="73E29A"/>
                </a:solidFill>
                <a:latin typeface="Aptos"/>
              </a:defRPr>
            </a:pPr>
            <a:r>
              <a:t>RECEIVED</a:t>
            </a:r>
          </a:p>
        </p:txBody>
      </p:sp>
      <p:sp>
        <p:nvSpPr>
          <p:cNvPr id="22" name="Rounded Rectangle 21"/>
          <p:cNvSpPr/>
          <p:nvPr/>
        </p:nvSpPr>
        <p:spPr>
          <a:xfrm>
            <a:off x="932688" y="3712463"/>
            <a:ext cx="6126480" cy="384048"/>
          </a:xfrm>
          <a:prstGeom prst="roundRect">
            <a:avLst>
              <a:gd name="adj" fmla="val 12000"/>
            </a:avLst>
          </a:prstGeom>
          <a:solidFill>
            <a:srgbClr val="1F1031"/>
          </a:solidFill>
          <a:ln>
            <a:solidFill>
              <a:srgbClr val="1F10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992" y="3794759"/>
            <a:ext cx="1005840" cy="164592"/>
          </a:xfrm>
          <a:prstGeom prst="rect">
            <a:avLst/>
          </a:prstGeom>
          <a:noFill/>
        </p:spPr>
        <p:txBody>
          <a:bodyPr wrap="square" lIns="36576" rIns="36576" tIns="18288" anchor="t">
            <a:spAutoFit/>
          </a:bodyPr>
          <a:lstStyle/>
          <a:p>
            <a:pPr>
              <a:defRPr sz="1000" b="0">
                <a:solidFill>
                  <a:srgbClr val="C4D3E4"/>
                </a:solidFill>
                <a:latin typeface="Aptos"/>
              </a:defRPr>
            </a:pPr>
            <a:r>
              <a:t>14:32:25</a:t>
            </a:r>
          </a:p>
        </p:txBody>
      </p:sp>
      <p:sp>
        <p:nvSpPr>
          <p:cNvPr id="24" name="TextBox 23"/>
          <p:cNvSpPr txBox="1"/>
          <p:nvPr/>
        </p:nvSpPr>
        <p:spPr>
          <a:xfrm>
            <a:off x="2212848" y="3785615"/>
            <a:ext cx="2103120" cy="182880"/>
          </a:xfrm>
          <a:prstGeom prst="rect">
            <a:avLst/>
          </a:prstGeom>
          <a:noFill/>
        </p:spPr>
        <p:txBody>
          <a:bodyPr wrap="square" lIns="36576" rIns="36576" tIns="18288" anchor="t">
            <a:spAutoFit/>
          </a:bodyPr>
          <a:lstStyle/>
          <a:p>
            <a:pPr>
              <a:defRPr sz="1100" b="1">
                <a:solidFill>
                  <a:srgbClr val="F7FBFF"/>
                </a:solidFill>
                <a:latin typeface="Aptos"/>
              </a:defRPr>
            </a:pPr>
            <a:r>
              <a:t>Audio segment</a:t>
            </a:r>
          </a:p>
        </p:txBody>
      </p:sp>
      <p:sp>
        <p:nvSpPr>
          <p:cNvPr id="25" name="TextBox 24"/>
          <p:cNvSpPr txBox="1"/>
          <p:nvPr/>
        </p:nvSpPr>
        <p:spPr>
          <a:xfrm>
            <a:off x="5074920" y="3794759"/>
            <a:ext cx="1417320" cy="164592"/>
          </a:xfrm>
          <a:prstGeom prst="rect">
            <a:avLst/>
          </a:prstGeom>
          <a:noFill/>
        </p:spPr>
        <p:txBody>
          <a:bodyPr wrap="square" lIns="36576" rIns="36576" tIns="18288" anchor="t">
            <a:spAutoFit/>
          </a:bodyPr>
          <a:lstStyle/>
          <a:p>
            <a:pPr algn="r">
              <a:defRPr sz="950" b="1">
                <a:solidFill>
                  <a:srgbClr val="FFD166"/>
                </a:solidFill>
                <a:latin typeface="Aptos"/>
              </a:defRPr>
            </a:pPr>
            <a:r>
              <a:t>UPLOADING</a:t>
            </a:r>
          </a:p>
        </p:txBody>
      </p:sp>
      <p:sp>
        <p:nvSpPr>
          <p:cNvPr id="26" name="Rounded Rectangle 25"/>
          <p:cNvSpPr/>
          <p:nvPr/>
        </p:nvSpPr>
        <p:spPr>
          <a:xfrm>
            <a:off x="932688" y="4233672"/>
            <a:ext cx="6126480" cy="384048"/>
          </a:xfrm>
          <a:prstGeom prst="roundRect">
            <a:avLst>
              <a:gd name="adj" fmla="val 12000"/>
            </a:avLst>
          </a:prstGeom>
          <a:solidFill>
            <a:srgbClr val="1F1031"/>
          </a:solidFill>
          <a:ln>
            <a:solidFill>
              <a:srgbClr val="1F10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992" y="4315968"/>
            <a:ext cx="1005840" cy="164592"/>
          </a:xfrm>
          <a:prstGeom prst="rect">
            <a:avLst/>
          </a:prstGeom>
          <a:noFill/>
        </p:spPr>
        <p:txBody>
          <a:bodyPr wrap="square" lIns="36576" rIns="36576" tIns="18288" anchor="t">
            <a:spAutoFit/>
          </a:bodyPr>
          <a:lstStyle/>
          <a:p>
            <a:pPr>
              <a:defRPr sz="1000" b="0">
                <a:solidFill>
                  <a:srgbClr val="C4D3E4"/>
                </a:solidFill>
                <a:latin typeface="Aptos"/>
              </a:defRPr>
            </a:pPr>
            <a:r>
              <a:t>14:32:30</a:t>
            </a:r>
          </a:p>
        </p:txBody>
      </p:sp>
      <p:sp>
        <p:nvSpPr>
          <p:cNvPr id="28" name="TextBox 27"/>
          <p:cNvSpPr txBox="1"/>
          <p:nvPr/>
        </p:nvSpPr>
        <p:spPr>
          <a:xfrm>
            <a:off x="2212848" y="4306824"/>
            <a:ext cx="2103120" cy="182880"/>
          </a:xfrm>
          <a:prstGeom prst="rect">
            <a:avLst/>
          </a:prstGeom>
          <a:noFill/>
        </p:spPr>
        <p:txBody>
          <a:bodyPr wrap="square" lIns="36576" rIns="36576" tIns="18288" anchor="t">
            <a:spAutoFit/>
          </a:bodyPr>
          <a:lstStyle/>
          <a:p>
            <a:pPr>
              <a:defRPr sz="1100" b="1">
                <a:solidFill>
                  <a:srgbClr val="F7FBFF"/>
                </a:solidFill>
                <a:latin typeface="Aptos"/>
              </a:defRPr>
            </a:pPr>
            <a:r>
              <a:t>Wearable telemetry</a:t>
            </a:r>
          </a:p>
        </p:txBody>
      </p:sp>
      <p:sp>
        <p:nvSpPr>
          <p:cNvPr id="29" name="TextBox 28"/>
          <p:cNvSpPr txBox="1"/>
          <p:nvPr/>
        </p:nvSpPr>
        <p:spPr>
          <a:xfrm>
            <a:off x="5074920" y="4315968"/>
            <a:ext cx="1417320" cy="164592"/>
          </a:xfrm>
          <a:prstGeom prst="rect">
            <a:avLst/>
          </a:prstGeom>
          <a:noFill/>
        </p:spPr>
        <p:txBody>
          <a:bodyPr wrap="square" lIns="36576" rIns="36576" tIns="18288" anchor="t">
            <a:spAutoFit/>
          </a:bodyPr>
          <a:lstStyle/>
          <a:p>
            <a:pPr algn="r">
              <a:defRPr sz="950" b="1">
                <a:solidFill>
                  <a:srgbClr val="73E29A"/>
                </a:solidFill>
                <a:latin typeface="Aptos"/>
              </a:defRPr>
            </a:pPr>
            <a:r>
              <a:t>RECEIVED</a:t>
            </a:r>
          </a:p>
        </p:txBody>
      </p:sp>
      <p:sp>
        <p:nvSpPr>
          <p:cNvPr id="30" name="Rounded Rectangle 29"/>
          <p:cNvSpPr/>
          <p:nvPr/>
        </p:nvSpPr>
        <p:spPr>
          <a:xfrm>
            <a:off x="932688" y="4754879"/>
            <a:ext cx="6126480" cy="384048"/>
          </a:xfrm>
          <a:prstGeom prst="roundRect">
            <a:avLst>
              <a:gd name="adj" fmla="val 12000"/>
            </a:avLst>
          </a:prstGeom>
          <a:solidFill>
            <a:srgbClr val="1F1031"/>
          </a:solidFill>
          <a:ln>
            <a:solidFill>
              <a:srgbClr val="1F10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8992" y="4837175"/>
            <a:ext cx="1005840" cy="164592"/>
          </a:xfrm>
          <a:prstGeom prst="rect">
            <a:avLst/>
          </a:prstGeom>
          <a:noFill/>
        </p:spPr>
        <p:txBody>
          <a:bodyPr wrap="square" lIns="36576" rIns="36576" tIns="18288" anchor="t">
            <a:spAutoFit/>
          </a:bodyPr>
          <a:lstStyle/>
          <a:p>
            <a:pPr>
              <a:defRPr sz="1000" b="0">
                <a:solidFill>
                  <a:srgbClr val="C4D3E4"/>
                </a:solidFill>
                <a:latin typeface="Aptos"/>
              </a:defRPr>
            </a:pPr>
            <a:r>
              <a:t>14:32:35</a:t>
            </a:r>
          </a:p>
        </p:txBody>
      </p:sp>
      <p:sp>
        <p:nvSpPr>
          <p:cNvPr id="32" name="TextBox 31"/>
          <p:cNvSpPr txBox="1"/>
          <p:nvPr/>
        </p:nvSpPr>
        <p:spPr>
          <a:xfrm>
            <a:off x="2212848" y="4828031"/>
            <a:ext cx="2103120" cy="182880"/>
          </a:xfrm>
          <a:prstGeom prst="rect">
            <a:avLst/>
          </a:prstGeom>
          <a:noFill/>
        </p:spPr>
        <p:txBody>
          <a:bodyPr wrap="square" lIns="36576" rIns="36576" tIns="18288" anchor="t">
            <a:spAutoFit/>
          </a:bodyPr>
          <a:lstStyle/>
          <a:p>
            <a:pPr>
              <a:defRPr sz="1100" b="1">
                <a:solidFill>
                  <a:srgbClr val="F7FBFF"/>
                </a:solidFill>
                <a:latin typeface="Aptos"/>
              </a:defRPr>
            </a:pPr>
            <a:r>
              <a:t>Image frame</a:t>
            </a:r>
          </a:p>
        </p:txBody>
      </p:sp>
      <p:sp>
        <p:nvSpPr>
          <p:cNvPr id="33" name="TextBox 32"/>
          <p:cNvSpPr txBox="1"/>
          <p:nvPr/>
        </p:nvSpPr>
        <p:spPr>
          <a:xfrm>
            <a:off x="5074920" y="4837175"/>
            <a:ext cx="1417320" cy="164592"/>
          </a:xfrm>
          <a:prstGeom prst="rect">
            <a:avLst/>
          </a:prstGeom>
          <a:noFill/>
        </p:spPr>
        <p:txBody>
          <a:bodyPr wrap="square" lIns="36576" rIns="36576" tIns="18288" anchor="t">
            <a:spAutoFit/>
          </a:bodyPr>
          <a:lstStyle/>
          <a:p>
            <a:pPr algn="r">
              <a:defRPr sz="950" b="1">
                <a:solidFill>
                  <a:srgbClr val="FF7C6B"/>
                </a:solidFill>
                <a:latin typeface="Aptos"/>
              </a:defRPr>
            </a:pPr>
            <a:r>
              <a:t>PENDING</a:t>
            </a:r>
          </a:p>
        </p:txBody>
      </p:sp>
      <p:sp>
        <p:nvSpPr>
          <p:cNvPr id="34" name="Rounded Rectangle 33"/>
          <p:cNvSpPr/>
          <p:nvPr/>
        </p:nvSpPr>
        <p:spPr>
          <a:xfrm>
            <a:off x="7635240" y="1965960"/>
            <a:ext cx="3840480" cy="14173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35240" y="1965960"/>
            <a:ext cx="64008" cy="1417320"/>
          </a:xfrm>
          <a:prstGeom prst="rect">
            <a:avLst/>
          </a:prstGeom>
          <a:solidFill>
            <a:srgbClr val="73E29A"/>
          </a:solidFill>
          <a:ln>
            <a:solidFill>
              <a:srgbClr val="73E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2167128"/>
            <a:ext cx="457200" cy="320040"/>
          </a:xfrm>
          <a:prstGeom prst="rect">
            <a:avLst/>
          </a:prstGeom>
          <a:noFill/>
        </p:spPr>
        <p:txBody>
          <a:bodyPr wrap="square" lIns="36576" rIns="36576" tIns="18288" anchor="t">
            <a:spAutoFit/>
          </a:bodyPr>
          <a:lstStyle/>
          <a:p>
            <a:pPr algn="ctr">
              <a:defRPr sz="2000" b="1">
                <a:solidFill>
                  <a:srgbClr val="73E29A"/>
                </a:solidFill>
                <a:latin typeface="Aptos"/>
              </a:defRPr>
            </a:pPr>
            <a:r>
              <a:t>●</a:t>
            </a:r>
          </a:p>
        </p:txBody>
      </p:sp>
      <p:sp>
        <p:nvSpPr>
          <p:cNvPr id="37" name="TextBox 36"/>
          <p:cNvSpPr txBox="1"/>
          <p:nvPr/>
        </p:nvSpPr>
        <p:spPr>
          <a:xfrm>
            <a:off x="8366760" y="2130552"/>
            <a:ext cx="2880360" cy="384048"/>
          </a:xfrm>
          <a:prstGeom prst="rect">
            <a:avLst/>
          </a:prstGeom>
          <a:noFill/>
        </p:spPr>
        <p:txBody>
          <a:bodyPr wrap="square" lIns="36576" rIns="36576" tIns="18288" anchor="t">
            <a:spAutoFit/>
          </a:bodyPr>
          <a:lstStyle/>
          <a:p>
            <a:pPr>
              <a:defRPr sz="1800" b="1">
                <a:solidFill>
                  <a:srgbClr val="F7FBFF"/>
                </a:solidFill>
                <a:latin typeface="Aptos"/>
              </a:defRPr>
            </a:pPr>
            <a:r>
              <a:t>Transmission indicator</a:t>
            </a:r>
          </a:p>
        </p:txBody>
      </p:sp>
      <p:sp>
        <p:nvSpPr>
          <p:cNvPr id="38" name="TextBox 37"/>
          <p:cNvSpPr txBox="1"/>
          <p:nvPr/>
        </p:nvSpPr>
        <p:spPr>
          <a:xfrm>
            <a:off x="7863840" y="2679191"/>
            <a:ext cx="3383280" cy="539496"/>
          </a:xfrm>
          <a:prstGeom prst="rect">
            <a:avLst/>
          </a:prstGeom>
          <a:noFill/>
        </p:spPr>
        <p:txBody>
          <a:bodyPr wrap="square" lIns="36576" rIns="36576" tIns="18288" anchor="t">
            <a:spAutoFit/>
          </a:bodyPr>
          <a:lstStyle/>
          <a:p>
            <a:pPr>
              <a:defRPr sz="1450" b="0">
                <a:solidFill>
                  <a:srgbClr val="C4D3E4"/>
                </a:solidFill>
                <a:latin typeface="Aptos"/>
              </a:defRPr>
            </a:pPr>
            <a:r>
              <a:t>● LIVE — last evidence received 3 seconds ago</a:t>
            </a:r>
          </a:p>
        </p:txBody>
      </p:sp>
      <p:sp>
        <p:nvSpPr>
          <p:cNvPr id="39" name="Rounded Rectangle 38"/>
          <p:cNvSpPr/>
          <p:nvPr/>
        </p:nvSpPr>
        <p:spPr>
          <a:xfrm>
            <a:off x="7635240" y="3639312"/>
            <a:ext cx="3840480" cy="141732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635240" y="3639312"/>
            <a:ext cx="64008" cy="141732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0" y="3840480"/>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a:t>
            </a:r>
          </a:p>
        </p:txBody>
      </p:sp>
      <p:sp>
        <p:nvSpPr>
          <p:cNvPr id="42" name="TextBox 41"/>
          <p:cNvSpPr txBox="1"/>
          <p:nvPr/>
        </p:nvSpPr>
        <p:spPr>
          <a:xfrm>
            <a:off x="8366760" y="3803904"/>
            <a:ext cx="2880360" cy="384048"/>
          </a:xfrm>
          <a:prstGeom prst="rect">
            <a:avLst/>
          </a:prstGeom>
          <a:noFill/>
        </p:spPr>
        <p:txBody>
          <a:bodyPr wrap="square" lIns="36576" rIns="36576" tIns="18288" anchor="t">
            <a:spAutoFit/>
          </a:bodyPr>
          <a:lstStyle/>
          <a:p>
            <a:pPr>
              <a:defRPr sz="1800" b="1">
                <a:solidFill>
                  <a:srgbClr val="F7FBFF"/>
                </a:solidFill>
                <a:latin typeface="Aptos"/>
              </a:defRPr>
            </a:pPr>
            <a:r>
              <a:t>Offline-ready behavior</a:t>
            </a:r>
          </a:p>
        </p:txBody>
      </p:sp>
      <p:sp>
        <p:nvSpPr>
          <p:cNvPr id="43" name="TextBox 42"/>
          <p:cNvSpPr txBox="1"/>
          <p:nvPr/>
        </p:nvSpPr>
        <p:spPr>
          <a:xfrm>
            <a:off x="7863840" y="4352544"/>
            <a:ext cx="3383280" cy="539496"/>
          </a:xfrm>
          <a:prstGeom prst="rect">
            <a:avLst/>
          </a:prstGeom>
          <a:noFill/>
        </p:spPr>
        <p:txBody>
          <a:bodyPr wrap="square" lIns="36576" rIns="36576" tIns="18288" anchor="t">
            <a:spAutoFit/>
          </a:bodyPr>
          <a:lstStyle/>
          <a:p>
            <a:pPr>
              <a:defRPr sz="1450" b="0">
                <a:solidFill>
                  <a:srgbClr val="C4D3E4"/>
                </a:solidFill>
                <a:latin typeface="Aptos"/>
              </a:defRPr>
            </a:pPr>
            <a:r>
              <a:t>Queue locally → preserve timestamp → retry → deduplicate on reconnect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DEVICE LAYER</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Simulated IoT: honest now, replaceable later</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12</a:t>
            </a:r>
          </a:p>
        </p:txBody>
      </p:sp>
      <p:sp>
        <p:nvSpPr>
          <p:cNvPr id="10" name="TextBox 9"/>
          <p:cNvSpPr txBox="1"/>
          <p:nvPr/>
        </p:nvSpPr>
        <p:spPr>
          <a:xfrm>
            <a:off x="685800" y="1298448"/>
            <a:ext cx="10424160" cy="411480"/>
          </a:xfrm>
          <a:prstGeom prst="rect">
            <a:avLst/>
          </a:prstGeom>
          <a:noFill/>
        </p:spPr>
        <p:txBody>
          <a:bodyPr wrap="square" lIns="36576" rIns="36576" tIns="18288" anchor="t">
            <a:spAutoFit/>
          </a:bodyPr>
          <a:lstStyle/>
          <a:p>
            <a:pPr>
              <a:defRPr sz="1700" b="1">
                <a:solidFill>
                  <a:srgbClr val="F7FBFF"/>
                </a:solidFill>
                <a:latin typeface="Aptos"/>
              </a:defRPr>
            </a:pPr>
            <a:r>
              <a:t>Every hardware-dependent capability is clearly marked as simulated. The contract stays stable when real devices are introduced.</a:t>
            </a:r>
          </a:p>
        </p:txBody>
      </p:sp>
      <p:sp>
        <p:nvSpPr>
          <p:cNvPr id="11" name="Rounded Rectangle 10"/>
          <p:cNvSpPr/>
          <p:nvPr/>
        </p:nvSpPr>
        <p:spPr>
          <a:xfrm>
            <a:off x="685800" y="1965960"/>
            <a:ext cx="3429000" cy="333756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965960"/>
            <a:ext cx="64008" cy="3337560"/>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167128"/>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a:t>
            </a:r>
          </a:p>
        </p:txBody>
      </p:sp>
      <p:sp>
        <p:nvSpPr>
          <p:cNvPr id="14" name="TextBox 13"/>
          <p:cNvSpPr txBox="1"/>
          <p:nvPr/>
        </p:nvSpPr>
        <p:spPr>
          <a:xfrm>
            <a:off x="1417320" y="2130552"/>
            <a:ext cx="2468880" cy="384048"/>
          </a:xfrm>
          <a:prstGeom prst="rect">
            <a:avLst/>
          </a:prstGeom>
          <a:noFill/>
        </p:spPr>
        <p:txBody>
          <a:bodyPr wrap="square" lIns="36576" rIns="36576" tIns="18288" anchor="t">
            <a:spAutoFit/>
          </a:bodyPr>
          <a:lstStyle/>
          <a:p>
            <a:pPr>
              <a:defRPr sz="1800" b="1">
                <a:solidFill>
                  <a:srgbClr val="F7FBFF"/>
                </a:solidFill>
                <a:latin typeface="Aptos"/>
              </a:defRPr>
            </a:pPr>
            <a:r>
              <a:t>SafeWatch Demo</a:t>
            </a:r>
          </a:p>
        </p:txBody>
      </p:sp>
      <p:sp>
        <p:nvSpPr>
          <p:cNvPr id="15" name="TextBox 14"/>
          <p:cNvSpPr txBox="1"/>
          <p:nvPr/>
        </p:nvSpPr>
        <p:spPr>
          <a:xfrm>
            <a:off x="914400" y="2679191"/>
            <a:ext cx="2971800" cy="2459736"/>
          </a:xfrm>
          <a:prstGeom prst="rect">
            <a:avLst/>
          </a:prstGeom>
          <a:noFill/>
        </p:spPr>
        <p:txBody>
          <a:bodyPr wrap="square" lIns="36576" rIns="36576" tIns="18288" anchor="t">
            <a:spAutoFit/>
          </a:bodyPr>
          <a:lstStyle/>
          <a:p>
            <a:pPr>
              <a:defRPr sz="1450" b="0">
                <a:solidFill>
                  <a:srgbClr val="C4D3E4"/>
                </a:solidFill>
                <a:latin typeface="Aptos"/>
              </a:defRPr>
            </a:pPr>
            <a:r>
              <a:t>SIMULATED DEVICE</a:t>
            </a:r>
            <a:br/>
            <a:br/>
            <a:r>
              <a:t>Connected • 78% battery</a:t>
            </a:r>
            <a:br/>
            <a:r>
              <a:t>Heart rate: 92 BPM</a:t>
            </a:r>
            <a:br/>
            <a:r>
              <a:t>Motion: Walking</a:t>
            </a:r>
            <a:br/>
            <a:r>
              <a:t>Fall detection: Normal</a:t>
            </a:r>
            <a:br/>
            <a:r>
              <a:t>GPS: Available</a:t>
            </a:r>
          </a:p>
        </p:txBody>
      </p:sp>
      <p:sp>
        <p:nvSpPr>
          <p:cNvPr id="16" name="Rounded Rectangle 15"/>
          <p:cNvSpPr/>
          <p:nvPr/>
        </p:nvSpPr>
        <p:spPr>
          <a:xfrm>
            <a:off x="4370832" y="1965960"/>
            <a:ext cx="3429000" cy="333756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1965960"/>
            <a:ext cx="64008" cy="333756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9432" y="216712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a:t>
            </a:r>
          </a:p>
        </p:txBody>
      </p:sp>
      <p:sp>
        <p:nvSpPr>
          <p:cNvPr id="19" name="TextBox 18"/>
          <p:cNvSpPr txBox="1"/>
          <p:nvPr/>
        </p:nvSpPr>
        <p:spPr>
          <a:xfrm>
            <a:off x="5102352" y="2130552"/>
            <a:ext cx="2468880" cy="384048"/>
          </a:xfrm>
          <a:prstGeom prst="rect">
            <a:avLst/>
          </a:prstGeom>
          <a:noFill/>
        </p:spPr>
        <p:txBody>
          <a:bodyPr wrap="square" lIns="36576" rIns="36576" tIns="18288" anchor="t">
            <a:spAutoFit/>
          </a:bodyPr>
          <a:lstStyle/>
          <a:p>
            <a:pPr>
              <a:defRPr sz="1800" b="1">
                <a:solidFill>
                  <a:srgbClr val="F7FBFF"/>
                </a:solidFill>
                <a:latin typeface="Aptos"/>
              </a:defRPr>
            </a:pPr>
            <a:r>
              <a:t>Triggers to demonstrate</a:t>
            </a:r>
          </a:p>
        </p:txBody>
      </p:sp>
      <p:sp>
        <p:nvSpPr>
          <p:cNvPr id="20" name="TextBox 19"/>
          <p:cNvSpPr txBox="1"/>
          <p:nvPr/>
        </p:nvSpPr>
        <p:spPr>
          <a:xfrm>
            <a:off x="4599432" y="2679191"/>
            <a:ext cx="2971800" cy="2459736"/>
          </a:xfrm>
          <a:prstGeom prst="rect">
            <a:avLst/>
          </a:prstGeom>
          <a:noFill/>
        </p:spPr>
        <p:txBody>
          <a:bodyPr wrap="square" lIns="36576" rIns="36576" tIns="18288" anchor="t">
            <a:spAutoFit/>
          </a:bodyPr>
          <a:lstStyle/>
          <a:p>
            <a:pPr>
              <a:defRPr sz="1450" b="0">
                <a:solidFill>
                  <a:srgbClr val="C4D3E4"/>
                </a:solidFill>
                <a:latin typeface="Aptos"/>
              </a:defRPr>
            </a:pPr>
            <a:r>
              <a:t>• Simulate wearable emergency button</a:t>
            </a:r>
            <a:br/>
            <a:r>
              <a:t>• Simulate sudden / confirmed fall</a:t>
            </a:r>
            <a:br/>
            <a:r>
              <a:t>• Generate changing heart rate</a:t>
            </a:r>
            <a:br/>
            <a:r>
              <a:t>• Toggle weak or disconnected state</a:t>
            </a:r>
            <a:br/>
            <a:r>
              <a:t>• Decrease battery during incident</a:t>
            </a:r>
            <a:br/>
            <a:r>
              <a:t>• Move along a predefined route</a:t>
            </a:r>
          </a:p>
        </p:txBody>
      </p:sp>
      <p:sp>
        <p:nvSpPr>
          <p:cNvPr id="21" name="Rounded Rectangle 20"/>
          <p:cNvSpPr/>
          <p:nvPr/>
        </p:nvSpPr>
        <p:spPr>
          <a:xfrm>
            <a:off x="8055864" y="1965960"/>
            <a:ext cx="3429000" cy="333756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55864" y="1965960"/>
            <a:ext cx="64008" cy="333756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4464" y="216712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a:t>
            </a:r>
          </a:p>
        </p:txBody>
      </p:sp>
      <p:sp>
        <p:nvSpPr>
          <p:cNvPr id="24" name="TextBox 23"/>
          <p:cNvSpPr txBox="1"/>
          <p:nvPr/>
        </p:nvSpPr>
        <p:spPr>
          <a:xfrm>
            <a:off x="8787384" y="2130552"/>
            <a:ext cx="2468880" cy="384048"/>
          </a:xfrm>
          <a:prstGeom prst="rect">
            <a:avLst/>
          </a:prstGeom>
          <a:noFill/>
        </p:spPr>
        <p:txBody>
          <a:bodyPr wrap="square" lIns="36576" rIns="36576" tIns="18288" anchor="t">
            <a:spAutoFit/>
          </a:bodyPr>
          <a:lstStyle/>
          <a:p>
            <a:pPr>
              <a:defRPr sz="1800" b="1">
                <a:solidFill>
                  <a:srgbClr val="F7FBFF"/>
                </a:solidFill>
                <a:latin typeface="Aptos"/>
              </a:defRPr>
            </a:pPr>
            <a:r>
              <a:t>Future hardware seam</a:t>
            </a:r>
          </a:p>
        </p:txBody>
      </p:sp>
      <p:sp>
        <p:nvSpPr>
          <p:cNvPr id="25" name="TextBox 24"/>
          <p:cNvSpPr txBox="1"/>
          <p:nvPr/>
        </p:nvSpPr>
        <p:spPr>
          <a:xfrm>
            <a:off x="8284464" y="2679191"/>
            <a:ext cx="2971800" cy="2459736"/>
          </a:xfrm>
          <a:prstGeom prst="rect">
            <a:avLst/>
          </a:prstGeom>
          <a:noFill/>
        </p:spPr>
        <p:txBody>
          <a:bodyPr wrap="square" lIns="36576" rIns="36576" tIns="18288" anchor="t">
            <a:spAutoFit/>
          </a:bodyPr>
          <a:lstStyle/>
          <a:p>
            <a:pPr>
              <a:defRPr sz="1450" b="0">
                <a:solidFill>
                  <a:srgbClr val="C4D3E4"/>
                </a:solidFill>
                <a:latin typeface="Aptos"/>
              </a:defRPr>
            </a:pPr>
            <a:r>
              <a:t>Device adapter → telemetry contract → event bus → incident service</a:t>
            </a:r>
            <a:br/>
            <a:br/>
            <a:r>
              <a:t>No redesign of the incident, notification or dashboard layers is required.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BACKEND AND DATA</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Production-structured architecture</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13</a:t>
            </a:r>
          </a:p>
        </p:txBody>
      </p:sp>
      <p:sp>
        <p:nvSpPr>
          <p:cNvPr id="10" name="Rounded Rectangle 9"/>
          <p:cNvSpPr/>
          <p:nvPr/>
        </p:nvSpPr>
        <p:spPr>
          <a:xfrm>
            <a:off x="685800" y="1645920"/>
            <a:ext cx="2286000" cy="12344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874519"/>
            <a:ext cx="1920240" cy="228600"/>
          </a:xfrm>
          <a:prstGeom prst="rect">
            <a:avLst/>
          </a:prstGeom>
          <a:noFill/>
        </p:spPr>
        <p:txBody>
          <a:bodyPr wrap="square" lIns="36576" rIns="36576" tIns="18288" anchor="t">
            <a:spAutoFit/>
          </a:bodyPr>
          <a:lstStyle/>
          <a:p>
            <a:pPr algn="ctr">
              <a:defRPr sz="1100" b="1">
                <a:solidFill>
                  <a:srgbClr val="37E0C5"/>
                </a:solidFill>
                <a:latin typeface="Aptos"/>
              </a:defRPr>
            </a:pPr>
            <a:r>
              <a:t>WEB APP</a:t>
            </a:r>
          </a:p>
        </p:txBody>
      </p:sp>
      <p:sp>
        <p:nvSpPr>
          <p:cNvPr id="12" name="TextBox 11"/>
          <p:cNvSpPr txBox="1"/>
          <p:nvPr/>
        </p:nvSpPr>
        <p:spPr>
          <a:xfrm>
            <a:off x="868680" y="2221992"/>
            <a:ext cx="1920240" cy="411480"/>
          </a:xfrm>
          <a:prstGeom prst="rect">
            <a:avLst/>
          </a:prstGeom>
          <a:noFill/>
        </p:spPr>
        <p:txBody>
          <a:bodyPr wrap="square" lIns="36576" rIns="36576" tIns="18288" anchor="t">
            <a:spAutoFit/>
          </a:bodyPr>
          <a:lstStyle/>
          <a:p>
            <a:pPr algn="ctr">
              <a:defRPr sz="1100" b="0">
                <a:solidFill>
                  <a:srgbClr val="C4D3E4"/>
                </a:solidFill>
                <a:latin typeface="Aptos"/>
              </a:defRPr>
            </a:pPr>
            <a:r>
              <a:t>React + TypeScript</a:t>
            </a:r>
            <a:br/>
            <a:r>
              <a:t>Responsive dashboard</a:t>
            </a:r>
          </a:p>
        </p:txBody>
      </p:sp>
      <p:sp>
        <p:nvSpPr>
          <p:cNvPr id="13" name="TextBox 12"/>
          <p:cNvSpPr txBox="1"/>
          <p:nvPr/>
        </p:nvSpPr>
        <p:spPr>
          <a:xfrm>
            <a:off x="3081528" y="2084831"/>
            <a:ext cx="320040" cy="274320"/>
          </a:xfrm>
          <a:prstGeom prst="rect">
            <a:avLst/>
          </a:prstGeom>
          <a:noFill/>
        </p:spPr>
        <p:txBody>
          <a:bodyPr wrap="square" lIns="36576" rIns="36576" tIns="18288" anchor="t">
            <a:spAutoFit/>
          </a:bodyPr>
          <a:lstStyle/>
          <a:p>
            <a:pPr algn="ctr">
              <a:defRPr sz="2000" b="1">
                <a:solidFill>
                  <a:srgbClr val="F7FBFF"/>
                </a:solidFill>
                <a:latin typeface="Aptos"/>
              </a:defRPr>
            </a:pPr>
            <a:r>
              <a:t>→</a:t>
            </a:r>
          </a:p>
        </p:txBody>
      </p:sp>
      <p:sp>
        <p:nvSpPr>
          <p:cNvPr id="14" name="Rounded Rectangle 13"/>
          <p:cNvSpPr/>
          <p:nvPr/>
        </p:nvSpPr>
        <p:spPr>
          <a:xfrm>
            <a:off x="3474720" y="1645920"/>
            <a:ext cx="2286000" cy="12344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1874519"/>
            <a:ext cx="1920240" cy="228600"/>
          </a:xfrm>
          <a:prstGeom prst="rect">
            <a:avLst/>
          </a:prstGeom>
          <a:noFill/>
        </p:spPr>
        <p:txBody>
          <a:bodyPr wrap="square" lIns="36576" rIns="36576" tIns="18288" anchor="t">
            <a:spAutoFit/>
          </a:bodyPr>
          <a:lstStyle/>
          <a:p>
            <a:pPr algn="ctr">
              <a:defRPr sz="1100" b="1">
                <a:solidFill>
                  <a:srgbClr val="FF7C6B"/>
                </a:solidFill>
                <a:latin typeface="Aptos"/>
              </a:defRPr>
            </a:pPr>
            <a:r>
              <a:t>API</a:t>
            </a:r>
          </a:p>
        </p:txBody>
      </p:sp>
      <p:sp>
        <p:nvSpPr>
          <p:cNvPr id="16" name="TextBox 15"/>
          <p:cNvSpPr txBox="1"/>
          <p:nvPr/>
        </p:nvSpPr>
        <p:spPr>
          <a:xfrm>
            <a:off x="3657600" y="2221992"/>
            <a:ext cx="1920240" cy="411480"/>
          </a:xfrm>
          <a:prstGeom prst="rect">
            <a:avLst/>
          </a:prstGeom>
          <a:noFill/>
        </p:spPr>
        <p:txBody>
          <a:bodyPr wrap="square" lIns="36576" rIns="36576" tIns="18288" anchor="t">
            <a:spAutoFit/>
          </a:bodyPr>
          <a:lstStyle/>
          <a:p>
            <a:pPr algn="ctr">
              <a:defRPr sz="1100" b="0">
                <a:solidFill>
                  <a:srgbClr val="C4D3E4"/>
                </a:solidFill>
                <a:latin typeface="Aptos"/>
              </a:defRPr>
            </a:pPr>
            <a:r>
              <a:t>Auth • incidents</a:t>
            </a:r>
            <a:br/>
            <a:r>
              <a:t>Evidence • permissions</a:t>
            </a:r>
          </a:p>
        </p:txBody>
      </p:sp>
      <p:sp>
        <p:nvSpPr>
          <p:cNvPr id="17" name="TextBox 16"/>
          <p:cNvSpPr txBox="1"/>
          <p:nvPr/>
        </p:nvSpPr>
        <p:spPr>
          <a:xfrm>
            <a:off x="5870448" y="2084831"/>
            <a:ext cx="320040" cy="274320"/>
          </a:xfrm>
          <a:prstGeom prst="rect">
            <a:avLst/>
          </a:prstGeom>
          <a:noFill/>
        </p:spPr>
        <p:txBody>
          <a:bodyPr wrap="square" lIns="36576" rIns="36576" tIns="18288" anchor="t">
            <a:spAutoFit/>
          </a:bodyPr>
          <a:lstStyle/>
          <a:p>
            <a:pPr algn="ctr">
              <a:defRPr sz="2000" b="1">
                <a:solidFill>
                  <a:srgbClr val="F7FBFF"/>
                </a:solidFill>
                <a:latin typeface="Aptos"/>
              </a:defRPr>
            </a:pPr>
            <a:r>
              <a:t>→</a:t>
            </a:r>
          </a:p>
        </p:txBody>
      </p:sp>
      <p:sp>
        <p:nvSpPr>
          <p:cNvPr id="18" name="Rounded Rectangle 17"/>
          <p:cNvSpPr/>
          <p:nvPr/>
        </p:nvSpPr>
        <p:spPr>
          <a:xfrm>
            <a:off x="6263640" y="1645920"/>
            <a:ext cx="2286000" cy="12344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874519"/>
            <a:ext cx="1920240" cy="228600"/>
          </a:xfrm>
          <a:prstGeom prst="rect">
            <a:avLst/>
          </a:prstGeom>
          <a:noFill/>
        </p:spPr>
        <p:txBody>
          <a:bodyPr wrap="square" lIns="36576" rIns="36576" tIns="18288" anchor="t">
            <a:spAutoFit/>
          </a:bodyPr>
          <a:lstStyle/>
          <a:p>
            <a:pPr algn="ctr">
              <a:defRPr sz="1100" b="1">
                <a:solidFill>
                  <a:srgbClr val="FFD166"/>
                </a:solidFill>
                <a:latin typeface="Aptos"/>
              </a:defRPr>
            </a:pPr>
            <a:r>
              <a:t>REAL-TIME</a:t>
            </a:r>
          </a:p>
        </p:txBody>
      </p:sp>
      <p:sp>
        <p:nvSpPr>
          <p:cNvPr id="20" name="TextBox 19"/>
          <p:cNvSpPr txBox="1"/>
          <p:nvPr/>
        </p:nvSpPr>
        <p:spPr>
          <a:xfrm>
            <a:off x="6446520" y="2221992"/>
            <a:ext cx="1920240" cy="411480"/>
          </a:xfrm>
          <a:prstGeom prst="rect">
            <a:avLst/>
          </a:prstGeom>
          <a:noFill/>
        </p:spPr>
        <p:txBody>
          <a:bodyPr wrap="square" lIns="36576" rIns="36576" tIns="18288" anchor="t">
            <a:spAutoFit/>
          </a:bodyPr>
          <a:lstStyle/>
          <a:p>
            <a:pPr algn="ctr">
              <a:defRPr sz="1100" b="0">
                <a:solidFill>
                  <a:srgbClr val="C4D3E4"/>
                </a:solidFill>
                <a:latin typeface="Aptos"/>
              </a:defRPr>
            </a:pPr>
            <a:r>
              <a:t>WebSockets / SSE</a:t>
            </a:r>
            <a:br/>
            <a:r>
              <a:t>Presence + updates</a:t>
            </a:r>
          </a:p>
        </p:txBody>
      </p:sp>
      <p:sp>
        <p:nvSpPr>
          <p:cNvPr id="21" name="TextBox 20"/>
          <p:cNvSpPr txBox="1"/>
          <p:nvPr/>
        </p:nvSpPr>
        <p:spPr>
          <a:xfrm>
            <a:off x="8659367" y="2084831"/>
            <a:ext cx="320040" cy="274320"/>
          </a:xfrm>
          <a:prstGeom prst="rect">
            <a:avLst/>
          </a:prstGeom>
          <a:noFill/>
        </p:spPr>
        <p:txBody>
          <a:bodyPr wrap="square" lIns="36576" rIns="36576" tIns="18288" anchor="t">
            <a:spAutoFit/>
          </a:bodyPr>
          <a:lstStyle/>
          <a:p>
            <a:pPr algn="ctr">
              <a:defRPr sz="2000" b="1">
                <a:solidFill>
                  <a:srgbClr val="F7FBFF"/>
                </a:solidFill>
                <a:latin typeface="Aptos"/>
              </a:defRPr>
            </a:pPr>
            <a:r>
              <a:t>→</a:t>
            </a:r>
          </a:p>
        </p:txBody>
      </p:sp>
      <p:sp>
        <p:nvSpPr>
          <p:cNvPr id="22" name="Rounded Rectangle 21"/>
          <p:cNvSpPr/>
          <p:nvPr/>
        </p:nvSpPr>
        <p:spPr>
          <a:xfrm>
            <a:off x="9052559" y="1645920"/>
            <a:ext cx="2286000" cy="123444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39" y="1874519"/>
            <a:ext cx="1920240" cy="228600"/>
          </a:xfrm>
          <a:prstGeom prst="rect">
            <a:avLst/>
          </a:prstGeom>
          <a:noFill/>
        </p:spPr>
        <p:txBody>
          <a:bodyPr wrap="square" lIns="36576" rIns="36576" tIns="18288" anchor="t">
            <a:spAutoFit/>
          </a:bodyPr>
          <a:lstStyle/>
          <a:p>
            <a:pPr algn="ctr">
              <a:defRPr sz="1100" b="1">
                <a:solidFill>
                  <a:srgbClr val="73E29A"/>
                </a:solidFill>
                <a:latin typeface="Aptos"/>
              </a:defRPr>
            </a:pPr>
            <a:r>
              <a:t>DATA</a:t>
            </a:r>
          </a:p>
        </p:txBody>
      </p:sp>
      <p:sp>
        <p:nvSpPr>
          <p:cNvPr id="24" name="TextBox 23"/>
          <p:cNvSpPr txBox="1"/>
          <p:nvPr/>
        </p:nvSpPr>
        <p:spPr>
          <a:xfrm>
            <a:off x="9235439" y="2221992"/>
            <a:ext cx="1920240" cy="411480"/>
          </a:xfrm>
          <a:prstGeom prst="rect">
            <a:avLst/>
          </a:prstGeom>
          <a:noFill/>
        </p:spPr>
        <p:txBody>
          <a:bodyPr wrap="square" lIns="36576" rIns="36576" tIns="18288" anchor="t">
            <a:spAutoFit/>
          </a:bodyPr>
          <a:lstStyle/>
          <a:p>
            <a:pPr algn="ctr">
              <a:defRPr sz="1100" b="0">
                <a:solidFill>
                  <a:srgbClr val="C4D3E4"/>
                </a:solidFill>
                <a:latin typeface="Aptos"/>
              </a:defRPr>
            </a:pPr>
            <a:r>
              <a:t>PostgreSQL</a:t>
            </a:r>
            <a:br/>
            <a:r>
              <a:t>Object storage</a:t>
            </a:r>
          </a:p>
        </p:txBody>
      </p:sp>
      <p:sp>
        <p:nvSpPr>
          <p:cNvPr id="25" name="Rectangle 24"/>
          <p:cNvSpPr/>
          <p:nvPr/>
        </p:nvSpPr>
        <p:spPr>
          <a:xfrm>
            <a:off x="1143000" y="3493008"/>
            <a:ext cx="9875520" cy="64008"/>
          </a:xfrm>
          <a:prstGeom prst="rect">
            <a:avLst/>
          </a:prstGeom>
          <a:solidFill>
            <a:srgbClr val="6F4E8B"/>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85800" y="3794760"/>
            <a:ext cx="3429000" cy="132588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800" y="3794760"/>
            <a:ext cx="64008" cy="132588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99592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a:t>
            </a:r>
          </a:p>
        </p:txBody>
      </p:sp>
      <p:sp>
        <p:nvSpPr>
          <p:cNvPr id="29" name="TextBox 28"/>
          <p:cNvSpPr txBox="1"/>
          <p:nvPr/>
        </p:nvSpPr>
        <p:spPr>
          <a:xfrm>
            <a:off x="1417320" y="3959352"/>
            <a:ext cx="2468880" cy="384048"/>
          </a:xfrm>
          <a:prstGeom prst="rect">
            <a:avLst/>
          </a:prstGeom>
          <a:noFill/>
        </p:spPr>
        <p:txBody>
          <a:bodyPr wrap="square" lIns="36576" rIns="36576" tIns="18288" anchor="t">
            <a:spAutoFit/>
          </a:bodyPr>
          <a:lstStyle/>
          <a:p>
            <a:pPr>
              <a:defRPr sz="1800" b="1">
                <a:solidFill>
                  <a:srgbClr val="F7FBFF"/>
                </a:solidFill>
                <a:latin typeface="Aptos"/>
              </a:defRPr>
            </a:pPr>
            <a:r>
              <a:t>Notification service</a:t>
            </a:r>
          </a:p>
        </p:txBody>
      </p:sp>
      <p:sp>
        <p:nvSpPr>
          <p:cNvPr id="30" name="TextBox 29"/>
          <p:cNvSpPr txBox="1"/>
          <p:nvPr/>
        </p:nvSpPr>
        <p:spPr>
          <a:xfrm>
            <a:off x="914400" y="4507992"/>
            <a:ext cx="2971800" cy="448056"/>
          </a:xfrm>
          <a:prstGeom prst="rect">
            <a:avLst/>
          </a:prstGeom>
          <a:noFill/>
        </p:spPr>
        <p:txBody>
          <a:bodyPr wrap="square" lIns="36576" rIns="36576" tIns="18288" anchor="t">
            <a:spAutoFit/>
          </a:bodyPr>
          <a:lstStyle/>
          <a:p>
            <a:pPr>
              <a:defRPr sz="1450" b="0">
                <a:solidFill>
                  <a:srgbClr val="C4D3E4"/>
                </a:solidFill>
                <a:latin typeface="Aptos"/>
              </a:defRPr>
            </a:pPr>
            <a:r>
              <a:t>Automated dispatch hooks, in-app alerts, email/SMS-ready notifications and status updates to trusted members.</a:t>
            </a:r>
          </a:p>
        </p:txBody>
      </p:sp>
      <p:sp>
        <p:nvSpPr>
          <p:cNvPr id="31" name="Rounded Rectangle 30"/>
          <p:cNvSpPr/>
          <p:nvPr/>
        </p:nvSpPr>
        <p:spPr>
          <a:xfrm>
            <a:off x="4370832" y="3794760"/>
            <a:ext cx="3429000" cy="132588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70832" y="3794760"/>
            <a:ext cx="64008" cy="1325880"/>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99432" y="3995928"/>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a:t>
            </a:r>
          </a:p>
        </p:txBody>
      </p:sp>
      <p:sp>
        <p:nvSpPr>
          <p:cNvPr id="34" name="TextBox 33"/>
          <p:cNvSpPr txBox="1"/>
          <p:nvPr/>
        </p:nvSpPr>
        <p:spPr>
          <a:xfrm>
            <a:off x="5102352" y="3959352"/>
            <a:ext cx="2468880" cy="384048"/>
          </a:xfrm>
          <a:prstGeom prst="rect">
            <a:avLst/>
          </a:prstGeom>
          <a:noFill/>
        </p:spPr>
        <p:txBody>
          <a:bodyPr wrap="square" lIns="36576" rIns="36576" tIns="18288" anchor="t">
            <a:spAutoFit/>
          </a:bodyPr>
          <a:lstStyle/>
          <a:p>
            <a:pPr>
              <a:defRPr sz="1800" b="1">
                <a:solidFill>
                  <a:srgbClr val="F7FBFF"/>
                </a:solidFill>
                <a:latin typeface="Aptos"/>
              </a:defRPr>
            </a:pPr>
            <a:r>
              <a:t>Simulation engine</a:t>
            </a:r>
          </a:p>
        </p:txBody>
      </p:sp>
      <p:sp>
        <p:nvSpPr>
          <p:cNvPr id="35" name="TextBox 34"/>
          <p:cNvSpPr txBox="1"/>
          <p:nvPr/>
        </p:nvSpPr>
        <p:spPr>
          <a:xfrm>
            <a:off x="4599432" y="4507992"/>
            <a:ext cx="2971800" cy="448056"/>
          </a:xfrm>
          <a:prstGeom prst="rect">
            <a:avLst/>
          </a:prstGeom>
          <a:noFill/>
        </p:spPr>
        <p:txBody>
          <a:bodyPr wrap="square" lIns="36576" rIns="36576" tIns="18288" anchor="t">
            <a:spAutoFit/>
          </a:bodyPr>
          <a:lstStyle/>
          <a:p>
            <a:pPr>
              <a:defRPr sz="1450" b="0">
                <a:solidFill>
                  <a:srgbClr val="C4D3E4"/>
                </a:solidFill>
                <a:latin typeface="Aptos"/>
              </a:defRPr>
            </a:pPr>
            <a:r>
              <a:t>Evidence scheduler, location route, IoT telemetry, offline queue and retry policy.</a:t>
            </a:r>
          </a:p>
        </p:txBody>
      </p:sp>
      <p:sp>
        <p:nvSpPr>
          <p:cNvPr id="36" name="Rounded Rectangle 35"/>
          <p:cNvSpPr/>
          <p:nvPr/>
        </p:nvSpPr>
        <p:spPr>
          <a:xfrm>
            <a:off x="8055864" y="3794760"/>
            <a:ext cx="3429000" cy="132588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5864" y="3794760"/>
            <a:ext cx="64008" cy="132588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84464" y="399592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a:t>
            </a:r>
          </a:p>
        </p:txBody>
      </p:sp>
      <p:sp>
        <p:nvSpPr>
          <p:cNvPr id="39" name="TextBox 38"/>
          <p:cNvSpPr txBox="1"/>
          <p:nvPr/>
        </p:nvSpPr>
        <p:spPr>
          <a:xfrm>
            <a:off x="8787384" y="3959352"/>
            <a:ext cx="2468880" cy="384048"/>
          </a:xfrm>
          <a:prstGeom prst="rect">
            <a:avLst/>
          </a:prstGeom>
          <a:noFill/>
        </p:spPr>
        <p:txBody>
          <a:bodyPr wrap="square" lIns="36576" rIns="36576" tIns="18288" anchor="t">
            <a:spAutoFit/>
          </a:bodyPr>
          <a:lstStyle/>
          <a:p>
            <a:pPr>
              <a:defRPr sz="1800" b="1">
                <a:solidFill>
                  <a:srgbClr val="F7FBFF"/>
                </a:solidFill>
                <a:latin typeface="Aptos"/>
              </a:defRPr>
            </a:pPr>
            <a:r>
              <a:t>Audit + authorization</a:t>
            </a:r>
          </a:p>
        </p:txBody>
      </p:sp>
      <p:sp>
        <p:nvSpPr>
          <p:cNvPr id="40" name="TextBox 39"/>
          <p:cNvSpPr txBox="1"/>
          <p:nvPr/>
        </p:nvSpPr>
        <p:spPr>
          <a:xfrm>
            <a:off x="8284464" y="4507992"/>
            <a:ext cx="2971800" cy="448056"/>
          </a:xfrm>
          <a:prstGeom prst="rect">
            <a:avLst/>
          </a:prstGeom>
          <a:noFill/>
        </p:spPr>
        <p:txBody>
          <a:bodyPr wrap="square" lIns="36576" rIns="36576" tIns="18288" anchor="t">
            <a:spAutoFit/>
          </a:bodyPr>
          <a:lstStyle/>
          <a:p>
            <a:pPr>
              <a:defRPr sz="1450" b="0">
                <a:solidFill>
                  <a:srgbClr val="C4D3E4"/>
                </a:solidFill>
                <a:latin typeface="Aptos"/>
              </a:defRPr>
            </a:pPr>
            <a:r>
              <a:t>Role-based incident access, consent checks and immutable event history.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NON-FUNCTIONAL FOUNDATION</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Trust, authorization and resilience</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14</a:t>
            </a:r>
          </a:p>
        </p:txBody>
      </p:sp>
      <p:sp>
        <p:nvSpPr>
          <p:cNvPr id="10" name="Rounded Rectangle 9"/>
          <p:cNvSpPr/>
          <p:nvPr/>
        </p:nvSpPr>
        <p:spPr>
          <a:xfrm>
            <a:off x="731520" y="1417320"/>
            <a:ext cx="3337560" cy="1627632"/>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417320"/>
            <a:ext cx="64008" cy="1627632"/>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61848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01</a:t>
            </a:r>
          </a:p>
        </p:txBody>
      </p:sp>
      <p:sp>
        <p:nvSpPr>
          <p:cNvPr id="13" name="TextBox 12"/>
          <p:cNvSpPr txBox="1"/>
          <p:nvPr/>
        </p:nvSpPr>
        <p:spPr>
          <a:xfrm>
            <a:off x="1463040" y="1581912"/>
            <a:ext cx="2377439" cy="384048"/>
          </a:xfrm>
          <a:prstGeom prst="rect">
            <a:avLst/>
          </a:prstGeom>
          <a:noFill/>
        </p:spPr>
        <p:txBody>
          <a:bodyPr wrap="square" lIns="36576" rIns="36576" tIns="18288" anchor="t">
            <a:spAutoFit/>
          </a:bodyPr>
          <a:lstStyle/>
          <a:p>
            <a:pPr>
              <a:defRPr sz="1800" b="1">
                <a:solidFill>
                  <a:srgbClr val="F7FBFF"/>
                </a:solidFill>
                <a:latin typeface="Aptos"/>
              </a:defRPr>
            </a:pPr>
            <a:r>
              <a:t>Authentication</a:t>
            </a:r>
          </a:p>
        </p:txBody>
      </p:sp>
      <p:sp>
        <p:nvSpPr>
          <p:cNvPr id="14" name="TextBox 13"/>
          <p:cNvSpPr txBox="1"/>
          <p:nvPr/>
        </p:nvSpPr>
        <p:spPr>
          <a:xfrm>
            <a:off x="960120" y="2130552"/>
            <a:ext cx="2880360" cy="749808"/>
          </a:xfrm>
          <a:prstGeom prst="rect">
            <a:avLst/>
          </a:prstGeom>
          <a:noFill/>
        </p:spPr>
        <p:txBody>
          <a:bodyPr wrap="square" lIns="36576" rIns="36576" tIns="18288" anchor="t">
            <a:spAutoFit/>
          </a:bodyPr>
          <a:lstStyle/>
          <a:p>
            <a:pPr>
              <a:defRPr sz="1450" b="0">
                <a:solidFill>
                  <a:srgbClr val="C4D3E4"/>
                </a:solidFill>
                <a:latin typeface="Aptos"/>
              </a:defRPr>
            </a:pPr>
            <a:r>
              <a:t>Register, login, logout, reset and verification flows.</a:t>
            </a:r>
          </a:p>
        </p:txBody>
      </p:sp>
      <p:sp>
        <p:nvSpPr>
          <p:cNvPr id="15" name="Rounded Rectangle 14"/>
          <p:cNvSpPr/>
          <p:nvPr/>
        </p:nvSpPr>
        <p:spPr>
          <a:xfrm>
            <a:off x="4480559" y="1417320"/>
            <a:ext cx="3337560" cy="1627632"/>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1417320"/>
            <a:ext cx="64008" cy="1627632"/>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59" y="161848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02</a:t>
            </a:r>
          </a:p>
        </p:txBody>
      </p:sp>
      <p:sp>
        <p:nvSpPr>
          <p:cNvPr id="18" name="TextBox 17"/>
          <p:cNvSpPr txBox="1"/>
          <p:nvPr/>
        </p:nvSpPr>
        <p:spPr>
          <a:xfrm>
            <a:off x="5212079" y="1581912"/>
            <a:ext cx="2377439" cy="384048"/>
          </a:xfrm>
          <a:prstGeom prst="rect">
            <a:avLst/>
          </a:prstGeom>
          <a:noFill/>
        </p:spPr>
        <p:txBody>
          <a:bodyPr wrap="square" lIns="36576" rIns="36576" tIns="18288" anchor="t">
            <a:spAutoFit/>
          </a:bodyPr>
          <a:lstStyle/>
          <a:p>
            <a:pPr>
              <a:defRPr sz="1800" b="1">
                <a:solidFill>
                  <a:srgbClr val="F7FBFF"/>
                </a:solidFill>
                <a:latin typeface="Aptos"/>
              </a:defRPr>
            </a:pPr>
            <a:r>
              <a:t>Least privilege</a:t>
            </a:r>
          </a:p>
        </p:txBody>
      </p:sp>
      <p:sp>
        <p:nvSpPr>
          <p:cNvPr id="19" name="TextBox 18"/>
          <p:cNvSpPr txBox="1"/>
          <p:nvPr/>
        </p:nvSpPr>
        <p:spPr>
          <a:xfrm>
            <a:off x="4709159" y="2130552"/>
            <a:ext cx="2880360" cy="749808"/>
          </a:xfrm>
          <a:prstGeom prst="rect">
            <a:avLst/>
          </a:prstGeom>
          <a:noFill/>
        </p:spPr>
        <p:txBody>
          <a:bodyPr wrap="square" lIns="36576" rIns="36576" tIns="18288" anchor="t">
            <a:spAutoFit/>
          </a:bodyPr>
          <a:lstStyle/>
          <a:p>
            <a:pPr>
              <a:defRPr sz="1450" b="0">
                <a:solidFill>
                  <a:srgbClr val="C4D3E4"/>
                </a:solidFill>
                <a:latin typeface="Aptos"/>
              </a:defRPr>
            </a:pPr>
            <a:r>
              <a:t>Trusted members only see incidents they are authorized to access.</a:t>
            </a:r>
          </a:p>
        </p:txBody>
      </p:sp>
      <p:sp>
        <p:nvSpPr>
          <p:cNvPr id="20" name="Rounded Rectangle 19"/>
          <p:cNvSpPr/>
          <p:nvPr/>
        </p:nvSpPr>
        <p:spPr>
          <a:xfrm>
            <a:off x="8229600" y="1417320"/>
            <a:ext cx="3337560" cy="1627632"/>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417320"/>
            <a:ext cx="64008" cy="1627632"/>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1618488"/>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03</a:t>
            </a:r>
          </a:p>
        </p:txBody>
      </p:sp>
      <p:sp>
        <p:nvSpPr>
          <p:cNvPr id="23" name="TextBox 22"/>
          <p:cNvSpPr txBox="1"/>
          <p:nvPr/>
        </p:nvSpPr>
        <p:spPr>
          <a:xfrm>
            <a:off x="8961120" y="1581912"/>
            <a:ext cx="2377439" cy="384048"/>
          </a:xfrm>
          <a:prstGeom prst="rect">
            <a:avLst/>
          </a:prstGeom>
          <a:noFill/>
        </p:spPr>
        <p:txBody>
          <a:bodyPr wrap="square" lIns="36576" rIns="36576" tIns="18288" anchor="t">
            <a:spAutoFit/>
          </a:bodyPr>
          <a:lstStyle/>
          <a:p>
            <a:pPr>
              <a:defRPr sz="1800" b="1">
                <a:solidFill>
                  <a:srgbClr val="F7FBFF"/>
                </a:solidFill>
                <a:latin typeface="Aptos"/>
              </a:defRPr>
            </a:pPr>
            <a:r>
              <a:t>Consent-aware sharing</a:t>
            </a:r>
          </a:p>
        </p:txBody>
      </p:sp>
      <p:sp>
        <p:nvSpPr>
          <p:cNvPr id="24" name="TextBox 23"/>
          <p:cNvSpPr txBox="1"/>
          <p:nvPr/>
        </p:nvSpPr>
        <p:spPr>
          <a:xfrm>
            <a:off x="8458200" y="2130552"/>
            <a:ext cx="2880360" cy="749808"/>
          </a:xfrm>
          <a:prstGeom prst="rect">
            <a:avLst/>
          </a:prstGeom>
          <a:noFill/>
        </p:spPr>
        <p:txBody>
          <a:bodyPr wrap="square" lIns="36576" rIns="36576" tIns="18288" anchor="t">
            <a:spAutoFit/>
          </a:bodyPr>
          <a:lstStyle/>
          <a:p>
            <a:pPr>
              <a:defRPr sz="1450" b="0">
                <a:solidFill>
                  <a:srgbClr val="C4D3E4"/>
                </a:solidFill>
                <a:latin typeface="Aptos"/>
              </a:defRPr>
            </a:pPr>
            <a:r>
              <a:t>Evidence, location and wearable permissions are explicit and configurable.</a:t>
            </a:r>
          </a:p>
        </p:txBody>
      </p:sp>
      <p:sp>
        <p:nvSpPr>
          <p:cNvPr id="25" name="Rounded Rectangle 24"/>
          <p:cNvSpPr/>
          <p:nvPr/>
        </p:nvSpPr>
        <p:spPr>
          <a:xfrm>
            <a:off x="731520" y="3566160"/>
            <a:ext cx="3337560" cy="1627632"/>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3566160"/>
            <a:ext cx="64008" cy="1627632"/>
          </a:xfrm>
          <a:prstGeom prst="rect">
            <a:avLst/>
          </a:prstGeom>
          <a:solidFill>
            <a:srgbClr val="73E29A"/>
          </a:solidFill>
          <a:ln>
            <a:solidFill>
              <a:srgbClr val="73E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3767328"/>
            <a:ext cx="457200" cy="320040"/>
          </a:xfrm>
          <a:prstGeom prst="rect">
            <a:avLst/>
          </a:prstGeom>
          <a:noFill/>
        </p:spPr>
        <p:txBody>
          <a:bodyPr wrap="square" lIns="36576" rIns="36576" tIns="18288" anchor="t">
            <a:spAutoFit/>
          </a:bodyPr>
          <a:lstStyle/>
          <a:p>
            <a:pPr algn="ctr">
              <a:defRPr sz="2000" b="1">
                <a:solidFill>
                  <a:srgbClr val="73E29A"/>
                </a:solidFill>
                <a:latin typeface="Aptos"/>
              </a:defRPr>
            </a:pPr>
            <a:r>
              <a:t>04</a:t>
            </a:r>
          </a:p>
        </p:txBody>
      </p:sp>
      <p:sp>
        <p:nvSpPr>
          <p:cNvPr id="28" name="TextBox 27"/>
          <p:cNvSpPr txBox="1"/>
          <p:nvPr/>
        </p:nvSpPr>
        <p:spPr>
          <a:xfrm>
            <a:off x="1463040" y="3730752"/>
            <a:ext cx="2377439" cy="384048"/>
          </a:xfrm>
          <a:prstGeom prst="rect">
            <a:avLst/>
          </a:prstGeom>
          <a:noFill/>
        </p:spPr>
        <p:txBody>
          <a:bodyPr wrap="square" lIns="36576" rIns="36576" tIns="18288" anchor="t">
            <a:spAutoFit/>
          </a:bodyPr>
          <a:lstStyle/>
          <a:p>
            <a:pPr>
              <a:defRPr sz="1800" b="1">
                <a:solidFill>
                  <a:srgbClr val="F7FBFF"/>
                </a:solidFill>
                <a:latin typeface="Aptos"/>
              </a:defRPr>
            </a:pPr>
            <a:r>
              <a:t>Reliable delivery</a:t>
            </a:r>
          </a:p>
        </p:txBody>
      </p:sp>
      <p:sp>
        <p:nvSpPr>
          <p:cNvPr id="29" name="TextBox 28"/>
          <p:cNvSpPr txBox="1"/>
          <p:nvPr/>
        </p:nvSpPr>
        <p:spPr>
          <a:xfrm>
            <a:off x="960120" y="4279392"/>
            <a:ext cx="2880360" cy="749808"/>
          </a:xfrm>
          <a:prstGeom prst="rect">
            <a:avLst/>
          </a:prstGeom>
          <a:noFill/>
        </p:spPr>
        <p:txBody>
          <a:bodyPr wrap="square" lIns="36576" rIns="36576" tIns="18288" anchor="t">
            <a:spAutoFit/>
          </a:bodyPr>
          <a:lstStyle/>
          <a:p>
            <a:pPr>
              <a:defRPr sz="1450" b="0">
                <a:solidFill>
                  <a:srgbClr val="C4D3E4"/>
                </a:solidFill>
                <a:latin typeface="Aptos"/>
              </a:defRPr>
            </a:pPr>
            <a:r>
              <a:t>Pending evidence, timestamps, retry states and duplicate protection.</a:t>
            </a:r>
          </a:p>
        </p:txBody>
      </p:sp>
      <p:sp>
        <p:nvSpPr>
          <p:cNvPr id="30" name="Rounded Rectangle 29"/>
          <p:cNvSpPr/>
          <p:nvPr/>
        </p:nvSpPr>
        <p:spPr>
          <a:xfrm>
            <a:off x="4480559" y="3566160"/>
            <a:ext cx="3337560" cy="1627632"/>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80559" y="3566160"/>
            <a:ext cx="64008" cy="1627632"/>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9159" y="376732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05</a:t>
            </a:r>
          </a:p>
        </p:txBody>
      </p:sp>
      <p:sp>
        <p:nvSpPr>
          <p:cNvPr id="33" name="TextBox 32"/>
          <p:cNvSpPr txBox="1"/>
          <p:nvPr/>
        </p:nvSpPr>
        <p:spPr>
          <a:xfrm>
            <a:off x="5212079" y="3730752"/>
            <a:ext cx="2377439" cy="384048"/>
          </a:xfrm>
          <a:prstGeom prst="rect">
            <a:avLst/>
          </a:prstGeom>
          <a:noFill/>
        </p:spPr>
        <p:txBody>
          <a:bodyPr wrap="square" lIns="36576" rIns="36576" tIns="18288" anchor="t">
            <a:spAutoFit/>
          </a:bodyPr>
          <a:lstStyle/>
          <a:p>
            <a:pPr>
              <a:defRPr sz="1800" b="1">
                <a:solidFill>
                  <a:srgbClr val="F7FBFF"/>
                </a:solidFill>
                <a:latin typeface="Aptos"/>
              </a:defRPr>
            </a:pPr>
            <a:r>
              <a:t>Auditability</a:t>
            </a:r>
          </a:p>
        </p:txBody>
      </p:sp>
      <p:sp>
        <p:nvSpPr>
          <p:cNvPr id="34" name="TextBox 33"/>
          <p:cNvSpPr txBox="1"/>
          <p:nvPr/>
        </p:nvSpPr>
        <p:spPr>
          <a:xfrm>
            <a:off x="4709159" y="4279392"/>
            <a:ext cx="2880360" cy="749808"/>
          </a:xfrm>
          <a:prstGeom prst="rect">
            <a:avLst/>
          </a:prstGeom>
          <a:noFill/>
        </p:spPr>
        <p:txBody>
          <a:bodyPr wrap="square" lIns="36576" rIns="36576" tIns="18288" anchor="t">
            <a:spAutoFit/>
          </a:bodyPr>
          <a:lstStyle/>
          <a:p>
            <a:pPr>
              <a:defRPr sz="1450" b="0">
                <a:solidFill>
                  <a:srgbClr val="C4D3E4"/>
                </a:solidFill>
                <a:latin typeface="Aptos"/>
              </a:defRPr>
            </a:pPr>
            <a:r>
              <a:t>Who activated, viewed, acknowledged, escalated or resolved — always traceable.</a:t>
            </a:r>
          </a:p>
        </p:txBody>
      </p:sp>
      <p:sp>
        <p:nvSpPr>
          <p:cNvPr id="35" name="Rounded Rectangle 34"/>
          <p:cNvSpPr/>
          <p:nvPr/>
        </p:nvSpPr>
        <p:spPr>
          <a:xfrm>
            <a:off x="8229600" y="3566160"/>
            <a:ext cx="3337560" cy="1627632"/>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29600" y="3566160"/>
            <a:ext cx="64008" cy="1627632"/>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58200" y="376732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06</a:t>
            </a:r>
          </a:p>
        </p:txBody>
      </p:sp>
      <p:sp>
        <p:nvSpPr>
          <p:cNvPr id="38" name="TextBox 37"/>
          <p:cNvSpPr txBox="1"/>
          <p:nvPr/>
        </p:nvSpPr>
        <p:spPr>
          <a:xfrm>
            <a:off x="8961120" y="3730752"/>
            <a:ext cx="2377439" cy="384048"/>
          </a:xfrm>
          <a:prstGeom prst="rect">
            <a:avLst/>
          </a:prstGeom>
          <a:noFill/>
        </p:spPr>
        <p:txBody>
          <a:bodyPr wrap="square" lIns="36576" rIns="36576" tIns="18288" anchor="t">
            <a:spAutoFit/>
          </a:bodyPr>
          <a:lstStyle/>
          <a:p>
            <a:pPr>
              <a:defRPr sz="1800" b="1">
                <a:solidFill>
                  <a:srgbClr val="F7FBFF"/>
                </a:solidFill>
                <a:latin typeface="Aptos"/>
              </a:defRPr>
            </a:pPr>
            <a:r>
              <a:t>Hardware honesty</a:t>
            </a:r>
          </a:p>
        </p:txBody>
      </p:sp>
      <p:sp>
        <p:nvSpPr>
          <p:cNvPr id="39" name="TextBox 38"/>
          <p:cNvSpPr txBox="1"/>
          <p:nvPr/>
        </p:nvSpPr>
        <p:spPr>
          <a:xfrm>
            <a:off x="8458200" y="4279392"/>
            <a:ext cx="2880360" cy="749808"/>
          </a:xfrm>
          <a:prstGeom prst="rect">
            <a:avLst/>
          </a:prstGeom>
          <a:noFill/>
        </p:spPr>
        <p:txBody>
          <a:bodyPr wrap="square" lIns="36576" rIns="36576" tIns="18288" anchor="t">
            <a:spAutoFit/>
          </a:bodyPr>
          <a:lstStyle/>
          <a:p>
            <a:pPr>
              <a:defRPr sz="1450" b="0">
                <a:solidFill>
                  <a:srgbClr val="C4D3E4"/>
                </a:solidFill>
                <a:latin typeface="Aptos"/>
              </a:defRPr>
            </a:pPr>
            <a:r>
              <a:t>Every simulated signal is labeled; real adapters can be added later.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END-TO-END SCRIPT</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The judge-ready demo journey</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15</a:t>
            </a:r>
          </a:p>
        </p:txBody>
      </p:sp>
      <p:sp>
        <p:nvSpPr>
          <p:cNvPr id="10" name="Rounded Rectangle 9"/>
          <p:cNvSpPr/>
          <p:nvPr/>
        </p:nvSpPr>
        <p:spPr>
          <a:xfrm>
            <a:off x="777240" y="1325880"/>
            <a:ext cx="438912" cy="438912"/>
          </a:xfrm>
          <a:prstGeom prst="roundRect">
            <a:avLst>
              <a:gd name="adj" fmla="val 12000"/>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26464"/>
            <a:ext cx="438912" cy="164592"/>
          </a:xfrm>
          <a:prstGeom prst="rect">
            <a:avLst/>
          </a:prstGeom>
          <a:noFill/>
        </p:spPr>
        <p:txBody>
          <a:bodyPr wrap="square" lIns="36576" rIns="36576" tIns="18288" anchor="t">
            <a:spAutoFit/>
          </a:bodyPr>
          <a:lstStyle/>
          <a:p>
            <a:pPr algn="ctr">
              <a:defRPr sz="1200" b="1">
                <a:solidFill>
                  <a:srgbClr val="1F1031"/>
                </a:solidFill>
                <a:latin typeface="Aptos"/>
              </a:defRPr>
            </a:pPr>
            <a:r>
              <a:t>1</a:t>
            </a:r>
          </a:p>
        </p:txBody>
      </p:sp>
      <p:sp>
        <p:nvSpPr>
          <p:cNvPr id="12" name="TextBox 11"/>
          <p:cNvSpPr txBox="1"/>
          <p:nvPr/>
        </p:nvSpPr>
        <p:spPr>
          <a:xfrm>
            <a:off x="1463040" y="1344168"/>
            <a:ext cx="1371600" cy="228600"/>
          </a:xfrm>
          <a:prstGeom prst="rect">
            <a:avLst/>
          </a:prstGeom>
          <a:noFill/>
        </p:spPr>
        <p:txBody>
          <a:bodyPr wrap="square" lIns="36576" rIns="36576" tIns="18288" anchor="t">
            <a:spAutoFit/>
          </a:bodyPr>
          <a:lstStyle/>
          <a:p>
            <a:pPr>
              <a:defRPr sz="1400" b="1">
                <a:solidFill>
                  <a:srgbClr val="F7FBFF"/>
                </a:solidFill>
                <a:latin typeface="Aptos"/>
              </a:defRPr>
            </a:pPr>
            <a:r>
              <a:t>Configure</a:t>
            </a:r>
          </a:p>
        </p:txBody>
      </p:sp>
      <p:sp>
        <p:nvSpPr>
          <p:cNvPr id="13" name="TextBox 12"/>
          <p:cNvSpPr txBox="1"/>
          <p:nvPr/>
        </p:nvSpPr>
        <p:spPr>
          <a:xfrm>
            <a:off x="2907792" y="1344168"/>
            <a:ext cx="8046720" cy="320040"/>
          </a:xfrm>
          <a:prstGeom prst="rect">
            <a:avLst/>
          </a:prstGeom>
          <a:noFill/>
        </p:spPr>
        <p:txBody>
          <a:bodyPr wrap="square" lIns="36576" rIns="36576" tIns="18288" anchor="t">
            <a:spAutoFit/>
          </a:bodyPr>
          <a:lstStyle/>
          <a:p>
            <a:pPr>
              <a:defRPr sz="1200" b="0">
                <a:solidFill>
                  <a:srgbClr val="C4D3E4"/>
                </a:solidFill>
                <a:latin typeface="Aptos"/>
              </a:defRPr>
            </a:pPr>
            <a:r>
              <a:t>Set keyword HELP; add a trusted member; grant demo permissions.</a:t>
            </a:r>
          </a:p>
        </p:txBody>
      </p:sp>
      <p:sp>
        <p:nvSpPr>
          <p:cNvPr id="14" name="Rounded Rectangle 13"/>
          <p:cNvSpPr/>
          <p:nvPr/>
        </p:nvSpPr>
        <p:spPr>
          <a:xfrm>
            <a:off x="777240" y="2075688"/>
            <a:ext cx="438912" cy="438912"/>
          </a:xfrm>
          <a:prstGeom prst="roundRect">
            <a:avLst>
              <a:gd name="adj" fmla="val 12000"/>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176272"/>
            <a:ext cx="438912" cy="164592"/>
          </a:xfrm>
          <a:prstGeom prst="rect">
            <a:avLst/>
          </a:prstGeom>
          <a:noFill/>
        </p:spPr>
        <p:txBody>
          <a:bodyPr wrap="square" lIns="36576" rIns="36576" tIns="18288" anchor="t">
            <a:spAutoFit/>
          </a:bodyPr>
          <a:lstStyle/>
          <a:p>
            <a:pPr algn="ctr">
              <a:defRPr sz="1200" b="1">
                <a:solidFill>
                  <a:srgbClr val="1F1031"/>
                </a:solidFill>
                <a:latin typeface="Aptos"/>
              </a:defRPr>
            </a:pPr>
            <a:r>
              <a:t>2</a:t>
            </a:r>
          </a:p>
        </p:txBody>
      </p:sp>
      <p:sp>
        <p:nvSpPr>
          <p:cNvPr id="16" name="TextBox 15"/>
          <p:cNvSpPr txBox="1"/>
          <p:nvPr/>
        </p:nvSpPr>
        <p:spPr>
          <a:xfrm>
            <a:off x="1463040" y="2093976"/>
            <a:ext cx="1371600" cy="228600"/>
          </a:xfrm>
          <a:prstGeom prst="rect">
            <a:avLst/>
          </a:prstGeom>
          <a:noFill/>
        </p:spPr>
        <p:txBody>
          <a:bodyPr wrap="square" lIns="36576" rIns="36576" tIns="18288" anchor="t">
            <a:spAutoFit/>
          </a:bodyPr>
          <a:lstStyle/>
          <a:p>
            <a:pPr>
              <a:defRPr sz="1400" b="1">
                <a:solidFill>
                  <a:srgbClr val="F7FBFF"/>
                </a:solidFill>
                <a:latin typeface="Aptos"/>
              </a:defRPr>
            </a:pPr>
            <a:r>
              <a:t>Trigger</a:t>
            </a:r>
          </a:p>
        </p:txBody>
      </p:sp>
      <p:sp>
        <p:nvSpPr>
          <p:cNvPr id="17" name="TextBox 16"/>
          <p:cNvSpPr txBox="1"/>
          <p:nvPr/>
        </p:nvSpPr>
        <p:spPr>
          <a:xfrm>
            <a:off x="2907792" y="2093976"/>
            <a:ext cx="8046720" cy="320040"/>
          </a:xfrm>
          <a:prstGeom prst="rect">
            <a:avLst/>
          </a:prstGeom>
          <a:noFill/>
        </p:spPr>
        <p:txBody>
          <a:bodyPr wrap="square" lIns="36576" rIns="36576" tIns="18288" anchor="t">
            <a:spAutoFit/>
          </a:bodyPr>
          <a:lstStyle/>
          <a:p>
            <a:pPr>
              <a:defRPr sz="1200" b="0">
                <a:solidFill>
                  <a:srgbClr val="C4D3E4"/>
                </a:solidFill>
                <a:latin typeface="Aptos"/>
              </a:defRPr>
            </a:pPr>
            <a:r>
              <a:t>Click Simulate Keyword Detection — incident ID appears immediately.</a:t>
            </a:r>
          </a:p>
        </p:txBody>
      </p:sp>
      <p:sp>
        <p:nvSpPr>
          <p:cNvPr id="18" name="Rounded Rectangle 17"/>
          <p:cNvSpPr/>
          <p:nvPr/>
        </p:nvSpPr>
        <p:spPr>
          <a:xfrm>
            <a:off x="777240" y="2825496"/>
            <a:ext cx="438912" cy="438912"/>
          </a:xfrm>
          <a:prstGeom prst="roundRect">
            <a:avLst>
              <a:gd name="adj" fmla="val 12000"/>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926079"/>
            <a:ext cx="438912" cy="164592"/>
          </a:xfrm>
          <a:prstGeom prst="rect">
            <a:avLst/>
          </a:prstGeom>
          <a:noFill/>
        </p:spPr>
        <p:txBody>
          <a:bodyPr wrap="square" lIns="36576" rIns="36576" tIns="18288" anchor="t">
            <a:spAutoFit/>
          </a:bodyPr>
          <a:lstStyle/>
          <a:p>
            <a:pPr algn="ctr">
              <a:defRPr sz="1200" b="1">
                <a:solidFill>
                  <a:srgbClr val="1F1031"/>
                </a:solidFill>
                <a:latin typeface="Aptos"/>
              </a:defRPr>
            </a:pPr>
            <a:r>
              <a:t>3</a:t>
            </a:r>
          </a:p>
        </p:txBody>
      </p:sp>
      <p:sp>
        <p:nvSpPr>
          <p:cNvPr id="20" name="TextBox 19"/>
          <p:cNvSpPr txBox="1"/>
          <p:nvPr/>
        </p:nvSpPr>
        <p:spPr>
          <a:xfrm>
            <a:off x="1463040" y="2843784"/>
            <a:ext cx="1371600" cy="228600"/>
          </a:xfrm>
          <a:prstGeom prst="rect">
            <a:avLst/>
          </a:prstGeom>
          <a:noFill/>
        </p:spPr>
        <p:txBody>
          <a:bodyPr wrap="square" lIns="36576" rIns="36576" tIns="18288" anchor="t">
            <a:spAutoFit/>
          </a:bodyPr>
          <a:lstStyle/>
          <a:p>
            <a:pPr>
              <a:defRPr sz="1400" b="1">
                <a:solidFill>
                  <a:srgbClr val="F7FBFF"/>
                </a:solidFill>
                <a:latin typeface="Aptos"/>
              </a:defRPr>
            </a:pPr>
            <a:r>
              <a:t>Observe</a:t>
            </a:r>
          </a:p>
        </p:txBody>
      </p:sp>
      <p:sp>
        <p:nvSpPr>
          <p:cNvPr id="21" name="TextBox 20"/>
          <p:cNvSpPr txBox="1"/>
          <p:nvPr/>
        </p:nvSpPr>
        <p:spPr>
          <a:xfrm>
            <a:off x="2907792" y="2843784"/>
            <a:ext cx="8046720" cy="320040"/>
          </a:xfrm>
          <a:prstGeom prst="rect">
            <a:avLst/>
          </a:prstGeom>
          <a:noFill/>
        </p:spPr>
        <p:txBody>
          <a:bodyPr wrap="square" lIns="36576" rIns="36576" tIns="18288" anchor="t">
            <a:spAutoFit/>
          </a:bodyPr>
          <a:lstStyle/>
          <a:p>
            <a:pPr>
              <a:defRPr sz="1200" b="0">
                <a:solidFill>
                  <a:srgbClr val="C4D3E4"/>
                </a:solidFill>
                <a:latin typeface="Aptos"/>
              </a:defRPr>
            </a:pPr>
            <a:r>
              <a:t>Watch location, timeline, evidence interval and SafeWatch telemetry update.</a:t>
            </a:r>
          </a:p>
        </p:txBody>
      </p:sp>
      <p:sp>
        <p:nvSpPr>
          <p:cNvPr id="22" name="Rounded Rectangle 21"/>
          <p:cNvSpPr/>
          <p:nvPr/>
        </p:nvSpPr>
        <p:spPr>
          <a:xfrm>
            <a:off x="777240" y="3575304"/>
            <a:ext cx="438912" cy="438912"/>
          </a:xfrm>
          <a:prstGeom prst="roundRect">
            <a:avLst>
              <a:gd name="adj" fmla="val 12000"/>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675888"/>
            <a:ext cx="438912" cy="164592"/>
          </a:xfrm>
          <a:prstGeom prst="rect">
            <a:avLst/>
          </a:prstGeom>
          <a:noFill/>
        </p:spPr>
        <p:txBody>
          <a:bodyPr wrap="square" lIns="36576" rIns="36576" tIns="18288" anchor="t">
            <a:spAutoFit/>
          </a:bodyPr>
          <a:lstStyle/>
          <a:p>
            <a:pPr algn="ctr">
              <a:defRPr sz="1200" b="1">
                <a:solidFill>
                  <a:srgbClr val="1F1031"/>
                </a:solidFill>
                <a:latin typeface="Aptos"/>
              </a:defRPr>
            </a:pPr>
            <a:r>
              <a:t>4</a:t>
            </a:r>
          </a:p>
        </p:txBody>
      </p:sp>
      <p:sp>
        <p:nvSpPr>
          <p:cNvPr id="24" name="TextBox 23"/>
          <p:cNvSpPr txBox="1"/>
          <p:nvPr/>
        </p:nvSpPr>
        <p:spPr>
          <a:xfrm>
            <a:off x="1463040" y="3593592"/>
            <a:ext cx="1371600" cy="228600"/>
          </a:xfrm>
          <a:prstGeom prst="rect">
            <a:avLst/>
          </a:prstGeom>
          <a:noFill/>
        </p:spPr>
        <p:txBody>
          <a:bodyPr wrap="square" lIns="36576" rIns="36576" tIns="18288" anchor="t">
            <a:spAutoFit/>
          </a:bodyPr>
          <a:lstStyle/>
          <a:p>
            <a:pPr>
              <a:defRPr sz="1400" b="1">
                <a:solidFill>
                  <a:srgbClr val="F7FBFF"/>
                </a:solidFill>
                <a:latin typeface="Aptos"/>
              </a:defRPr>
            </a:pPr>
            <a:r>
              <a:t>Respond</a:t>
            </a:r>
          </a:p>
        </p:txBody>
      </p:sp>
      <p:sp>
        <p:nvSpPr>
          <p:cNvPr id="25" name="TextBox 24"/>
          <p:cNvSpPr txBox="1"/>
          <p:nvPr/>
        </p:nvSpPr>
        <p:spPr>
          <a:xfrm>
            <a:off x="2907792" y="3593592"/>
            <a:ext cx="8046720" cy="320040"/>
          </a:xfrm>
          <a:prstGeom prst="rect">
            <a:avLst/>
          </a:prstGeom>
          <a:noFill/>
        </p:spPr>
        <p:txBody>
          <a:bodyPr wrap="square" lIns="36576" rIns="36576" tIns="18288" anchor="t">
            <a:spAutoFit/>
          </a:bodyPr>
          <a:lstStyle/>
          <a:p>
            <a:pPr>
              <a:defRPr sz="1200" b="0">
                <a:solidFill>
                  <a:srgbClr val="C4D3E4"/>
                </a:solidFill>
                <a:latin typeface="Aptos"/>
              </a:defRPr>
            </a:pPr>
            <a:r>
              <a:t>Switch to trusted-member view; acknowledge, mark Responding and escalate if needed.</a:t>
            </a:r>
          </a:p>
        </p:txBody>
      </p:sp>
      <p:sp>
        <p:nvSpPr>
          <p:cNvPr id="26" name="Rounded Rectangle 25"/>
          <p:cNvSpPr/>
          <p:nvPr/>
        </p:nvSpPr>
        <p:spPr>
          <a:xfrm>
            <a:off x="777240" y="4325112"/>
            <a:ext cx="438912" cy="438912"/>
          </a:xfrm>
          <a:prstGeom prst="roundRect">
            <a:avLst>
              <a:gd name="adj" fmla="val 12000"/>
            </a:avLst>
          </a:prstGeom>
          <a:solidFill>
            <a:srgbClr val="73E29A"/>
          </a:solidFill>
          <a:ln>
            <a:solidFill>
              <a:srgbClr val="73E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425696"/>
            <a:ext cx="438912" cy="164592"/>
          </a:xfrm>
          <a:prstGeom prst="rect">
            <a:avLst/>
          </a:prstGeom>
          <a:noFill/>
        </p:spPr>
        <p:txBody>
          <a:bodyPr wrap="square" lIns="36576" rIns="36576" tIns="18288" anchor="t">
            <a:spAutoFit/>
          </a:bodyPr>
          <a:lstStyle/>
          <a:p>
            <a:pPr algn="ctr">
              <a:defRPr sz="1200" b="1">
                <a:solidFill>
                  <a:srgbClr val="1F1031"/>
                </a:solidFill>
                <a:latin typeface="Aptos"/>
              </a:defRPr>
            </a:pPr>
            <a:r>
              <a:t>5</a:t>
            </a:r>
          </a:p>
        </p:txBody>
      </p:sp>
      <p:sp>
        <p:nvSpPr>
          <p:cNvPr id="28" name="TextBox 27"/>
          <p:cNvSpPr txBox="1"/>
          <p:nvPr/>
        </p:nvSpPr>
        <p:spPr>
          <a:xfrm>
            <a:off x="1463040" y="4343399"/>
            <a:ext cx="1371600" cy="228600"/>
          </a:xfrm>
          <a:prstGeom prst="rect">
            <a:avLst/>
          </a:prstGeom>
          <a:noFill/>
        </p:spPr>
        <p:txBody>
          <a:bodyPr wrap="square" lIns="36576" rIns="36576" tIns="18288" anchor="t">
            <a:spAutoFit/>
          </a:bodyPr>
          <a:lstStyle/>
          <a:p>
            <a:pPr>
              <a:defRPr sz="1400" b="1">
                <a:solidFill>
                  <a:srgbClr val="F7FBFF"/>
                </a:solidFill>
                <a:latin typeface="Aptos"/>
              </a:defRPr>
            </a:pPr>
            <a:r>
              <a:t>Interrupt</a:t>
            </a:r>
          </a:p>
        </p:txBody>
      </p:sp>
      <p:sp>
        <p:nvSpPr>
          <p:cNvPr id="29" name="TextBox 28"/>
          <p:cNvSpPr txBox="1"/>
          <p:nvPr/>
        </p:nvSpPr>
        <p:spPr>
          <a:xfrm>
            <a:off x="2907792" y="4343399"/>
            <a:ext cx="8046720" cy="320040"/>
          </a:xfrm>
          <a:prstGeom prst="rect">
            <a:avLst/>
          </a:prstGeom>
          <a:noFill/>
        </p:spPr>
        <p:txBody>
          <a:bodyPr wrap="square" lIns="36576" rIns="36576" tIns="18288" anchor="t">
            <a:spAutoFit/>
          </a:bodyPr>
          <a:lstStyle/>
          <a:p>
            <a:pPr>
              <a:defRPr sz="1200" b="0">
                <a:solidFill>
                  <a:srgbClr val="C4D3E4"/>
                </a:solidFill>
                <a:latin typeface="Aptos"/>
              </a:defRPr>
            </a:pPr>
            <a:r>
              <a:t>Toggle connectivity; show evidence queued as pending, then retry on reconnect.</a:t>
            </a:r>
          </a:p>
        </p:txBody>
      </p:sp>
      <p:sp>
        <p:nvSpPr>
          <p:cNvPr id="30" name="Rounded Rectangle 29"/>
          <p:cNvSpPr/>
          <p:nvPr/>
        </p:nvSpPr>
        <p:spPr>
          <a:xfrm>
            <a:off x="777240" y="5074920"/>
            <a:ext cx="438912" cy="438912"/>
          </a:xfrm>
          <a:prstGeom prst="roundRect">
            <a:avLst>
              <a:gd name="adj" fmla="val 12000"/>
            </a:avLst>
          </a:prstGeom>
          <a:solidFill>
            <a:srgbClr val="73E29A"/>
          </a:solidFill>
          <a:ln>
            <a:solidFill>
              <a:srgbClr val="73E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175504"/>
            <a:ext cx="438912" cy="164592"/>
          </a:xfrm>
          <a:prstGeom prst="rect">
            <a:avLst/>
          </a:prstGeom>
          <a:noFill/>
        </p:spPr>
        <p:txBody>
          <a:bodyPr wrap="square" lIns="36576" rIns="36576" tIns="18288" anchor="t">
            <a:spAutoFit/>
          </a:bodyPr>
          <a:lstStyle/>
          <a:p>
            <a:pPr algn="ctr">
              <a:defRPr sz="1200" b="1">
                <a:solidFill>
                  <a:srgbClr val="1F1031"/>
                </a:solidFill>
                <a:latin typeface="Aptos"/>
              </a:defRPr>
            </a:pPr>
            <a:r>
              <a:t>6</a:t>
            </a:r>
          </a:p>
        </p:txBody>
      </p:sp>
      <p:sp>
        <p:nvSpPr>
          <p:cNvPr id="32" name="TextBox 31"/>
          <p:cNvSpPr txBox="1"/>
          <p:nvPr/>
        </p:nvSpPr>
        <p:spPr>
          <a:xfrm>
            <a:off x="1463040" y="5093207"/>
            <a:ext cx="1371600" cy="228600"/>
          </a:xfrm>
          <a:prstGeom prst="rect">
            <a:avLst/>
          </a:prstGeom>
          <a:noFill/>
        </p:spPr>
        <p:txBody>
          <a:bodyPr wrap="square" lIns="36576" rIns="36576" tIns="18288" anchor="t">
            <a:spAutoFit/>
          </a:bodyPr>
          <a:lstStyle/>
          <a:p>
            <a:pPr>
              <a:defRPr sz="1400" b="1">
                <a:solidFill>
                  <a:srgbClr val="F7FBFF"/>
                </a:solidFill>
                <a:latin typeface="Aptos"/>
              </a:defRPr>
            </a:pPr>
            <a:r>
              <a:t>Close</a:t>
            </a:r>
          </a:p>
        </p:txBody>
      </p:sp>
      <p:sp>
        <p:nvSpPr>
          <p:cNvPr id="33" name="TextBox 32"/>
          <p:cNvSpPr txBox="1"/>
          <p:nvPr/>
        </p:nvSpPr>
        <p:spPr>
          <a:xfrm>
            <a:off x="2907792" y="5093207"/>
            <a:ext cx="8046720" cy="320040"/>
          </a:xfrm>
          <a:prstGeom prst="rect">
            <a:avLst/>
          </a:prstGeom>
          <a:noFill/>
        </p:spPr>
        <p:txBody>
          <a:bodyPr wrap="square" lIns="36576" rIns="36576" tIns="18288" anchor="t">
            <a:spAutoFit/>
          </a:bodyPr>
          <a:lstStyle/>
          <a:p>
            <a:pPr>
              <a:defRPr sz="1200" b="0">
                <a:solidFill>
                  <a:srgbClr val="C4D3E4"/>
                </a:solidFill>
                <a:latin typeface="Aptos"/>
              </a:defRPr>
            </a:pPr>
            <a:r>
              <a:t>Resolve with notes; review complete incident history and audit events.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Oval 1"/>
          <p:cNvSpPr/>
          <p:nvPr/>
        </p:nvSpPr>
        <p:spPr>
          <a:xfrm>
            <a:off x="9464040" y="-594360"/>
            <a:ext cx="3886200" cy="3886200"/>
          </a:xfrm>
          <a:prstGeom prst="ellipse">
            <a:avLst/>
          </a:prstGeom>
          <a:solidFill>
            <a:srgbClr val="37E0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 y="5074920"/>
            <a:ext cx="3566160" cy="3566160"/>
          </a:xfrm>
          <a:prstGeom prst="ellipse">
            <a:avLst/>
          </a:prstGeom>
          <a:solidFill>
            <a:srgbClr val="FF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83879" y="5257800"/>
            <a:ext cx="2377440" cy="237744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23560" y="-502920"/>
            <a:ext cx="2880360" cy="2880360"/>
          </a:xfrm>
          <a:prstGeom prst="ellipse">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73152"/>
          </a:xfrm>
          <a:prstGeom prst="rect">
            <a:avLst/>
          </a:prstGeom>
          <a:solidFill>
            <a:srgbClr val="7D57BE"/>
          </a:solidFill>
          <a:ln>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29184"/>
            <a:ext cx="5486400" cy="274320"/>
          </a:xfrm>
          <a:prstGeom prst="rect">
            <a:avLst/>
          </a:prstGeom>
          <a:noFill/>
        </p:spPr>
        <p:txBody>
          <a:bodyPr wrap="square" lIns="36576" rIns="36576" tIns="18288" anchor="t">
            <a:spAutoFit/>
          </a:bodyPr>
          <a:lstStyle/>
          <a:p>
            <a:pPr>
              <a:defRPr sz="1200" b="1">
                <a:solidFill>
                  <a:srgbClr val="37E0C5"/>
                </a:solidFill>
                <a:latin typeface="Aptos"/>
              </a:defRPr>
            </a:pPr>
            <a:r>
              <a:t>DELIVERY PLAN</a:t>
            </a:r>
          </a:p>
        </p:txBody>
      </p:sp>
      <p:sp>
        <p:nvSpPr>
          <p:cNvPr id="8" name="TextBox 7"/>
          <p:cNvSpPr txBox="1"/>
          <p:nvPr/>
        </p:nvSpPr>
        <p:spPr>
          <a:xfrm>
            <a:off x="594360" y="640080"/>
            <a:ext cx="10789920" cy="640080"/>
          </a:xfrm>
          <a:prstGeom prst="rect">
            <a:avLst/>
          </a:prstGeom>
          <a:noFill/>
        </p:spPr>
        <p:txBody>
          <a:bodyPr wrap="square" lIns="36576" rIns="36576" tIns="18288" anchor="t">
            <a:spAutoFit/>
          </a:bodyPr>
          <a:lstStyle/>
          <a:p>
            <a:pPr>
              <a:defRPr sz="3200" b="1">
                <a:solidFill>
                  <a:srgbClr val="F7FBFF"/>
                </a:solidFill>
                <a:latin typeface="Aptos"/>
              </a:defRPr>
            </a:pPr>
            <a:r>
              <a:t>Build priorities and definition of done</a:t>
            </a:r>
          </a:p>
        </p:txBody>
      </p:sp>
      <p:sp>
        <p:nvSpPr>
          <p:cNvPr id="9" name="TextBox 8"/>
          <p:cNvSpPr txBox="1"/>
          <p:nvPr/>
        </p:nvSpPr>
        <p:spPr>
          <a:xfrm>
            <a:off x="11064240" y="384048"/>
            <a:ext cx="502920" cy="274320"/>
          </a:xfrm>
          <a:prstGeom prst="rect">
            <a:avLst/>
          </a:prstGeom>
          <a:noFill/>
        </p:spPr>
        <p:txBody>
          <a:bodyPr wrap="square" lIns="36576" rIns="36576" tIns="18288" anchor="t">
            <a:spAutoFit/>
          </a:bodyPr>
          <a:lstStyle/>
          <a:p>
            <a:pPr algn="r">
              <a:defRPr sz="1100" b="1">
                <a:solidFill>
                  <a:srgbClr val="C4D3E4"/>
                </a:solidFill>
                <a:latin typeface="Aptos"/>
              </a:defRPr>
            </a:pPr>
            <a:r>
              <a:t>16</a:t>
            </a:r>
          </a:p>
        </p:txBody>
      </p:sp>
      <p:sp>
        <p:nvSpPr>
          <p:cNvPr id="10" name="Rounded Rectangle 9"/>
          <p:cNvSpPr/>
          <p:nvPr/>
        </p:nvSpPr>
        <p:spPr>
          <a:xfrm>
            <a:off x="685800" y="1417320"/>
            <a:ext cx="3474720" cy="356616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417320"/>
            <a:ext cx="64008" cy="3566160"/>
          </a:xfrm>
          <a:prstGeom prst="rect">
            <a:avLst/>
          </a:prstGeom>
          <a:solidFill>
            <a:srgbClr val="37E0C5"/>
          </a:solidFill>
          <a:ln>
            <a:solidFill>
              <a:srgbClr val="37E0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618488"/>
            <a:ext cx="457200" cy="320040"/>
          </a:xfrm>
          <a:prstGeom prst="rect">
            <a:avLst/>
          </a:prstGeom>
          <a:noFill/>
        </p:spPr>
        <p:txBody>
          <a:bodyPr wrap="square" lIns="36576" rIns="36576" tIns="18288" anchor="t">
            <a:spAutoFit/>
          </a:bodyPr>
          <a:lstStyle/>
          <a:p>
            <a:pPr algn="ctr">
              <a:defRPr sz="2000" b="1">
                <a:solidFill>
                  <a:srgbClr val="37E0C5"/>
                </a:solidFill>
                <a:latin typeface="Aptos"/>
              </a:defRPr>
            </a:pPr>
            <a:r>
              <a:t>01</a:t>
            </a:r>
          </a:p>
        </p:txBody>
      </p:sp>
      <p:sp>
        <p:nvSpPr>
          <p:cNvPr id="13" name="TextBox 12"/>
          <p:cNvSpPr txBox="1"/>
          <p:nvPr/>
        </p:nvSpPr>
        <p:spPr>
          <a:xfrm>
            <a:off x="1417320" y="1581912"/>
            <a:ext cx="2514600" cy="384048"/>
          </a:xfrm>
          <a:prstGeom prst="rect">
            <a:avLst/>
          </a:prstGeom>
          <a:noFill/>
        </p:spPr>
        <p:txBody>
          <a:bodyPr wrap="square" lIns="36576" rIns="36576" tIns="18288" anchor="t">
            <a:spAutoFit/>
          </a:bodyPr>
          <a:lstStyle/>
          <a:p>
            <a:pPr>
              <a:defRPr sz="1800" b="1">
                <a:solidFill>
                  <a:srgbClr val="F7FBFF"/>
                </a:solidFill>
                <a:latin typeface="Aptos"/>
              </a:defRPr>
            </a:pPr>
            <a:r>
              <a:t>Phase 1 — foundation</a:t>
            </a:r>
          </a:p>
        </p:txBody>
      </p:sp>
      <p:sp>
        <p:nvSpPr>
          <p:cNvPr id="14" name="TextBox 13"/>
          <p:cNvSpPr txBox="1"/>
          <p:nvPr/>
        </p:nvSpPr>
        <p:spPr>
          <a:xfrm>
            <a:off x="914400" y="2130552"/>
            <a:ext cx="3017520" cy="2688336"/>
          </a:xfrm>
          <a:prstGeom prst="rect">
            <a:avLst/>
          </a:prstGeom>
          <a:noFill/>
        </p:spPr>
        <p:txBody>
          <a:bodyPr wrap="square" lIns="36576" rIns="36576" tIns="18288" anchor="t">
            <a:spAutoFit/>
          </a:bodyPr>
          <a:lstStyle/>
          <a:p>
            <a:pPr>
              <a:defRPr sz="1450" b="0">
                <a:solidFill>
                  <a:srgbClr val="C4D3E4"/>
                </a:solidFill>
                <a:latin typeface="Aptos"/>
              </a:defRPr>
            </a:pPr>
            <a:r>
              <a:t>• Authentication and roles</a:t>
            </a:r>
            <a:br/>
            <a:r>
              <a:t>• Profile and trusted members</a:t>
            </a:r>
            <a:br/>
            <a:r>
              <a:t>• Keyword configuration</a:t>
            </a:r>
            <a:br/>
            <a:r>
              <a:t>• Incident and timeline data model</a:t>
            </a:r>
            <a:br/>
            <a:r>
              <a:t>• Responsive web shell</a:t>
            </a:r>
          </a:p>
        </p:txBody>
      </p:sp>
      <p:sp>
        <p:nvSpPr>
          <p:cNvPr id="15" name="Rounded Rectangle 14"/>
          <p:cNvSpPr/>
          <p:nvPr/>
        </p:nvSpPr>
        <p:spPr>
          <a:xfrm>
            <a:off x="4370832" y="1417320"/>
            <a:ext cx="3474720" cy="356616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0832" y="1417320"/>
            <a:ext cx="64008" cy="3566160"/>
          </a:xfrm>
          <a:prstGeom prst="rect">
            <a:avLst/>
          </a:prstGeom>
          <a:solidFill>
            <a:srgbClr val="FFD166"/>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9432" y="1618488"/>
            <a:ext cx="457200" cy="320040"/>
          </a:xfrm>
          <a:prstGeom prst="rect">
            <a:avLst/>
          </a:prstGeom>
          <a:noFill/>
        </p:spPr>
        <p:txBody>
          <a:bodyPr wrap="square" lIns="36576" rIns="36576" tIns="18288" anchor="t">
            <a:spAutoFit/>
          </a:bodyPr>
          <a:lstStyle/>
          <a:p>
            <a:pPr algn="ctr">
              <a:defRPr sz="2000" b="1">
                <a:solidFill>
                  <a:srgbClr val="FFD166"/>
                </a:solidFill>
                <a:latin typeface="Aptos"/>
              </a:defRPr>
            </a:pPr>
            <a:r>
              <a:t>02</a:t>
            </a:r>
          </a:p>
        </p:txBody>
      </p:sp>
      <p:sp>
        <p:nvSpPr>
          <p:cNvPr id="18" name="TextBox 17"/>
          <p:cNvSpPr txBox="1"/>
          <p:nvPr/>
        </p:nvSpPr>
        <p:spPr>
          <a:xfrm>
            <a:off x="5102352" y="1581912"/>
            <a:ext cx="2514600" cy="384048"/>
          </a:xfrm>
          <a:prstGeom prst="rect">
            <a:avLst/>
          </a:prstGeom>
          <a:noFill/>
        </p:spPr>
        <p:txBody>
          <a:bodyPr wrap="square" lIns="36576" rIns="36576" tIns="18288" anchor="t">
            <a:spAutoFit/>
          </a:bodyPr>
          <a:lstStyle/>
          <a:p>
            <a:pPr>
              <a:defRPr sz="1800" b="1">
                <a:solidFill>
                  <a:srgbClr val="F7FBFF"/>
                </a:solidFill>
                <a:latin typeface="Aptos"/>
              </a:defRPr>
            </a:pPr>
            <a:r>
              <a:t>Phase 2 — live response</a:t>
            </a:r>
          </a:p>
        </p:txBody>
      </p:sp>
      <p:sp>
        <p:nvSpPr>
          <p:cNvPr id="19" name="TextBox 18"/>
          <p:cNvSpPr txBox="1"/>
          <p:nvPr/>
        </p:nvSpPr>
        <p:spPr>
          <a:xfrm>
            <a:off x="4599432" y="2130552"/>
            <a:ext cx="3017520" cy="2688336"/>
          </a:xfrm>
          <a:prstGeom prst="rect">
            <a:avLst/>
          </a:prstGeom>
          <a:noFill/>
        </p:spPr>
        <p:txBody>
          <a:bodyPr wrap="square" lIns="36576" rIns="36576" tIns="18288" anchor="t">
            <a:spAutoFit/>
          </a:bodyPr>
          <a:lstStyle/>
          <a:p>
            <a:pPr>
              <a:defRPr sz="1450" b="0">
                <a:solidFill>
                  <a:srgbClr val="C4D3E4"/>
                </a:solidFill>
                <a:latin typeface="Aptos"/>
              </a:defRPr>
            </a:pPr>
            <a:r>
              <a:t>• Real-time incident updates</a:t>
            </a:r>
            <a:br/>
            <a:r>
              <a:t>• City-data and dispatch integration</a:t>
            </a:r>
            <a:br/>
            <a:r>
              <a:t>• Evidence scheduler and statuses</a:t>
            </a:r>
            <a:br/>
            <a:r>
              <a:t>• Location map and route simulation</a:t>
            </a:r>
            <a:br/>
            <a:r>
              <a:t>• Notifications and response actions</a:t>
            </a:r>
            <a:br/>
            <a:r>
              <a:t>• Simulated wearable telemetry</a:t>
            </a:r>
          </a:p>
        </p:txBody>
      </p:sp>
      <p:sp>
        <p:nvSpPr>
          <p:cNvPr id="20" name="Rounded Rectangle 19"/>
          <p:cNvSpPr/>
          <p:nvPr/>
        </p:nvSpPr>
        <p:spPr>
          <a:xfrm>
            <a:off x="8055864" y="1417320"/>
            <a:ext cx="3474720" cy="3566160"/>
          </a:xfrm>
          <a:prstGeom prst="roundRect">
            <a:avLst>
              <a:gd name="adj" fmla="val 12000"/>
            </a:avLst>
          </a:prstGeom>
          <a:solidFill>
            <a:srgbClr val="371F4E"/>
          </a:solidFill>
          <a:ln>
            <a:solidFill>
              <a:srgbClr val="6F4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55864" y="1417320"/>
            <a:ext cx="64008" cy="3566160"/>
          </a:xfrm>
          <a:prstGeom prst="rect">
            <a:avLst/>
          </a:prstGeom>
          <a:solidFill>
            <a:srgbClr val="FF7C6B"/>
          </a:solidFill>
          <a:ln>
            <a:solidFill>
              <a:srgbClr val="FF7C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4464" y="1618488"/>
            <a:ext cx="457200" cy="320040"/>
          </a:xfrm>
          <a:prstGeom prst="rect">
            <a:avLst/>
          </a:prstGeom>
          <a:noFill/>
        </p:spPr>
        <p:txBody>
          <a:bodyPr wrap="square" lIns="36576" rIns="36576" tIns="18288" anchor="t">
            <a:spAutoFit/>
          </a:bodyPr>
          <a:lstStyle/>
          <a:p>
            <a:pPr algn="ctr">
              <a:defRPr sz="2000" b="1">
                <a:solidFill>
                  <a:srgbClr val="FF7C6B"/>
                </a:solidFill>
                <a:latin typeface="Aptos"/>
              </a:defRPr>
            </a:pPr>
            <a:r>
              <a:t>03</a:t>
            </a:r>
          </a:p>
        </p:txBody>
      </p:sp>
      <p:sp>
        <p:nvSpPr>
          <p:cNvPr id="23" name="TextBox 22"/>
          <p:cNvSpPr txBox="1"/>
          <p:nvPr/>
        </p:nvSpPr>
        <p:spPr>
          <a:xfrm>
            <a:off x="8787384" y="1581912"/>
            <a:ext cx="2514600" cy="384048"/>
          </a:xfrm>
          <a:prstGeom prst="rect">
            <a:avLst/>
          </a:prstGeom>
          <a:noFill/>
        </p:spPr>
        <p:txBody>
          <a:bodyPr wrap="square" lIns="36576" rIns="36576" tIns="18288" anchor="t">
            <a:spAutoFit/>
          </a:bodyPr>
          <a:lstStyle/>
          <a:p>
            <a:pPr>
              <a:defRPr sz="1800" b="1">
                <a:solidFill>
                  <a:srgbClr val="F7FBFF"/>
                </a:solidFill>
                <a:latin typeface="Aptos"/>
              </a:defRPr>
            </a:pPr>
            <a:r>
              <a:t>Phase 3 — hardening</a:t>
            </a:r>
          </a:p>
        </p:txBody>
      </p:sp>
      <p:sp>
        <p:nvSpPr>
          <p:cNvPr id="24" name="TextBox 23"/>
          <p:cNvSpPr txBox="1"/>
          <p:nvPr/>
        </p:nvSpPr>
        <p:spPr>
          <a:xfrm>
            <a:off x="8284464" y="2130552"/>
            <a:ext cx="3017520" cy="2688336"/>
          </a:xfrm>
          <a:prstGeom prst="rect">
            <a:avLst/>
          </a:prstGeom>
          <a:noFill/>
        </p:spPr>
        <p:txBody>
          <a:bodyPr wrap="square" lIns="36576" rIns="36576" tIns="18288" anchor="t">
            <a:spAutoFit/>
          </a:bodyPr>
          <a:lstStyle/>
          <a:p>
            <a:pPr>
              <a:defRPr sz="1450" b="0">
                <a:solidFill>
                  <a:srgbClr val="C4D3E4"/>
                </a:solidFill>
                <a:latin typeface="Aptos"/>
              </a:defRPr>
            </a:pPr>
            <a:r>
              <a:t>• Offline queue and deduplication</a:t>
            </a:r>
            <a:br/>
            <a:r>
              <a:t>• Authorization tests</a:t>
            </a:r>
            <a:br/>
            <a:r>
              <a:t>• Audit log review</a:t>
            </a:r>
            <a:br/>
            <a:r>
              <a:t>• Demo-mode controls</a:t>
            </a:r>
            <a:br/>
            <a:r>
              <a:t>• Hardware adapter documentation</a:t>
            </a:r>
          </a:p>
        </p:txBody>
      </p:sp>
      <p:sp>
        <p:nvSpPr>
          <p:cNvPr id="25" name="TextBox 24"/>
          <p:cNvSpPr txBox="1"/>
          <p:nvPr/>
        </p:nvSpPr>
        <p:spPr>
          <a:xfrm>
            <a:off x="713232" y="5358384"/>
            <a:ext cx="1737360" cy="228600"/>
          </a:xfrm>
          <a:prstGeom prst="rect">
            <a:avLst/>
          </a:prstGeom>
          <a:noFill/>
        </p:spPr>
        <p:txBody>
          <a:bodyPr wrap="square" lIns="36576" rIns="36576" tIns="18288" anchor="t">
            <a:spAutoFit/>
          </a:bodyPr>
          <a:lstStyle/>
          <a:p>
            <a:pPr>
              <a:defRPr sz="1100" b="1">
                <a:solidFill>
                  <a:srgbClr val="37E0C5"/>
                </a:solidFill>
                <a:latin typeface="Aptos"/>
              </a:defRPr>
            </a:pPr>
            <a:r>
              <a:t>Definition of done</a:t>
            </a:r>
          </a:p>
        </p:txBody>
      </p:sp>
      <p:sp>
        <p:nvSpPr>
          <p:cNvPr id="26" name="TextBox 25"/>
          <p:cNvSpPr txBox="1"/>
          <p:nvPr/>
        </p:nvSpPr>
        <p:spPr>
          <a:xfrm>
            <a:off x="2514600" y="5303520"/>
            <a:ext cx="8595360" cy="411480"/>
          </a:xfrm>
          <a:prstGeom prst="rect">
            <a:avLst/>
          </a:prstGeom>
          <a:noFill/>
        </p:spPr>
        <p:txBody>
          <a:bodyPr wrap="square" lIns="36576" rIns="36576" tIns="18288" anchor="t">
            <a:spAutoFit/>
          </a:bodyPr>
          <a:lstStyle/>
          <a:p>
            <a:pPr>
              <a:defRPr sz="1600" b="1">
                <a:solidFill>
                  <a:srgbClr val="F7FBFF"/>
                </a:solidFill>
                <a:latin typeface="Aptos"/>
              </a:defRPr>
            </a:pPr>
            <a:r>
              <a:t>A judge can activate an incident, see the system react in real time, coordinate a response, interrupt connectivity, reconnect, and resolve the incident with a complete history.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1031"/>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7D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789920" cy="502920"/>
          </a:xfrm>
          <a:prstGeom prst="rect">
            <a:avLst/>
          </a:prstGeom>
          <a:noFill/>
        </p:spPr>
        <p:txBody>
          <a:bodyPr wrap="none">
            <a:spAutoFit/>
          </a:bodyPr>
          <a:lstStyle/>
          <a:p>
            <a:pPr>
              <a:defRPr sz="3000" b="1">
                <a:solidFill>
                  <a:srgbClr val="F7FBFF"/>
                </a:solidFill>
                <a:latin typeface="Aptos"/>
              </a:defRPr>
            </a:pPr>
            <a:r>
              <a:t>DEVICE SHIELD TEAM</a:t>
            </a:r>
          </a:p>
        </p:txBody>
      </p:sp>
      <p:sp>
        <p:nvSpPr>
          <p:cNvPr id="4" name="Rounded Rectangle 3"/>
          <p:cNvSpPr/>
          <p:nvPr/>
        </p:nvSpPr>
        <p:spPr>
          <a:xfrm>
            <a:off x="566928" y="1115568"/>
            <a:ext cx="11064240" cy="5074920"/>
          </a:xfrm>
          <a:prstGeom prst="roundRect">
            <a:avLst/>
          </a:prstGeom>
          <a:solidFill>
            <a:srgbClr val="371F4E"/>
          </a:solidFill>
          <a:ln w="25400">
            <a:solidFill>
              <a:srgbClr val="7D5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ACKERS GROUP1.jpeg"/>
          <p:cNvPicPr>
            <a:picLocks noChangeAspect="1"/>
          </p:cNvPicPr>
          <p:nvPr/>
        </p:nvPicPr>
        <p:blipFill>
          <a:blip r:embed="rId2"/>
          <a:stretch>
            <a:fillRect/>
          </a:stretch>
        </p:blipFill>
        <p:spPr>
          <a:xfrm>
            <a:off x="713232" y="1298448"/>
            <a:ext cx="10771632" cy="4736592"/>
          </a:xfrm>
          <a:prstGeom prst="rect">
            <a:avLst/>
          </a:prstGeom>
        </p:spPr>
      </p:pic>
      <p:sp>
        <p:nvSpPr>
          <p:cNvPr id="6" name="TextBox 5"/>
          <p:cNvSpPr txBox="1"/>
          <p:nvPr/>
        </p:nvSpPr>
        <p:spPr>
          <a:xfrm>
            <a:off x="713232" y="6236208"/>
            <a:ext cx="10789920" cy="292608"/>
          </a:xfrm>
          <a:prstGeom prst="rect">
            <a:avLst/>
          </a:prstGeom>
          <a:noFill/>
        </p:spPr>
        <p:txBody>
          <a:bodyPr wrap="none">
            <a:spAutoFit/>
          </a:bodyPr>
          <a:lstStyle/>
          <a:p>
            <a:pPr algn="ctr">
              <a:defRPr sz="1200">
                <a:solidFill>
                  <a:srgbClr val="C4AAEB"/>
                </a:solidFill>
                <a:latin typeface="Aptos"/>
              </a:defRPr>
            </a:pPr>
            <a:r>
              <a:t>Hackathon team • Building safer, smarter GBV response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Device Shield — Smart City GBV Response System</dc:title>
  <dc:subject>Web-only smart-city GBV response prototype presentation</dc:subject>
  <dc:creator>Arena.ai</dc:creator>
  <cp:keywords>emergency safety, incident response, web dashboard, simulated IoT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