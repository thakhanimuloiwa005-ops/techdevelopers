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5" r:id="rId3"/>
    <p:sldId id="276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30" autoAdjust="0"/>
    <p:restoredTop sz="94660"/>
  </p:normalViewPr>
  <p:slideViewPr>
    <p:cSldViewPr snapToGrid="0" snapToObjects="1">
      <p:cViewPr>
        <p:scale>
          <a:sx n="66" d="100"/>
          <a:sy n="66" d="100"/>
        </p:scale>
        <p:origin x="900" y="1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D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464040" y="-594360"/>
            <a:ext cx="3886200" cy="3886200"/>
          </a:xfrm>
          <a:prstGeom prst="ellipse">
            <a:avLst/>
          </a:prstGeom>
          <a:solidFill>
            <a:srgbClr val="704896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1051560" y="5074920"/>
            <a:ext cx="3566160" cy="3566160"/>
          </a:xfrm>
          <a:prstGeom prst="ellipse">
            <a:avLst/>
          </a:prstGeom>
          <a:solidFill>
            <a:srgbClr val="9152A9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183879" y="5257800"/>
            <a:ext cx="2377440" cy="2377440"/>
          </a:xfrm>
          <a:prstGeom prst="ellipse">
            <a:avLst/>
          </a:prstGeom>
          <a:solidFill>
            <a:srgbClr val="AA79C3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5623560" y="-502920"/>
            <a:ext cx="2880360" cy="2880360"/>
          </a:xfrm>
          <a:prstGeom prst="ellipse">
            <a:avLst/>
          </a:prstGeom>
          <a:solidFill>
            <a:srgbClr val="7D57B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7D57BE"/>
          </a:solidFill>
          <a:ln>
            <a:solidFill>
              <a:srgbClr val="7D5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658368"/>
            <a:ext cx="4572000" cy="320040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1500" b="1">
                <a:solidFill>
                  <a:srgbClr val="37E0C5"/>
                </a:solidFill>
                <a:latin typeface="Aptos"/>
              </a:defRPr>
            </a:pPr>
            <a:r>
              <a:rPr>
                <a:solidFill/>
              </a:rPr>
              <a:t>DEVICE SHIELD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298448"/>
            <a:ext cx="8412480" cy="1417320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4200" b="1">
                <a:solidFill>
                  <a:srgbClr val="F7FBFF"/>
                </a:solidFill>
                <a:latin typeface="Aptos"/>
              </a:defRPr>
            </a:pPr>
            <a:r>
              <a:rPr>
                <a:solidFill/>
              </a:rPr>
              <a:t>Smart City GBV</a:t>
            </a:r>
            <a:br/>
            <a:r>
              <a:rPr>
                <a:solidFill/>
              </a:rPr>
              <a:t>Response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907792"/>
            <a:ext cx="7772400" cy="411480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1700" b="0">
                <a:solidFill>
                  <a:srgbClr val="C4D3E4"/>
                </a:solidFill>
                <a:latin typeface="Aptos"/>
              </a:defRPr>
            </a:pPr>
            <a:r>
              <a:rPr>
                <a:solidFill/>
              </a:rPr>
              <a:t>Web ecosystem concept and hackathon-ready prototype plan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3977639"/>
            <a:ext cx="3657600" cy="54864"/>
          </a:xfrm>
          <a:prstGeom prst="rect">
            <a:avLst/>
          </a:prstGeom>
          <a:solidFill>
            <a:srgbClr val="9152A9"/>
          </a:solidFill>
          <a:ln>
            <a:solidFill>
              <a:srgbClr val="9152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3232" y="4224528"/>
            <a:ext cx="7498079" cy="594360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2200" b="1">
                <a:solidFill>
                  <a:srgbClr val="F7FBFF"/>
                </a:solidFill>
                <a:latin typeface="Aptos"/>
              </a:defRPr>
            </a:pPr>
            <a:r>
              <a:rPr>
                <a:solidFill/>
              </a:rPr>
              <a:t>Helping survivors silently request help through real-time city intelligence and automated dispatch.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41080" y="1024128"/>
            <a:ext cx="2468880" cy="4434840"/>
          </a:xfrm>
          <a:prstGeom prst="roundRect">
            <a:avLst>
              <a:gd name="adj" fmla="val 12000"/>
            </a:avLst>
          </a:prstGeom>
          <a:solidFill>
            <a:srgbClr val="F6F0FC"/>
          </a:solidFill>
          <a:ln>
            <a:solidFill>
              <a:srgbClr val="8B6A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942832" y="1353312"/>
            <a:ext cx="1874519" cy="228600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 algn="ctr">
              <a:defRPr sz="1000" b="1">
                <a:solidFill>
                  <a:srgbClr val="37E0C5"/>
                </a:solidFill>
                <a:latin typeface="Aptos"/>
              </a:defRPr>
            </a:pPr>
            <a:r>
              <a:rPr>
                <a:solidFill/>
              </a:rPr>
              <a:t>INCIDENT STATUS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89720" y="1828800"/>
            <a:ext cx="201168" cy="201168"/>
          </a:xfrm>
          <a:prstGeom prst="roundRect">
            <a:avLst>
              <a:gd name="adj" fmla="val 12000"/>
            </a:avLst>
          </a:prstGeom>
          <a:solidFill>
            <a:srgbClr val="9152A9"/>
          </a:solidFill>
          <a:ln>
            <a:solidFill>
              <a:srgbClr val="9152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537192" y="1819656"/>
            <a:ext cx="1234440" cy="292608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950" b="1">
                <a:solidFill>
                  <a:srgbClr val="F7FBFF"/>
                </a:solidFill>
                <a:latin typeface="Aptos"/>
              </a:defRPr>
            </a:pPr>
            <a:r>
              <a:rPr>
                <a:solidFill/>
              </a:rPr>
              <a:t>KEYWORD DETECTED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89720" y="2468880"/>
            <a:ext cx="201168" cy="201168"/>
          </a:xfrm>
          <a:prstGeom prst="roundRect">
            <a:avLst>
              <a:gd name="adj" fmla="val 12000"/>
            </a:avLst>
          </a:prstGeom>
          <a:solidFill>
            <a:srgbClr val="704896"/>
          </a:solidFill>
          <a:ln>
            <a:solidFill>
              <a:srgbClr val="704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537192" y="2459736"/>
            <a:ext cx="1234440" cy="292608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950" b="1">
                <a:solidFill>
                  <a:srgbClr val="F7FBFF"/>
                </a:solidFill>
                <a:latin typeface="Aptos"/>
              </a:defRPr>
            </a:pPr>
            <a:r>
              <a:rPr>
                <a:solidFill/>
              </a:rPr>
              <a:t>INCIDENT CREATED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9720" y="3108960"/>
            <a:ext cx="201168" cy="201168"/>
          </a:xfrm>
          <a:prstGeom prst="roundRect">
            <a:avLst>
              <a:gd name="adj" fmla="val 12000"/>
            </a:avLst>
          </a:prstGeom>
          <a:solidFill>
            <a:srgbClr val="AA79C3"/>
          </a:solidFill>
          <a:ln>
            <a:solidFill>
              <a:srgbClr val="AA79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537192" y="3099816"/>
            <a:ext cx="1234440" cy="292608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950" b="1">
                <a:solidFill>
                  <a:srgbClr val="F7FBFF"/>
                </a:solidFill>
                <a:latin typeface="Aptos"/>
              </a:defRPr>
            </a:pPr>
            <a:r>
              <a:rPr>
                <a:solidFill/>
              </a:rPr>
              <a:t>TRUSTED MEMBERS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89720" y="3749039"/>
            <a:ext cx="201168" cy="201168"/>
          </a:xfrm>
          <a:prstGeom prst="roundRect">
            <a:avLst>
              <a:gd name="adj" fmla="val 12000"/>
            </a:avLst>
          </a:prstGeom>
          <a:solidFill>
            <a:srgbClr val="BE9BDC"/>
          </a:solidFill>
          <a:ln>
            <a:solidFill>
              <a:srgbClr val="BE9B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537192" y="3739896"/>
            <a:ext cx="1234440" cy="292608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950" b="1">
                <a:solidFill>
                  <a:srgbClr val="F7FBFF"/>
                </a:solidFill>
                <a:latin typeface="Aptos"/>
              </a:defRPr>
            </a:pPr>
            <a:r>
              <a:rPr>
                <a:solidFill/>
              </a:rPr>
              <a:t>EVIDENCE LIVE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89720" y="4389120"/>
            <a:ext cx="201168" cy="201168"/>
          </a:xfrm>
          <a:prstGeom prst="roundRect">
            <a:avLst>
              <a:gd name="adj" fmla="val 12000"/>
            </a:avLst>
          </a:prstGeom>
          <a:solidFill>
            <a:srgbClr val="301B43"/>
          </a:solidFill>
          <a:ln>
            <a:solidFill>
              <a:srgbClr val="301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537192" y="4379976"/>
            <a:ext cx="1234440" cy="292608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950" b="1">
                <a:solidFill>
                  <a:srgbClr val="F7FBFF"/>
                </a:solidFill>
                <a:latin typeface="Aptos"/>
              </a:defRPr>
            </a:pPr>
            <a:r>
              <a:rPr>
                <a:solidFill/>
              </a:rPr>
              <a:t>RESOLUTION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6144768"/>
            <a:ext cx="4754880" cy="228600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1000" b="1">
                <a:solidFill>
                  <a:srgbClr val="C4AAEB"/>
                </a:solidFill>
                <a:latin typeface="Aptos"/>
              </a:defRPr>
            </a:pPr>
            <a:r>
              <a:rPr>
                <a:solidFill/>
              </a:rPr>
              <a:t>WEB ONLY • DEMO MODE • GBV AWARENESS THEME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D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7D57B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50292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7FBFF"/>
                </a:solidFill>
                <a:latin typeface="Aptos"/>
              </a:defRPr>
            </a:pPr>
            <a:r>
              <a:rPr>
                <a:solidFill/>
              </a:rPr>
              <a:t>SIMULATED WEARABLE ACTIVATION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32688"/>
            <a:ext cx="10515600" cy="32004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C4AAEB"/>
                </a:solidFill>
                <a:latin typeface="Aptos"/>
              </a:defRPr>
            </a:pPr>
            <a:r>
              <a:rPr>
                <a:solidFill/>
              </a:rPr>
              <a:t>A discreet emergency request can begin from a smartwatch on the wrist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6858000" cy="4434840"/>
          </a:xfrm>
          <a:prstGeom prst="roundRect">
            <a:avLst/>
          </a:prstGeom>
          <a:solidFill>
            <a:srgbClr val="F6F0FC"/>
          </a:solidFill>
          <a:ln w="25400">
            <a:solidFill>
              <a:srgbClr val="7D5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device_shield_smartwatch_wr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554480"/>
            <a:ext cx="6583680" cy="4160520"/>
          </a:xfrm>
          <a:prstGeom prst="rect">
            <a:avLst/>
          </a:prstGeom>
          <a:ln/>
        </p:spPr>
      </p:pic>
      <p:sp>
        <p:nvSpPr>
          <p:cNvPr id="7" name="Rounded Rectangle 6"/>
          <p:cNvSpPr/>
          <p:nvPr/>
        </p:nvSpPr>
        <p:spPr>
          <a:xfrm>
            <a:off x="7909560" y="1554480"/>
            <a:ext cx="3566160" cy="1024128"/>
          </a:xfrm>
          <a:prstGeom prst="roundRect">
            <a:avLst/>
          </a:prstGeom>
          <a:solidFill>
            <a:srgbClr val="F6F0FC"/>
          </a:solidFill>
          <a:ln>
            <a:solidFill>
              <a:srgbClr val="9152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138160" y="1719072"/>
            <a:ext cx="3063240" cy="22860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7C6B"/>
                </a:solidFill>
                <a:latin typeface="Aptos"/>
              </a:defRPr>
            </a:pPr>
            <a:r>
              <a:rPr>
                <a:solidFill/>
              </a:rPr>
              <a:t>DISCREET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2029967"/>
            <a:ext cx="3063240" cy="329184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7FBFF"/>
                </a:solidFill>
                <a:latin typeface="Aptos"/>
              </a:defRPr>
            </a:pPr>
            <a:r>
              <a:rPr>
                <a:solidFill/>
              </a:rPr>
              <a:t>Tap or trigger without speaking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09560" y="2944368"/>
            <a:ext cx="3566160" cy="1024128"/>
          </a:xfrm>
          <a:prstGeom prst="roundRect">
            <a:avLst/>
          </a:prstGeom>
          <a:solidFill>
            <a:srgbClr val="F6F0FC"/>
          </a:solidFill>
          <a:ln>
            <a:solidFill>
              <a:srgbClr val="704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38160" y="3108960"/>
            <a:ext cx="3063240" cy="22860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7E0C5"/>
                </a:solidFill>
                <a:latin typeface="Aptos"/>
              </a:defRPr>
            </a:pPr>
            <a:r>
              <a:rPr>
                <a:solidFill/>
              </a:rPr>
              <a:t>CONNECTED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3419856"/>
            <a:ext cx="3063240" cy="329184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7FBFF"/>
                </a:solidFill>
                <a:latin typeface="Aptos"/>
              </a:defRPr>
            </a:pPr>
            <a:r>
              <a:rPr>
                <a:solidFill/>
              </a:rPr>
              <a:t>Location and device status update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09560" y="4334256"/>
            <a:ext cx="3566160" cy="1024128"/>
          </a:xfrm>
          <a:prstGeom prst="roundRect">
            <a:avLst/>
          </a:prstGeom>
          <a:solidFill>
            <a:srgbClr val="F6F0FC"/>
          </a:solidFill>
          <a:ln>
            <a:solidFill>
              <a:srgbClr val="7D5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38160" y="4498848"/>
            <a:ext cx="3063240" cy="22860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7D57BE"/>
                </a:solidFill>
                <a:latin typeface="Aptos"/>
              </a:defRPr>
            </a:pPr>
            <a:r>
              <a:rPr>
                <a:solidFill/>
              </a:rPr>
              <a:t>SIMULATED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4809744"/>
            <a:ext cx="3063240" cy="329184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7FBFF"/>
                </a:solidFill>
                <a:latin typeface="Aptos"/>
              </a:defRPr>
            </a:pPr>
            <a:r>
              <a:rPr>
                <a:solidFill/>
              </a:rPr>
              <a:t>Ready for future hardware integration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5715000"/>
            <a:ext cx="3566160" cy="36576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C4AAEB"/>
                </a:solidFill>
                <a:latin typeface="Aptos"/>
              </a:defRPr>
            </a:pPr>
            <a:r>
              <a:rPr>
                <a:solidFill/>
              </a:rPr>
              <a:t>The watch is simulated for the prototype.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D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704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23F7E"/>
                </a:solidFill>
                <a:latin typeface="Aptos"/>
              </a:defRPr>
            </a:pPr>
            <a: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301B43"/>
                </a:solidFill>
                <a:latin typeface="Aptos"/>
              </a:defRPr>
            </a:pPr>
            <a:r>
              <a:t>From silent signal to coordinated help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8404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623F7E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89888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301B43"/>
                </a:solidFill>
                <a:latin typeface="Aptos"/>
              </a:defRPr>
            </a:pPr>
            <a:r>
              <a:t>Device Shield turns Lerato’s discreet activation into a structured emergency response.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148840"/>
            <a:ext cx="5166360" cy="1207008"/>
          </a:xfrm>
          <a:prstGeom prst="roundRect">
            <a:avLst/>
          </a:prstGeom>
          <a:solidFill>
            <a:srgbClr val="F6F0FC"/>
          </a:solidFill>
          <a:ln w="19050">
            <a:solidFill>
              <a:srgbClr val="704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41832" y="2331720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623F7E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313432"/>
            <a:ext cx="3931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>
                <a:solidFill>
                  <a:srgbClr val="301B43"/>
                </a:solidFill>
                <a:latin typeface="Aptos"/>
              </a:defRPr>
            </a:pPr>
            <a:r>
              <a:t>Incident created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679192"/>
            <a:ext cx="397763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301B43"/>
                </a:solidFill>
                <a:latin typeface="Aptos"/>
              </a:defRPr>
            </a:pPr>
            <a:r>
              <a:t>A unique incident ID and activation time are recorded.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2148840"/>
            <a:ext cx="5166360" cy="1207008"/>
          </a:xfrm>
          <a:prstGeom prst="roundRect">
            <a:avLst/>
          </a:prstGeom>
          <a:solidFill>
            <a:srgbClr val="F6F0FC"/>
          </a:solidFill>
          <a:ln w="19050">
            <a:solidFill>
              <a:srgbClr val="704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19672" y="2331720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623F7E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2313432"/>
            <a:ext cx="3931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>
                <a:solidFill>
                  <a:srgbClr val="301B43"/>
                </a:solidFill>
                <a:latin typeface="Aptos"/>
              </a:defRPr>
            </a:pPr>
            <a:r>
              <a:t>Location and city context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2679192"/>
            <a:ext cx="397763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301B43"/>
                </a:solidFill>
                <a:latin typeface="Aptos"/>
              </a:defRPr>
            </a:pPr>
            <a:r>
              <a:t>Consented location and available real-time city data are brought together.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749039"/>
            <a:ext cx="5166360" cy="1207008"/>
          </a:xfrm>
          <a:prstGeom prst="roundRect">
            <a:avLst/>
          </a:prstGeom>
          <a:solidFill>
            <a:srgbClr val="F6F0FC"/>
          </a:solidFill>
          <a:ln w="19050">
            <a:solidFill>
              <a:srgbClr val="704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41832" y="3931920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623F7E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913631"/>
            <a:ext cx="3931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>
                <a:solidFill>
                  <a:srgbClr val="301B43"/>
                </a:solidFill>
                <a:latin typeface="Aptos"/>
              </a:defRPr>
            </a:pPr>
            <a:r>
              <a:t>Response coordinated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279392"/>
            <a:ext cx="397763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301B43"/>
                </a:solidFill>
                <a:latin typeface="Aptos"/>
              </a:defRPr>
            </a:pPr>
            <a:r>
              <a:t>The appropriate response pathway and nearest available responders can be identified.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3749039"/>
            <a:ext cx="5166360" cy="1207008"/>
          </a:xfrm>
          <a:prstGeom prst="roundRect">
            <a:avLst/>
          </a:prstGeom>
          <a:solidFill>
            <a:srgbClr val="F6F0FC"/>
          </a:solidFill>
          <a:ln w="19050">
            <a:solidFill>
              <a:srgbClr val="704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19672" y="3931920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623F7E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3913631"/>
            <a:ext cx="3931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>
                <a:solidFill>
                  <a:srgbClr val="301B43"/>
                </a:solidFill>
                <a:latin typeface="Aptos"/>
              </a:defRPr>
            </a:pPr>
            <a:r>
              <a:t>Help monitored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4279392"/>
            <a:ext cx="397763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301B43"/>
                </a:solidFill>
                <a:latin typeface="Aptos"/>
              </a:defRPr>
            </a:pPr>
            <a:r>
              <a:t>Trusted responders receive updates while evidence, status and resolution are tracked.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5532120"/>
            <a:ext cx="10789920" cy="566928"/>
          </a:xfrm>
          <a:prstGeom prst="roundRect">
            <a:avLst/>
          </a:prstGeom>
          <a:solidFill>
            <a:srgbClr val="EDE1F7"/>
          </a:solidFill>
          <a:ln w="19050">
            <a:solidFill>
              <a:srgbClr val="704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5696712"/>
            <a:ext cx="10332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>
                <a:solidFill>
                  <a:srgbClr val="301B43"/>
                </a:solidFill>
                <a:latin typeface="Aptos"/>
              </a:defRPr>
            </a:pPr>
            <a:r>
              <a:t>The promise: a safer route from silent request to coordinated help.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D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464040" y="-594360"/>
            <a:ext cx="3886200" cy="3886200"/>
          </a:xfrm>
          <a:prstGeom prst="ellipse">
            <a:avLst/>
          </a:prstGeom>
          <a:solidFill>
            <a:srgbClr val="704896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1051560" y="5074920"/>
            <a:ext cx="3566160" cy="3566160"/>
          </a:xfrm>
          <a:prstGeom prst="ellipse">
            <a:avLst/>
          </a:prstGeom>
          <a:solidFill>
            <a:srgbClr val="9152A9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183879" y="5257800"/>
            <a:ext cx="2377440" cy="2377440"/>
          </a:xfrm>
          <a:prstGeom prst="ellipse">
            <a:avLst/>
          </a:prstGeom>
          <a:solidFill>
            <a:srgbClr val="AA79C3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5623560" y="-502920"/>
            <a:ext cx="2880360" cy="2880360"/>
          </a:xfrm>
          <a:prstGeom prst="ellipse">
            <a:avLst/>
          </a:prstGeom>
          <a:solidFill>
            <a:srgbClr val="7D57B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D57BE"/>
          </a:solidFill>
          <a:ln>
            <a:solidFill>
              <a:srgbClr val="7D5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329184"/>
            <a:ext cx="5486400" cy="274320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1200" b="1">
                <a:solidFill>
                  <a:srgbClr val="37E0C5"/>
                </a:solidFill>
                <a:latin typeface="Aptos"/>
              </a:defRPr>
            </a:pPr>
            <a:r>
              <a:rPr>
                <a:solidFill/>
              </a:rPr>
              <a:t>CONTEXT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0080"/>
            <a:ext cx="10789920" cy="640080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3200" b="1">
                <a:solidFill>
                  <a:srgbClr val="F7FBFF"/>
                </a:solidFill>
                <a:latin typeface="Aptos"/>
              </a:defRPr>
            </a:pPr>
            <a:r>
              <a:rPr>
                <a:solidFill/>
              </a:rPr>
              <a:t>Domain and problem statement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384048"/>
            <a:ext cx="502920" cy="274320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 algn="r">
              <a:defRPr sz="1100" b="1">
                <a:solidFill>
                  <a:srgbClr val="C4D3E4"/>
                </a:solidFill>
                <a:latin typeface="Aptos"/>
              </a:defRPr>
            </a:pPr>
            <a:r>
              <a:rPr>
                <a:solidFill/>
              </a:rPr>
              <a:t>03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417320"/>
            <a:ext cx="5166360" cy="3611880"/>
          </a:xfrm>
          <a:prstGeom prst="roundRect">
            <a:avLst>
              <a:gd name="adj" fmla="val 12000"/>
            </a:avLst>
          </a:prstGeom>
          <a:solidFill>
            <a:srgbClr val="F6F0FC"/>
          </a:solidFill>
          <a:ln>
            <a:solidFill>
              <a:srgbClr val="8B6A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85800" y="1417320"/>
            <a:ext cx="64008" cy="3611880"/>
          </a:xfrm>
          <a:prstGeom prst="rect">
            <a:avLst/>
          </a:prstGeom>
          <a:solidFill>
            <a:srgbClr val="704896"/>
          </a:solidFill>
          <a:ln>
            <a:solidFill>
              <a:srgbClr val="704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1618488"/>
            <a:ext cx="457200" cy="320040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 algn="ctr">
              <a:defRPr sz="2000" b="1">
                <a:solidFill>
                  <a:srgbClr val="37E0C5"/>
                </a:solidFill>
                <a:latin typeface="Aptos"/>
              </a:defRPr>
            </a:pPr>
            <a:r>
              <a:rPr>
                <a:solidFill/>
              </a:rPr>
              <a:t>DOMAIN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1581912"/>
            <a:ext cx="4206240" cy="384048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1800" b="1">
                <a:solidFill>
                  <a:srgbClr val="F7FBFF"/>
                </a:solidFill>
                <a:latin typeface="Aptos"/>
              </a:defRPr>
            </a:pPr>
            <a:r>
              <a:rPr>
                <a:solidFill/>
              </a:rPr>
              <a:t>DOMAIN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130552"/>
            <a:ext cx="4709160" cy="2734056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1450" b="0">
                <a:solidFill>
                  <a:srgbClr val="C4D3E4"/>
                </a:solidFill>
                <a:latin typeface="Aptos"/>
              </a:defRPr>
            </a:pPr>
            <a:r>
              <a:rPr>
                <a:solidFill/>
              </a:rPr>
              <a:t>Gender-based violence (GBV) response and smart-city safety</a:t>
            </a:r>
            <a:br/>
            <a:br/>
            <a:r>
              <a:rPr>
                <a:solidFill/>
              </a:rPr>
              <a:t>Survivor protection • Crisis coordination • Real-time city data • Automated dispatch • Digital evidence • Location awareness • Simulated IoT / wearable monitoring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44768" y="1417320"/>
            <a:ext cx="5349240" cy="3611880"/>
          </a:xfrm>
          <a:prstGeom prst="roundRect">
            <a:avLst>
              <a:gd name="adj" fmla="val 12000"/>
            </a:avLst>
          </a:prstGeom>
          <a:solidFill>
            <a:srgbClr val="F6F0FC"/>
          </a:solidFill>
          <a:ln>
            <a:solidFill>
              <a:srgbClr val="8B6A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44768" y="1417320"/>
            <a:ext cx="64008" cy="3611880"/>
          </a:xfrm>
          <a:prstGeom prst="rect">
            <a:avLst/>
          </a:prstGeom>
          <a:solidFill>
            <a:srgbClr val="9152A9"/>
          </a:solidFill>
          <a:ln>
            <a:solidFill>
              <a:srgbClr val="9152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73368" y="1618488"/>
            <a:ext cx="457200" cy="320040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 algn="ctr">
              <a:defRPr sz="2000" b="1">
                <a:solidFill>
                  <a:srgbClr val="FF7C6B"/>
                </a:solidFill>
                <a:latin typeface="Aptos"/>
              </a:defRPr>
            </a:pPr>
            <a:r>
              <a:rPr>
                <a:solidFill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76288" y="1581912"/>
            <a:ext cx="4389120" cy="384048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1800" b="1">
                <a:solidFill>
                  <a:srgbClr val="F7FBFF"/>
                </a:solidFill>
                <a:latin typeface="Aptos"/>
              </a:defRPr>
            </a:pPr>
            <a:r>
              <a:rPr>
                <a:solidFill/>
              </a:rPr>
              <a:t>PROBLEM STATEMENT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3368" y="2130552"/>
            <a:ext cx="4892040" cy="2734056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1450" b="0">
                <a:solidFill>
                  <a:srgbClr val="C4D3E4"/>
                </a:solidFill>
                <a:latin typeface="Aptos"/>
              </a:defRPr>
            </a:pPr>
            <a:r>
              <a:rPr>
                <a:solidFill/>
              </a:rPr>
              <a:t>During a GBV incident, a survivor may not be able to make a conventional phone call or speak openly without increasing risk. Responders and trusted contacts may lack timely location, evidence and situational awareness, while fragmented tools delay intervention.</a:t>
            </a:r>
            <a:br/>
            <a:br/>
            <a:r>
              <a:rPr>
                <a:solidFill/>
              </a:rPr>
              <a:t>Device Shield turns a silent activation into a coordinated, trackable response using real-time city data and automated dispatch.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5413248"/>
            <a:ext cx="1645920" cy="274320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1400" b="1">
                <a:solidFill>
                  <a:srgbClr val="37E0C5"/>
                </a:solidFill>
                <a:latin typeface="Aptos"/>
              </a:defRPr>
            </a:pPr>
            <a:r>
              <a:rPr>
                <a:solidFill/>
              </a:rPr>
              <a:t>The opportunity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40280" y="5358384"/>
            <a:ext cx="8961120" cy="411480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1600" b="1">
                <a:solidFill>
                  <a:srgbClr val="F7FBFF"/>
                </a:solidFill>
                <a:latin typeface="Aptos"/>
              </a:defRPr>
            </a:pPr>
            <a:r>
              <a:rPr>
                <a:solidFill/>
              </a:rPr>
              <a:t>Create one secure web ecosystem that connects the person in danger, trusted responders and simulated devices through a shared incident record.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D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464040" y="-594360"/>
            <a:ext cx="3886200" cy="3886200"/>
          </a:xfrm>
          <a:prstGeom prst="ellipse">
            <a:avLst/>
          </a:prstGeom>
          <a:solidFill>
            <a:srgbClr val="704896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1051560" y="5074920"/>
            <a:ext cx="3566160" cy="3566160"/>
          </a:xfrm>
          <a:prstGeom prst="ellipse">
            <a:avLst/>
          </a:prstGeom>
          <a:solidFill>
            <a:srgbClr val="9152A9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183879" y="5257800"/>
            <a:ext cx="2377440" cy="2377440"/>
          </a:xfrm>
          <a:prstGeom prst="ellipse">
            <a:avLst/>
          </a:prstGeom>
          <a:solidFill>
            <a:srgbClr val="AA79C3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5623560" y="-502920"/>
            <a:ext cx="2880360" cy="2880360"/>
          </a:xfrm>
          <a:prstGeom prst="ellipse">
            <a:avLst/>
          </a:prstGeom>
          <a:solidFill>
            <a:srgbClr val="7D57B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D57BE"/>
          </a:solidFill>
          <a:ln>
            <a:solidFill>
              <a:srgbClr val="7D5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329184"/>
            <a:ext cx="5486400" cy="274320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1200" b="1">
                <a:solidFill>
                  <a:srgbClr val="37E0C5"/>
                </a:solidFill>
                <a:latin typeface="Aptos"/>
              </a:defRPr>
            </a:pPr>
            <a:r>
              <a:rPr>
                <a:solidFill/>
              </a:rPr>
              <a:t>CONTEXT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0080"/>
            <a:ext cx="10789920" cy="640080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3200" b="1">
                <a:solidFill>
                  <a:srgbClr val="F7FBFF"/>
                </a:solidFill>
                <a:latin typeface="Aptos"/>
              </a:defRPr>
            </a:pPr>
            <a:r>
              <a:rPr>
                <a:solidFill/>
              </a:rPr>
              <a:t>Background information: why this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384048"/>
            <a:ext cx="502920" cy="274320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 algn="r">
              <a:defRPr sz="1100" b="1">
                <a:solidFill>
                  <a:srgbClr val="C4D3E4"/>
                </a:solidFill>
                <a:latin typeface="Aptos"/>
              </a:defRPr>
            </a:pPr>
            <a:r>
              <a:rPr>
                <a:solidFill/>
              </a:rPr>
              <a:t>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298448"/>
            <a:ext cx="10332720" cy="411480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1900" b="1">
                <a:solidFill>
                  <a:srgbClr val="F7FBFF"/>
                </a:solidFill>
                <a:latin typeface="Aptos"/>
              </a:defRPr>
            </a:pPr>
            <a:r>
              <a:rPr>
                <a:solidFill/>
              </a:rPr>
              <a:t>Emergency situations are time-critical, uncertain and difficult to communicate discreetly.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965960"/>
            <a:ext cx="3429000" cy="3337560"/>
          </a:xfrm>
          <a:prstGeom prst="roundRect">
            <a:avLst>
              <a:gd name="adj" fmla="val 12000"/>
            </a:avLst>
          </a:prstGeom>
          <a:solidFill>
            <a:srgbClr val="F6F0FC"/>
          </a:solidFill>
          <a:ln>
            <a:solidFill>
              <a:srgbClr val="8B6A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85800" y="1965960"/>
            <a:ext cx="64008" cy="3337560"/>
          </a:xfrm>
          <a:prstGeom prst="rect">
            <a:avLst/>
          </a:prstGeom>
          <a:solidFill>
            <a:srgbClr val="9152A9"/>
          </a:solidFill>
          <a:ln>
            <a:solidFill>
              <a:srgbClr val="9152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2167128"/>
            <a:ext cx="457200" cy="320040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 algn="ctr">
              <a:defRPr sz="2000" b="1">
                <a:solidFill>
                  <a:srgbClr val="FF7C6B"/>
                </a:solidFill>
                <a:latin typeface="Aptos"/>
              </a:defRPr>
            </a:pPr>
            <a:r>
              <a:rPr>
                <a:solidFill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130552"/>
            <a:ext cx="2468880" cy="384048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1800" b="1">
                <a:solidFill>
                  <a:srgbClr val="F7FBFF"/>
                </a:solidFill>
                <a:latin typeface="Aptos"/>
              </a:defRPr>
            </a:pPr>
            <a:r>
              <a:rPr>
                <a:solidFill/>
              </a:rPr>
              <a:t>The person at risk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679191"/>
            <a:ext cx="2971800" cy="2459736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1450" b="0">
                <a:solidFill>
                  <a:srgbClr val="C4D3E4"/>
                </a:solidFill>
                <a:latin typeface="Aptos"/>
              </a:defRPr>
            </a:pPr>
            <a:r>
              <a:rPr>
                <a:solidFill/>
              </a:rPr>
              <a:t>May be unable to call, speak openly, describe their location or gather evidence manually. A low-friction activation path is essential.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70832" y="1965960"/>
            <a:ext cx="3429000" cy="3337560"/>
          </a:xfrm>
          <a:prstGeom prst="roundRect">
            <a:avLst>
              <a:gd name="adj" fmla="val 12000"/>
            </a:avLst>
          </a:prstGeom>
          <a:solidFill>
            <a:srgbClr val="F6F0FC"/>
          </a:solidFill>
          <a:ln>
            <a:solidFill>
              <a:srgbClr val="8B6A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370832" y="1965960"/>
            <a:ext cx="64008" cy="3337560"/>
          </a:xfrm>
          <a:prstGeom prst="rect">
            <a:avLst/>
          </a:prstGeom>
          <a:solidFill>
            <a:srgbClr val="704896"/>
          </a:solidFill>
          <a:ln>
            <a:solidFill>
              <a:srgbClr val="704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99432" y="2167128"/>
            <a:ext cx="457200" cy="320040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 algn="ctr">
              <a:defRPr sz="2000" b="1">
                <a:solidFill>
                  <a:srgbClr val="37E0C5"/>
                </a:solidFill>
                <a:latin typeface="Aptos"/>
              </a:defRPr>
            </a:pPr>
            <a:r>
              <a:rPr>
                <a:solidFill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02352" y="2130552"/>
            <a:ext cx="2468880" cy="384048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1800" b="1">
                <a:solidFill>
                  <a:srgbClr val="F7FBFF"/>
                </a:solidFill>
                <a:latin typeface="Aptos"/>
              </a:defRPr>
            </a:pPr>
            <a:r>
              <a:rPr>
                <a:solidFill/>
              </a:rPr>
              <a:t>The trusted responder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9432" y="2679191"/>
            <a:ext cx="2971800" cy="2459736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1450" b="0">
                <a:solidFill>
                  <a:srgbClr val="C4D3E4"/>
                </a:solidFill>
                <a:latin typeface="Aptos"/>
              </a:defRPr>
            </a:pPr>
            <a:r>
              <a:rPr>
                <a:solidFill/>
              </a:rPr>
              <a:t>Needs a single, current view of what happened, where it happened, what evidence arrived and what action has already been taken.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55864" y="1965960"/>
            <a:ext cx="3429000" cy="3337560"/>
          </a:xfrm>
          <a:prstGeom prst="roundRect">
            <a:avLst>
              <a:gd name="adj" fmla="val 12000"/>
            </a:avLst>
          </a:prstGeom>
          <a:solidFill>
            <a:srgbClr val="F6F0FC"/>
          </a:solidFill>
          <a:ln>
            <a:solidFill>
              <a:srgbClr val="8B6A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055864" y="1965960"/>
            <a:ext cx="64008" cy="3337560"/>
          </a:xfrm>
          <a:prstGeom prst="rect">
            <a:avLst/>
          </a:prstGeom>
          <a:solidFill>
            <a:srgbClr val="AA79C3"/>
          </a:solidFill>
          <a:ln>
            <a:solidFill>
              <a:srgbClr val="AA79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84464" y="2167128"/>
            <a:ext cx="457200" cy="320040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 algn="ctr">
              <a:defRPr sz="2000" b="1">
                <a:solidFill>
                  <a:srgbClr val="FFD166"/>
                </a:solidFill>
                <a:latin typeface="Aptos"/>
              </a:defRPr>
            </a:pPr>
            <a:r>
              <a:rPr>
                <a:solidFill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87384" y="2130552"/>
            <a:ext cx="2468880" cy="384048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1800" b="1">
                <a:solidFill>
                  <a:srgbClr val="F7FBFF"/>
                </a:solidFill>
                <a:latin typeface="Aptos"/>
              </a:defRPr>
            </a:pPr>
            <a:r>
              <a:rPr>
                <a:solidFill/>
              </a:rPr>
              <a:t>The coordination gap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84464" y="2679191"/>
            <a:ext cx="2971800" cy="2459736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1450" b="0">
                <a:solidFill>
                  <a:srgbClr val="C4D3E4"/>
                </a:solidFill>
                <a:latin typeface="Aptos"/>
              </a:defRPr>
            </a:pPr>
            <a:r>
              <a:rPr>
                <a:solidFill/>
              </a:rPr>
              <a:t>Calls, messages, location sharing and device data are often fragmented. This makes handover, accountability and escalation harder.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5596128"/>
            <a:ext cx="1554480" cy="274320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1400" b="1">
                <a:solidFill>
                  <a:srgbClr val="37E0C5"/>
                </a:solidFill>
                <a:latin typeface="Aptos"/>
              </a:defRPr>
            </a:pPr>
            <a:r>
              <a:rPr>
                <a:solidFill/>
              </a:rPr>
              <a:t>Our response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48840" y="5541264"/>
            <a:ext cx="9144000" cy="384048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1550" b="1">
                <a:solidFill>
                  <a:srgbClr val="F7FBFF"/>
                </a:solidFill>
                <a:latin typeface="Aptos"/>
              </a:defRPr>
            </a:pPr>
            <a:r>
              <a:rPr>
                <a:solidFill/>
              </a:rPr>
              <a:t>A secure response hub connects discreet activation, live city data, evidence, location, automated dispatch and human response in one traceable workflow.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D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464040" y="-594360"/>
            <a:ext cx="3886200" cy="3886200"/>
          </a:xfrm>
          <a:prstGeom prst="ellipse">
            <a:avLst/>
          </a:prstGeom>
          <a:solidFill>
            <a:srgbClr val="704896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1051560" y="5074920"/>
            <a:ext cx="3566160" cy="3566160"/>
          </a:xfrm>
          <a:prstGeom prst="ellipse">
            <a:avLst/>
          </a:prstGeom>
          <a:solidFill>
            <a:srgbClr val="9152A9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183879" y="5257800"/>
            <a:ext cx="2377440" cy="2377440"/>
          </a:xfrm>
          <a:prstGeom prst="ellipse">
            <a:avLst/>
          </a:prstGeom>
          <a:solidFill>
            <a:srgbClr val="AA79C3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5623560" y="-502920"/>
            <a:ext cx="2880360" cy="2880360"/>
          </a:xfrm>
          <a:prstGeom prst="ellipse">
            <a:avLst/>
          </a:prstGeom>
          <a:solidFill>
            <a:srgbClr val="7D57B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D57BE"/>
          </a:solidFill>
          <a:ln>
            <a:solidFill>
              <a:srgbClr val="7D5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329184"/>
            <a:ext cx="5486400" cy="274320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1200" b="1">
                <a:solidFill>
                  <a:srgbClr val="37E0C5"/>
                </a:solidFill>
                <a:latin typeface="Aptos"/>
              </a:defRPr>
            </a:pPr>
            <a:r>
              <a:rPr>
                <a:solidFill/>
              </a:rPr>
              <a:t>WHY DEVICE SHIELD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0080"/>
            <a:ext cx="10789920" cy="640080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3200" b="1">
                <a:solidFill>
                  <a:srgbClr val="F7FBFF"/>
                </a:solidFill>
                <a:latin typeface="Aptos"/>
              </a:defRPr>
            </a:pPr>
            <a:r>
              <a:rPr>
                <a:solidFill/>
              </a:rPr>
              <a:t>Strongest unique selling proposition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384048"/>
            <a:ext cx="502920" cy="274320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 algn="r">
              <a:defRPr sz="1100" b="1">
                <a:solidFill>
                  <a:srgbClr val="C4D3E4"/>
                </a:solidFill>
                <a:latin typeface="Aptos"/>
              </a:defRPr>
            </a:pPr>
            <a:r>
              <a:rPr>
                <a:solidFill/>
              </a:rPr>
              <a:t>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417320"/>
            <a:ext cx="10698480" cy="1417320"/>
          </a:xfrm>
          <a:prstGeom prst="roundRect">
            <a:avLst>
              <a:gd name="adj" fmla="val 12000"/>
            </a:avLst>
          </a:prstGeom>
          <a:solidFill>
            <a:srgbClr val="F6F0FC"/>
          </a:solidFill>
          <a:ln>
            <a:solidFill>
              <a:srgbClr val="704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78992" y="1719072"/>
            <a:ext cx="10012680" cy="731520"/>
          </a:xfrm>
          <a:prstGeom prst="rect">
            <a:avLst/>
          </a:prstGeom>
          <a:noFill/>
          <a:ln/>
        </p:spPr>
        <p:txBody>
          <a:bodyPr wrap="square" lIns="36576" tIns="18288" rIns="36576" anchor="ctr">
            <a:spAutoFit/>
          </a:bodyPr>
          <a:lstStyle/>
          <a:p>
            <a:pPr algn="ctr">
              <a:defRPr sz="2300" b="1">
                <a:solidFill>
                  <a:srgbClr val="F7FBFF"/>
                </a:solidFill>
                <a:latin typeface="Aptos"/>
              </a:defRPr>
            </a:pPr>
            <a:r>
              <a:rPr>
                <a:solidFill/>
              </a:rPr>
              <a:t>“A survivor can silently request emergency help — without speaking, making a phone call or visibly interacting with a device.”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337560"/>
            <a:ext cx="3337560" cy="2057400"/>
          </a:xfrm>
          <a:prstGeom prst="roundRect">
            <a:avLst>
              <a:gd name="adj" fmla="val 12000"/>
            </a:avLst>
          </a:prstGeom>
          <a:solidFill>
            <a:srgbClr val="F6F0FC"/>
          </a:solidFill>
          <a:ln>
            <a:solidFill>
              <a:srgbClr val="8B6A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77240" y="3337560"/>
            <a:ext cx="64008" cy="2057400"/>
          </a:xfrm>
          <a:prstGeom prst="rect">
            <a:avLst/>
          </a:prstGeom>
          <a:solidFill>
            <a:srgbClr val="9152A9"/>
          </a:solidFill>
          <a:ln>
            <a:solidFill>
              <a:srgbClr val="9152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3538728"/>
            <a:ext cx="457200" cy="320040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 algn="ctr">
              <a:defRPr sz="2000" b="1">
                <a:solidFill>
                  <a:srgbClr val="FF7C6B"/>
                </a:solidFill>
                <a:latin typeface="Aptos"/>
              </a:defRPr>
            </a:pPr>
            <a:r>
              <a:rPr>
                <a:solidFill/>
              </a:rPr>
              <a:t>SILENT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502152"/>
            <a:ext cx="2377439" cy="384048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1800" b="1">
                <a:solidFill>
                  <a:srgbClr val="F7FBFF"/>
                </a:solidFill>
                <a:latin typeface="Aptos"/>
              </a:defRPr>
            </a:pPr>
            <a:r>
              <a:rPr>
                <a:solidFill/>
              </a:rPr>
              <a:t>1. Silent activation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050791"/>
            <a:ext cx="2880360" cy="1179576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1450" b="0">
                <a:solidFill>
                  <a:srgbClr val="C4D3E4"/>
                </a:solidFill>
                <a:latin typeface="Aptos"/>
              </a:defRPr>
            </a:pPr>
            <a:r>
              <a:rPr>
                <a:solidFill/>
              </a:rPr>
              <a:t>A custom keyword or discreet simulated trigger can initiate an incident when speaking or calling may be unsafe.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25696" y="3337560"/>
            <a:ext cx="3337560" cy="2057400"/>
          </a:xfrm>
          <a:prstGeom prst="roundRect">
            <a:avLst>
              <a:gd name="adj" fmla="val 12000"/>
            </a:avLst>
          </a:prstGeom>
          <a:solidFill>
            <a:srgbClr val="F6F0FC"/>
          </a:solidFill>
          <a:ln>
            <a:solidFill>
              <a:srgbClr val="8B6A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425696" y="3337560"/>
            <a:ext cx="64008" cy="2057400"/>
          </a:xfrm>
          <a:prstGeom prst="rect">
            <a:avLst/>
          </a:prstGeom>
          <a:solidFill>
            <a:srgbClr val="704896"/>
          </a:solidFill>
          <a:ln>
            <a:solidFill>
              <a:srgbClr val="704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654296" y="3538728"/>
            <a:ext cx="457200" cy="320040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 algn="ctr">
              <a:defRPr sz="2000" b="1">
                <a:solidFill>
                  <a:srgbClr val="37E0C5"/>
                </a:solidFill>
                <a:latin typeface="Aptos"/>
              </a:defRPr>
            </a:pPr>
            <a:r>
              <a:rPr>
                <a:solidFill/>
              </a:rPr>
              <a:t>SMART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57216" y="3502152"/>
            <a:ext cx="2377439" cy="384048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1800" b="1">
                <a:solidFill>
                  <a:srgbClr val="F7FBFF"/>
                </a:solidFill>
                <a:latin typeface="Aptos"/>
              </a:defRPr>
            </a:pPr>
            <a:r>
              <a:rPr>
                <a:solidFill/>
              </a:rPr>
              <a:t>2. Appropriate response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54296" y="4050791"/>
            <a:ext cx="2880360" cy="1179576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1450" b="0">
                <a:solidFill>
                  <a:srgbClr val="C4D3E4"/>
                </a:solidFill>
                <a:latin typeface="Aptos"/>
              </a:defRPr>
            </a:pPr>
            <a:r>
              <a:rPr>
                <a:solidFill/>
              </a:rPr>
              <a:t>The platform combines the incident type, location, evidence and live city context to guide the right response pathway.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74152" y="3337560"/>
            <a:ext cx="3337560" cy="2057400"/>
          </a:xfrm>
          <a:prstGeom prst="roundRect">
            <a:avLst>
              <a:gd name="adj" fmla="val 12000"/>
            </a:avLst>
          </a:prstGeom>
          <a:solidFill>
            <a:srgbClr val="F6F0FC"/>
          </a:solidFill>
          <a:ln>
            <a:solidFill>
              <a:srgbClr val="8B6A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074152" y="3337560"/>
            <a:ext cx="64008" cy="2057400"/>
          </a:xfrm>
          <a:prstGeom prst="rect">
            <a:avLst/>
          </a:prstGeom>
          <a:solidFill>
            <a:srgbClr val="AA79C3"/>
          </a:solidFill>
          <a:ln>
            <a:solidFill>
              <a:srgbClr val="AA79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02752" y="3538728"/>
            <a:ext cx="457200" cy="320040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 algn="ctr">
              <a:defRPr sz="2000" b="1">
                <a:solidFill>
                  <a:srgbClr val="FFD166"/>
                </a:solidFill>
                <a:latin typeface="Aptos"/>
              </a:defRPr>
            </a:pPr>
            <a:r>
              <a:rPr>
                <a:solidFill/>
              </a:rPr>
              <a:t>NEAR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05672" y="3502152"/>
            <a:ext cx="2377439" cy="384048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1800" b="1">
                <a:solidFill>
                  <a:srgbClr val="F7FBFF"/>
                </a:solidFill>
                <a:latin typeface="Aptos"/>
              </a:defRPr>
            </a:pPr>
            <a:r>
              <a:rPr>
                <a:solidFill/>
              </a:rPr>
              <a:t>3. Nearest coordination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02752" y="4050791"/>
            <a:ext cx="2880360" cy="1179576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1450" b="0">
                <a:solidFill>
                  <a:srgbClr val="C4D3E4"/>
                </a:solidFill>
                <a:latin typeface="Aptos"/>
              </a:defRPr>
            </a:pPr>
            <a:r>
              <a:rPr>
                <a:solidFill/>
              </a:rPr>
              <a:t>Real-time location and city data help coordinate the nearest available trusted responders or dispatch pathway.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806440"/>
            <a:ext cx="10424160" cy="320040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 algn="ctr">
              <a:defRPr sz="1600" b="1">
                <a:solidFill>
                  <a:srgbClr val="F7FBFF"/>
                </a:solidFill>
                <a:latin typeface="Aptos"/>
              </a:defRPr>
            </a:pPr>
            <a:r>
              <a:rPr>
                <a:solidFill/>
              </a:rPr>
              <a:t>This is the difference: not just an alert, but a discreet request-to-response coordination layer.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D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464040" y="-594360"/>
            <a:ext cx="3886200" cy="3886200"/>
          </a:xfrm>
          <a:prstGeom prst="ellipse">
            <a:avLst/>
          </a:prstGeom>
          <a:solidFill>
            <a:srgbClr val="704896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1051560" y="5074920"/>
            <a:ext cx="3566160" cy="3566160"/>
          </a:xfrm>
          <a:prstGeom prst="ellipse">
            <a:avLst/>
          </a:prstGeom>
          <a:solidFill>
            <a:srgbClr val="9152A9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183879" y="5257800"/>
            <a:ext cx="2377440" cy="2377440"/>
          </a:xfrm>
          <a:prstGeom prst="ellipse">
            <a:avLst/>
          </a:prstGeom>
          <a:solidFill>
            <a:srgbClr val="AA79C3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5623560" y="-502920"/>
            <a:ext cx="2880360" cy="2880360"/>
          </a:xfrm>
          <a:prstGeom prst="ellipse">
            <a:avLst/>
          </a:prstGeom>
          <a:solidFill>
            <a:srgbClr val="7D57B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D57BE"/>
          </a:solidFill>
          <a:ln>
            <a:solidFill>
              <a:srgbClr val="7D5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329184"/>
            <a:ext cx="5486400" cy="274320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1200" b="1">
                <a:solidFill>
                  <a:srgbClr val="37E0C5"/>
                </a:solidFill>
                <a:latin typeface="Aptos"/>
              </a:defRPr>
            </a:pPr>
            <a:r>
              <a:rPr>
                <a:solidFill/>
              </a:rPr>
              <a:t>PURPOSE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0080"/>
            <a:ext cx="10789920" cy="640080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3200" b="1">
                <a:solidFill>
                  <a:srgbClr val="F7FBFF"/>
                </a:solidFill>
                <a:latin typeface="Aptos"/>
              </a:defRPr>
            </a:pPr>
            <a:r>
              <a:rPr>
                <a:solidFill/>
              </a:rPr>
              <a:t>What we want to do with this information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384048"/>
            <a:ext cx="502920" cy="274320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 algn="r">
              <a:defRPr sz="1100" b="1">
                <a:solidFill>
                  <a:srgbClr val="C4D3E4"/>
                </a:solidFill>
                <a:latin typeface="Aptos"/>
              </a:defRPr>
            </a:pPr>
            <a:r>
              <a:rPr>
                <a:solidFill/>
              </a:rPr>
              <a:t>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353312"/>
            <a:ext cx="10607040" cy="502920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2000" b="1">
                <a:solidFill>
                  <a:srgbClr val="F7FBFF"/>
                </a:solidFill>
                <a:latin typeface="Aptos"/>
              </a:defRPr>
            </a:pPr>
            <a:r>
              <a:rPr>
                <a:solidFill/>
              </a:rPr>
              <a:t>Translate the emergency-safety requirements into one visible, testable web experience — from activation to resolution.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240280"/>
            <a:ext cx="3383280" cy="2331720"/>
          </a:xfrm>
          <a:prstGeom prst="roundRect">
            <a:avLst>
              <a:gd name="adj" fmla="val 12000"/>
            </a:avLst>
          </a:prstGeom>
          <a:solidFill>
            <a:srgbClr val="F6F0FC"/>
          </a:solidFill>
          <a:ln>
            <a:solidFill>
              <a:srgbClr val="8B6A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85800" y="2240280"/>
            <a:ext cx="64008" cy="2331720"/>
          </a:xfrm>
          <a:prstGeom prst="rect">
            <a:avLst/>
          </a:prstGeom>
          <a:solidFill>
            <a:srgbClr val="9152A9"/>
          </a:solidFill>
          <a:ln>
            <a:solidFill>
              <a:srgbClr val="9152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2441448"/>
            <a:ext cx="457200" cy="320040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 algn="ctr">
              <a:defRPr sz="2000" b="1">
                <a:solidFill>
                  <a:srgbClr val="FF7C6B"/>
                </a:solidFill>
                <a:latin typeface="Aptos"/>
              </a:defRPr>
            </a:pPr>
            <a:r>
              <a:rPr>
                <a:solidFill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404872"/>
            <a:ext cx="2423160" cy="384048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1800" b="1">
                <a:solidFill>
                  <a:srgbClr val="F7FBFF"/>
                </a:solidFill>
                <a:latin typeface="Aptos"/>
              </a:defRPr>
            </a:pPr>
            <a:r>
              <a:rPr>
                <a:solidFill/>
              </a:rPr>
              <a:t>1. Make the signal actionable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953512"/>
            <a:ext cx="2926080" cy="1453895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1450" b="0">
                <a:solidFill>
                  <a:srgbClr val="C4D3E4"/>
                </a:solidFill>
                <a:latin typeface="Aptos"/>
              </a:defRPr>
            </a:pPr>
            <a:r>
              <a:rPr>
                <a:solidFill/>
              </a:rPr>
              <a:t>Let survivors configure a discreet keyword and request help without relying on always-listening hardware.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07408" y="2240280"/>
            <a:ext cx="3383280" cy="2331720"/>
          </a:xfrm>
          <a:prstGeom prst="roundRect">
            <a:avLst>
              <a:gd name="adj" fmla="val 12000"/>
            </a:avLst>
          </a:prstGeom>
          <a:solidFill>
            <a:srgbClr val="F6F0FC"/>
          </a:solidFill>
          <a:ln>
            <a:solidFill>
              <a:srgbClr val="8B6A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407408" y="2240280"/>
            <a:ext cx="64008" cy="2331720"/>
          </a:xfrm>
          <a:prstGeom prst="rect">
            <a:avLst/>
          </a:prstGeom>
          <a:solidFill>
            <a:srgbClr val="704896"/>
          </a:solidFill>
          <a:ln>
            <a:solidFill>
              <a:srgbClr val="704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36008" y="2441448"/>
            <a:ext cx="457200" cy="320040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 algn="ctr">
              <a:defRPr sz="2000" b="1">
                <a:solidFill>
                  <a:srgbClr val="37E0C5"/>
                </a:solidFill>
                <a:latin typeface="Aptos"/>
              </a:defRPr>
            </a:pPr>
            <a:r>
              <a:rPr>
                <a:solidFill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38928" y="2404872"/>
            <a:ext cx="2423160" cy="384048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1800" b="1">
                <a:solidFill>
                  <a:srgbClr val="F7FBFF"/>
                </a:solidFill>
                <a:latin typeface="Aptos"/>
              </a:defRPr>
            </a:pPr>
            <a:r>
              <a:rPr>
                <a:solidFill/>
              </a:rPr>
              <a:t>2. Coordinate the response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36008" y="2953512"/>
            <a:ext cx="2926080" cy="1453895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1450" b="0">
                <a:solidFill>
                  <a:srgbClr val="C4D3E4"/>
                </a:solidFill>
                <a:latin typeface="Aptos"/>
              </a:defRPr>
            </a:pPr>
            <a:r>
              <a:rPr>
                <a:solidFill/>
              </a:rPr>
              <a:t>Give trusted members a live dashboard with location, evidence, telemetry and response actions.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29016" y="2240280"/>
            <a:ext cx="3383280" cy="2331720"/>
          </a:xfrm>
          <a:prstGeom prst="roundRect">
            <a:avLst>
              <a:gd name="adj" fmla="val 12000"/>
            </a:avLst>
          </a:prstGeom>
          <a:solidFill>
            <a:srgbClr val="F6F0FC"/>
          </a:solidFill>
          <a:ln>
            <a:solidFill>
              <a:srgbClr val="8B6A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129016" y="2240280"/>
            <a:ext cx="64008" cy="2331720"/>
          </a:xfrm>
          <a:prstGeom prst="rect">
            <a:avLst/>
          </a:prstGeom>
          <a:solidFill>
            <a:srgbClr val="AA79C3"/>
          </a:solidFill>
          <a:ln>
            <a:solidFill>
              <a:srgbClr val="AA79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57616" y="2441448"/>
            <a:ext cx="457200" cy="320040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 algn="ctr">
              <a:defRPr sz="2000" b="1">
                <a:solidFill>
                  <a:srgbClr val="FFD166"/>
                </a:solidFill>
                <a:latin typeface="Aptos"/>
              </a:defRPr>
            </a:pPr>
            <a:r>
              <a:rPr>
                <a:solidFill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0536" y="2404872"/>
            <a:ext cx="2423160" cy="384048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1800" b="1">
                <a:solidFill>
                  <a:srgbClr val="F7FBFF"/>
                </a:solidFill>
                <a:latin typeface="Aptos"/>
              </a:defRPr>
            </a:pPr>
            <a:r>
              <a:rPr>
                <a:solidFill/>
              </a:rPr>
              <a:t>3. Prove the journey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57616" y="2953512"/>
            <a:ext cx="2926080" cy="1453895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1450" b="0">
                <a:solidFill>
                  <a:srgbClr val="C4D3E4"/>
                </a:solidFill>
                <a:latin typeface="Aptos"/>
              </a:defRPr>
            </a:pPr>
            <a:r>
              <a:rPr>
                <a:solidFill/>
              </a:rPr>
              <a:t>Persist every event, status change and audit record so judges can follow the complete lifecycle.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5138928"/>
            <a:ext cx="1005840" cy="274320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1100" b="1">
                <a:solidFill>
                  <a:srgbClr val="37E0C5"/>
                </a:solidFill>
                <a:latin typeface="Aptos"/>
              </a:defRPr>
            </a:pPr>
            <a:r>
              <a:rPr>
                <a:solidFill/>
              </a:rPr>
              <a:t>Outcome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45920" y="5084064"/>
            <a:ext cx="9326880" cy="411480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1600" b="0">
                <a:solidFill>
                  <a:srgbClr val="C4D3E4"/>
                </a:solidFill>
                <a:latin typeface="Aptos"/>
              </a:defRPr>
            </a:pPr>
            <a:r>
              <a:rPr>
                <a:solidFill/>
              </a:rPr>
              <a:t>A production-structured smart-city prototype that is honest about simulation today, while keeping the integration seams ready for real devices and dispatch systems tomorrow.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D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464040" y="-594360"/>
            <a:ext cx="3886200" cy="3886200"/>
          </a:xfrm>
          <a:prstGeom prst="ellipse">
            <a:avLst/>
          </a:prstGeom>
          <a:solidFill>
            <a:srgbClr val="704896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1051560" y="5074920"/>
            <a:ext cx="3566160" cy="3566160"/>
          </a:xfrm>
          <a:prstGeom prst="ellipse">
            <a:avLst/>
          </a:prstGeom>
          <a:solidFill>
            <a:srgbClr val="9152A9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183879" y="5257800"/>
            <a:ext cx="2377440" cy="2377440"/>
          </a:xfrm>
          <a:prstGeom prst="ellipse">
            <a:avLst/>
          </a:prstGeom>
          <a:solidFill>
            <a:srgbClr val="AA79C3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5623560" y="-502920"/>
            <a:ext cx="2880360" cy="2880360"/>
          </a:xfrm>
          <a:prstGeom prst="ellipse">
            <a:avLst/>
          </a:prstGeom>
          <a:solidFill>
            <a:srgbClr val="7D57B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D57BE"/>
          </a:solidFill>
          <a:ln>
            <a:solidFill>
              <a:srgbClr val="7D5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329184"/>
            <a:ext cx="5486400" cy="274320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1200" b="1">
                <a:solidFill>
                  <a:srgbClr val="37E0C5"/>
                </a:solidFill>
                <a:latin typeface="Aptos"/>
              </a:defRPr>
            </a:pPr>
            <a:r>
              <a:rPr>
                <a:solidFill/>
              </a:rPr>
              <a:t>CORE CONCEPT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0080"/>
            <a:ext cx="10789920" cy="640080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3200" b="1">
                <a:solidFill>
                  <a:srgbClr val="F7FBFF"/>
                </a:solidFill>
                <a:latin typeface="Aptos"/>
              </a:defRPr>
            </a:pPr>
            <a:r>
              <a:rPr>
                <a:solidFill/>
              </a:rPr>
              <a:t>The experience: discreet signal → coordinated response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384048"/>
            <a:ext cx="502920" cy="274320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 algn="r">
              <a:defRPr sz="1100" b="1">
                <a:solidFill>
                  <a:srgbClr val="C4D3E4"/>
                </a:solidFill>
                <a:latin typeface="Aptos"/>
              </a:defRPr>
            </a:pPr>
            <a:r>
              <a:rPr>
                <a:solidFill/>
              </a:rPr>
              <a:t>07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965960"/>
            <a:ext cx="1874519" cy="2148840"/>
          </a:xfrm>
          <a:prstGeom prst="roundRect">
            <a:avLst>
              <a:gd name="adj" fmla="val 12000"/>
            </a:avLst>
          </a:prstGeom>
          <a:solidFill>
            <a:srgbClr val="F6F0FC"/>
          </a:solidFill>
          <a:ln>
            <a:solidFill>
              <a:srgbClr val="8B6A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2176272"/>
            <a:ext cx="457200" cy="274320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1400" b="1">
                <a:solidFill>
                  <a:srgbClr val="37E0C5"/>
                </a:solidFill>
                <a:latin typeface="Aptos"/>
              </a:defRPr>
            </a:pPr>
            <a:r>
              <a:rPr>
                <a:solidFill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578608"/>
            <a:ext cx="1508760" cy="320040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1600" b="1">
                <a:solidFill>
                  <a:srgbClr val="F7FBFF"/>
                </a:solidFill>
                <a:latin typeface="Aptos"/>
              </a:defRPr>
            </a:pPr>
            <a:r>
              <a:rPr>
                <a:solidFill/>
              </a:rPr>
              <a:t>Configure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063240"/>
            <a:ext cx="1508760" cy="640080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1100" b="0">
                <a:solidFill>
                  <a:srgbClr val="C4D3E4"/>
                </a:solidFill>
                <a:latin typeface="Aptos"/>
              </a:defRPr>
            </a:pPr>
            <a:r>
              <a:rPr>
                <a:solidFill/>
              </a:rPr>
              <a:t>User creates HELP, RED or a custom phrase.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24328" y="2743200"/>
            <a:ext cx="228600" cy="274320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 algn="ctr">
              <a:defRPr sz="1800" b="1">
                <a:solidFill>
                  <a:srgbClr val="FF7C6B"/>
                </a:solidFill>
                <a:latin typeface="Aptos"/>
              </a:defRPr>
            </a:pPr>
            <a:r>
              <a:rPr>
                <a:solidFill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53512" y="1965960"/>
            <a:ext cx="1874519" cy="2148840"/>
          </a:xfrm>
          <a:prstGeom prst="roundRect">
            <a:avLst>
              <a:gd name="adj" fmla="val 12000"/>
            </a:avLst>
          </a:prstGeom>
          <a:solidFill>
            <a:srgbClr val="F6F0FC"/>
          </a:solidFill>
          <a:ln>
            <a:solidFill>
              <a:srgbClr val="8B6A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136392" y="2176272"/>
            <a:ext cx="457200" cy="274320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1400" b="1">
                <a:solidFill>
                  <a:srgbClr val="37E0C5"/>
                </a:solidFill>
                <a:latin typeface="Aptos"/>
              </a:defRPr>
            </a:pPr>
            <a:r>
              <a:rPr>
                <a:solidFill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36392" y="2578608"/>
            <a:ext cx="1508760" cy="320040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1600" b="1">
                <a:solidFill>
                  <a:srgbClr val="F7FBFF"/>
                </a:solidFill>
                <a:latin typeface="Aptos"/>
              </a:defRPr>
            </a:pPr>
            <a:r>
              <a:rPr>
                <a:solidFill/>
              </a:rPr>
              <a:t>Activate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36392" y="3063240"/>
            <a:ext cx="1508760" cy="640080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1100" b="0">
                <a:solidFill>
                  <a:srgbClr val="C4D3E4"/>
                </a:solidFill>
                <a:latin typeface="Aptos"/>
              </a:defRPr>
            </a:pPr>
            <a:r>
              <a:rPr>
                <a:solidFill/>
              </a:rPr>
              <a:t>Keyword, button, fall or sensor event triggers one incident service.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92040" y="2743200"/>
            <a:ext cx="228600" cy="274320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 algn="ctr">
              <a:defRPr sz="1800" b="1">
                <a:solidFill>
                  <a:srgbClr val="FF7C6B"/>
                </a:solidFill>
                <a:latin typeface="Aptos"/>
              </a:defRPr>
            </a:pPr>
            <a:r>
              <a:rPr>
                <a:solidFill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221224" y="1965960"/>
            <a:ext cx="1874519" cy="2148840"/>
          </a:xfrm>
          <a:prstGeom prst="roundRect">
            <a:avLst>
              <a:gd name="adj" fmla="val 12000"/>
            </a:avLst>
          </a:prstGeom>
          <a:solidFill>
            <a:srgbClr val="F6F0FC"/>
          </a:solidFill>
          <a:ln>
            <a:solidFill>
              <a:srgbClr val="8B6A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04104" y="2176272"/>
            <a:ext cx="457200" cy="274320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1400" b="1">
                <a:solidFill>
                  <a:srgbClr val="37E0C5"/>
                </a:solidFill>
                <a:latin typeface="Aptos"/>
              </a:defRPr>
            </a:pPr>
            <a:r>
              <a:rPr>
                <a:solidFill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04104" y="2578608"/>
            <a:ext cx="1508760" cy="320040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1600" b="1">
                <a:solidFill>
                  <a:srgbClr val="F7FBFF"/>
                </a:solidFill>
                <a:latin typeface="Aptos"/>
              </a:defRPr>
            </a:pPr>
            <a:r>
              <a:rPr>
                <a:solidFill/>
              </a:rPr>
              <a:t>Notify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04104" y="3063240"/>
            <a:ext cx="1508760" cy="640080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1100" b="0">
                <a:solidFill>
                  <a:srgbClr val="C4D3E4"/>
                </a:solidFill>
                <a:latin typeface="Aptos"/>
              </a:defRPr>
            </a:pPr>
            <a:r>
              <a:rPr>
                <a:solidFill/>
              </a:rPr>
              <a:t>Trusted members receive an emergency alert with authorized context.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59752" y="2743200"/>
            <a:ext cx="228600" cy="274320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 algn="ctr">
              <a:defRPr sz="1800" b="1">
                <a:solidFill>
                  <a:srgbClr val="FF7C6B"/>
                </a:solidFill>
                <a:latin typeface="Aptos"/>
              </a:defRPr>
            </a:pPr>
            <a:r>
              <a:rPr>
                <a:solidFill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88936" y="1965960"/>
            <a:ext cx="1874519" cy="2148840"/>
          </a:xfrm>
          <a:prstGeom prst="roundRect">
            <a:avLst>
              <a:gd name="adj" fmla="val 12000"/>
            </a:avLst>
          </a:prstGeom>
          <a:solidFill>
            <a:srgbClr val="F6F0FC"/>
          </a:solidFill>
          <a:ln>
            <a:solidFill>
              <a:srgbClr val="8B6A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671815" y="2176272"/>
            <a:ext cx="457200" cy="274320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1400" b="1">
                <a:solidFill>
                  <a:srgbClr val="37E0C5"/>
                </a:solidFill>
                <a:latin typeface="Aptos"/>
              </a:defRPr>
            </a:pPr>
            <a:r>
              <a:rPr>
                <a:solidFill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71815" y="2578608"/>
            <a:ext cx="1508760" cy="320040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1600" b="1">
                <a:solidFill>
                  <a:srgbClr val="F7FBFF"/>
                </a:solidFill>
                <a:latin typeface="Aptos"/>
              </a:defRPr>
            </a:pPr>
            <a:r>
              <a:rPr>
                <a:solidFill/>
              </a:rPr>
              <a:t>Collect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71815" y="3063240"/>
            <a:ext cx="1508760" cy="640080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1100" b="0">
                <a:solidFill>
                  <a:srgbClr val="C4D3E4"/>
                </a:solidFill>
                <a:latin typeface="Aptos"/>
              </a:defRPr>
            </a:pPr>
            <a:r>
              <a:rPr>
                <a:solidFill/>
              </a:rPr>
              <a:t>Location, evidence and simulated wearable telemetry arrive on a live timeline.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27463" y="2743200"/>
            <a:ext cx="228600" cy="274320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 algn="ctr">
              <a:defRPr sz="1800" b="1">
                <a:solidFill>
                  <a:srgbClr val="FF7C6B"/>
                </a:solidFill>
                <a:latin typeface="Aptos"/>
              </a:defRPr>
            </a:pPr>
            <a:r>
              <a:rPr>
                <a:solidFill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756648" y="1965960"/>
            <a:ext cx="1874519" cy="2148840"/>
          </a:xfrm>
          <a:prstGeom prst="roundRect">
            <a:avLst>
              <a:gd name="adj" fmla="val 12000"/>
            </a:avLst>
          </a:prstGeom>
          <a:solidFill>
            <a:srgbClr val="F6F0FC"/>
          </a:solidFill>
          <a:ln>
            <a:solidFill>
              <a:srgbClr val="8B6A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939528" y="2176272"/>
            <a:ext cx="457200" cy="274320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1400" b="1">
                <a:solidFill>
                  <a:srgbClr val="37E0C5"/>
                </a:solidFill>
                <a:latin typeface="Aptos"/>
              </a:defRPr>
            </a:pPr>
            <a:r>
              <a:rPr>
                <a:solidFill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39528" y="2578608"/>
            <a:ext cx="1508760" cy="320040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1600" b="1">
                <a:solidFill>
                  <a:srgbClr val="F7FBFF"/>
                </a:solidFill>
                <a:latin typeface="Aptos"/>
              </a:defRPr>
            </a:pPr>
            <a:r>
              <a:rPr>
                <a:solidFill/>
              </a:rPr>
              <a:t>Resolve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39528" y="3063240"/>
            <a:ext cx="1508760" cy="640080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1100" b="0">
                <a:solidFill>
                  <a:srgbClr val="C4D3E4"/>
                </a:solidFill>
                <a:latin typeface="Aptos"/>
              </a:defRPr>
            </a:pPr>
            <a:r>
              <a:rPr>
                <a:solidFill/>
              </a:rPr>
              <a:t>Members acknowledge, respond, escalate or resolve — with every action audited.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4892040"/>
            <a:ext cx="9784080" cy="411480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1800" b="1">
                <a:solidFill>
                  <a:srgbClr val="F7FBFF"/>
                </a:solidFill>
                <a:latin typeface="Aptos"/>
              </a:defRPr>
            </a:pPr>
            <a:r>
              <a:rPr>
                <a:solidFill/>
              </a:rPr>
              <a:t>One incident model. Multiple activation sources. One shared source of truth.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D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464040" y="-594360"/>
            <a:ext cx="3886200" cy="3886200"/>
          </a:xfrm>
          <a:prstGeom prst="ellipse">
            <a:avLst/>
          </a:prstGeom>
          <a:solidFill>
            <a:srgbClr val="704896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1051560" y="5074920"/>
            <a:ext cx="3566160" cy="3566160"/>
          </a:xfrm>
          <a:prstGeom prst="ellipse">
            <a:avLst/>
          </a:prstGeom>
          <a:solidFill>
            <a:srgbClr val="9152A9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183879" y="5257800"/>
            <a:ext cx="2377440" cy="2377440"/>
          </a:xfrm>
          <a:prstGeom prst="ellipse">
            <a:avLst/>
          </a:prstGeom>
          <a:solidFill>
            <a:srgbClr val="AA79C3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5623560" y="-502920"/>
            <a:ext cx="2880360" cy="2880360"/>
          </a:xfrm>
          <a:prstGeom prst="ellipse">
            <a:avLst/>
          </a:prstGeom>
          <a:solidFill>
            <a:srgbClr val="7D57B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D57BE"/>
          </a:solidFill>
          <a:ln>
            <a:solidFill>
              <a:srgbClr val="7D5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329184"/>
            <a:ext cx="5486400" cy="274320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1200" b="1">
                <a:solidFill>
                  <a:srgbClr val="37E0C5"/>
                </a:solidFill>
                <a:latin typeface="Aptos"/>
              </a:defRPr>
            </a:pPr>
            <a:r>
              <a:rPr>
                <a:solidFill/>
              </a:rPr>
              <a:t>PRODUCT SURFACE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0080"/>
            <a:ext cx="10789920" cy="640080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3200" b="1">
                <a:solidFill>
                  <a:srgbClr val="F7FBFF"/>
                </a:solidFill>
                <a:latin typeface="Aptos"/>
              </a:defRPr>
            </a:pPr>
            <a:r>
              <a:rPr>
                <a:solidFill/>
              </a:rPr>
              <a:t>Web application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384048"/>
            <a:ext cx="502920" cy="274320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 algn="r">
              <a:defRPr sz="1100" b="1">
                <a:solidFill>
                  <a:srgbClr val="C4D3E4"/>
                </a:solidFill>
                <a:latin typeface="Aptos"/>
              </a:defRPr>
            </a:pPr>
            <a:r>
              <a:rPr>
                <a:solidFill/>
              </a:rPr>
              <a:t>08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417320"/>
            <a:ext cx="3474720" cy="4160520"/>
          </a:xfrm>
          <a:prstGeom prst="roundRect">
            <a:avLst>
              <a:gd name="adj" fmla="val 12000"/>
            </a:avLst>
          </a:prstGeom>
          <a:solidFill>
            <a:srgbClr val="F6F0FC"/>
          </a:solidFill>
          <a:ln>
            <a:solidFill>
              <a:srgbClr val="8B6A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85800" y="1417320"/>
            <a:ext cx="64008" cy="4160520"/>
          </a:xfrm>
          <a:prstGeom prst="rect">
            <a:avLst/>
          </a:prstGeom>
          <a:solidFill>
            <a:srgbClr val="704896"/>
          </a:solidFill>
          <a:ln>
            <a:solidFill>
              <a:srgbClr val="704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1618488"/>
            <a:ext cx="457200" cy="320040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 algn="ctr">
              <a:defRPr sz="2000" b="1">
                <a:solidFill>
                  <a:srgbClr val="37E0C5"/>
                </a:solidFill>
                <a:latin typeface="Aptos"/>
              </a:defRPr>
            </a:pPr>
            <a:r>
              <a:rPr>
                <a:solidFill/>
              </a:rPr>
              <a:t>USER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1581912"/>
            <a:ext cx="2514600" cy="384048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1800" b="1">
                <a:solidFill>
                  <a:srgbClr val="F7FBFF"/>
                </a:solidFill>
                <a:latin typeface="Aptos"/>
              </a:defRPr>
            </a:pPr>
            <a:r>
              <a:rPr>
                <a:solidFill/>
              </a:rPr>
              <a:t>Emergency user portal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130552"/>
            <a:ext cx="3017520" cy="3282696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1450" b="0">
                <a:solidFill>
                  <a:srgbClr val="C4D3E4"/>
                </a:solidFill>
                <a:latin typeface="Aptos"/>
              </a:defRPr>
            </a:pPr>
            <a:r>
              <a:rPr>
                <a:solidFill/>
              </a:rPr>
              <a:t>• Profile and emergency information</a:t>
            </a:r>
            <a:br/>
            <a:r>
              <a:rPr>
                <a:solidFill/>
              </a:rPr>
              <a:t>• Keyword configuration and test control</a:t>
            </a:r>
            <a:br/>
            <a:r>
              <a:rPr>
                <a:solidFill/>
              </a:rPr>
              <a:t>• Trusted-member network and invitations</a:t>
            </a:r>
            <a:br/>
            <a:r>
              <a:rPr>
                <a:solidFill/>
              </a:rPr>
              <a:t>• Location and evidence permissions</a:t>
            </a:r>
            <a:br/>
            <a:r>
              <a:rPr>
                <a:solidFill/>
              </a:rPr>
              <a:t>• Wearable/device management</a:t>
            </a:r>
            <a:br/>
            <a:r>
              <a:rPr>
                <a:solidFill/>
              </a:rPr>
              <a:t>• Incident history and audit trail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0832" y="1417320"/>
            <a:ext cx="3474720" cy="4160520"/>
          </a:xfrm>
          <a:prstGeom prst="roundRect">
            <a:avLst>
              <a:gd name="adj" fmla="val 12000"/>
            </a:avLst>
          </a:prstGeom>
          <a:solidFill>
            <a:srgbClr val="F6F0FC"/>
          </a:solidFill>
          <a:ln>
            <a:solidFill>
              <a:srgbClr val="8B6A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370832" y="1417320"/>
            <a:ext cx="64008" cy="4160520"/>
          </a:xfrm>
          <a:prstGeom prst="rect">
            <a:avLst/>
          </a:prstGeom>
          <a:solidFill>
            <a:srgbClr val="9152A9"/>
          </a:solidFill>
          <a:ln>
            <a:solidFill>
              <a:srgbClr val="9152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99432" y="1618488"/>
            <a:ext cx="457200" cy="320040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 algn="ctr">
              <a:defRPr sz="2000" b="1">
                <a:solidFill>
                  <a:srgbClr val="FF7C6B"/>
                </a:solidFill>
                <a:latin typeface="Aptos"/>
              </a:defRPr>
            </a:pPr>
            <a:r>
              <a:rPr>
                <a:solidFill/>
              </a:rPr>
              <a:t>TEAM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02352" y="1581912"/>
            <a:ext cx="2514600" cy="384048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1800" b="1">
                <a:solidFill>
                  <a:srgbClr val="F7FBFF"/>
                </a:solidFill>
                <a:latin typeface="Aptos"/>
              </a:defRPr>
            </a:pPr>
            <a:r>
              <a:rPr>
                <a:solidFill/>
              </a:rPr>
              <a:t>Trusted-member console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9432" y="2130552"/>
            <a:ext cx="3017520" cy="3282696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1450" b="0">
                <a:solidFill>
                  <a:srgbClr val="C4D3E4"/>
                </a:solidFill>
                <a:latin typeface="Aptos"/>
              </a:defRPr>
            </a:pPr>
            <a:r>
              <a:rPr>
                <a:solidFill/>
              </a:rPr>
              <a:t>• Active emergencies and notifications</a:t>
            </a:r>
            <a:br/>
            <a:r>
              <a:rPr>
                <a:solidFill/>
              </a:rPr>
              <a:t>• City-data incident map and last known location</a:t>
            </a:r>
            <a:br/>
            <a:r>
              <a:rPr>
                <a:solidFill/>
              </a:rPr>
              <a:t>• Chronological evidence stream</a:t>
            </a:r>
            <a:br/>
            <a:r>
              <a:rPr>
                <a:solidFill/>
              </a:rPr>
              <a:t>• Latest wearable telemetry</a:t>
            </a:r>
            <a:br/>
            <a:r>
              <a:rPr>
                <a:solidFill/>
              </a:rPr>
              <a:t>• Acknowledge, respond, contact, escalate</a:t>
            </a:r>
            <a:br/>
            <a:r>
              <a:rPr>
                <a:solidFill/>
              </a:rPr>
              <a:t>• Resolve with resolution notes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55864" y="1417320"/>
            <a:ext cx="3474720" cy="4160520"/>
          </a:xfrm>
          <a:prstGeom prst="roundRect">
            <a:avLst>
              <a:gd name="adj" fmla="val 12000"/>
            </a:avLst>
          </a:prstGeom>
          <a:solidFill>
            <a:srgbClr val="F6F0FC"/>
          </a:solidFill>
          <a:ln>
            <a:solidFill>
              <a:srgbClr val="8B6A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055864" y="1417320"/>
            <a:ext cx="64008" cy="4160520"/>
          </a:xfrm>
          <a:prstGeom prst="rect">
            <a:avLst/>
          </a:prstGeom>
          <a:solidFill>
            <a:srgbClr val="AA79C3"/>
          </a:solidFill>
          <a:ln>
            <a:solidFill>
              <a:srgbClr val="AA79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84464" y="1618488"/>
            <a:ext cx="457200" cy="320040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 algn="ctr">
              <a:defRPr sz="2000" b="1">
                <a:solidFill>
                  <a:srgbClr val="FFD166"/>
                </a:solidFill>
                <a:latin typeface="Aptos"/>
              </a:defRPr>
            </a:pPr>
            <a:r>
              <a:rPr>
                <a:solidFill/>
              </a:rPr>
              <a:t>DEMO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87384" y="1581912"/>
            <a:ext cx="2514600" cy="384048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1800" b="1">
                <a:solidFill>
                  <a:srgbClr val="F7FBFF"/>
                </a:solidFill>
                <a:latin typeface="Aptos"/>
              </a:defRPr>
            </a:pPr>
            <a:r>
              <a:rPr>
                <a:solidFill/>
              </a:rPr>
              <a:t>Demo operator controls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4464" y="2130552"/>
            <a:ext cx="3017520" cy="3282696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1450" b="0">
                <a:solidFill>
                  <a:srgbClr val="C4D3E4"/>
                </a:solidFill>
                <a:latin typeface="Aptos"/>
              </a:defRPr>
            </a:pPr>
            <a:r>
              <a:rPr>
                <a:solidFill/>
              </a:rPr>
              <a:t>• Simulate keyword detection</a:t>
            </a:r>
            <a:br/>
            <a:r>
              <a:rPr>
                <a:solidFill/>
              </a:rPr>
              <a:t>• Trigger wearable button or fall</a:t>
            </a:r>
            <a:br/>
            <a:r>
              <a:rPr>
                <a:solidFill/>
              </a:rPr>
              <a:t>• Accelerate evidence interval</a:t>
            </a:r>
            <a:br/>
            <a:r>
              <a:rPr>
                <a:solidFill/>
              </a:rPr>
              <a:t>• Move simulated location along route</a:t>
            </a:r>
            <a:br/>
            <a:r>
              <a:rPr>
                <a:solidFill/>
              </a:rPr>
              <a:t>• Toggle connectivity and retry queue</a:t>
            </a:r>
            <a:br/>
            <a:r>
              <a:rPr>
                <a:solidFill/>
              </a:rPr>
              <a:t>• View system health and audit logs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D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464040" y="-594360"/>
            <a:ext cx="3886200" cy="3886200"/>
          </a:xfrm>
          <a:prstGeom prst="ellipse">
            <a:avLst/>
          </a:prstGeom>
          <a:solidFill>
            <a:srgbClr val="704896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1051560" y="5074920"/>
            <a:ext cx="3566160" cy="3566160"/>
          </a:xfrm>
          <a:prstGeom prst="ellipse">
            <a:avLst/>
          </a:prstGeom>
          <a:solidFill>
            <a:srgbClr val="9152A9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183879" y="5257800"/>
            <a:ext cx="2377440" cy="2377440"/>
          </a:xfrm>
          <a:prstGeom prst="ellipse">
            <a:avLst/>
          </a:prstGeom>
          <a:solidFill>
            <a:srgbClr val="AA79C3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5623560" y="-502920"/>
            <a:ext cx="2880360" cy="2880360"/>
          </a:xfrm>
          <a:prstGeom prst="ellipse">
            <a:avLst/>
          </a:prstGeom>
          <a:solidFill>
            <a:srgbClr val="7D57B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D57BE"/>
          </a:solidFill>
          <a:ln>
            <a:solidFill>
              <a:srgbClr val="7D5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329184"/>
            <a:ext cx="5486400" cy="274320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1200" b="1">
                <a:solidFill>
                  <a:srgbClr val="37E0C5"/>
                </a:solidFill>
                <a:latin typeface="Aptos"/>
              </a:defRPr>
            </a:pPr>
            <a:r>
              <a:rPr>
                <a:solidFill/>
              </a:rPr>
              <a:t>PRIMARY 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0080"/>
            <a:ext cx="10789920" cy="640080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3200" b="1">
                <a:solidFill>
                  <a:srgbClr val="F7FBFF"/>
                </a:solidFill>
                <a:latin typeface="Aptos"/>
              </a:defRPr>
            </a:pPr>
            <a:r>
              <a:rPr>
                <a:solidFill/>
              </a:rPr>
              <a:t>Activation and incident lifecycle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384048"/>
            <a:ext cx="502920" cy="274320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 algn="r">
              <a:defRPr sz="1100" b="1">
                <a:solidFill>
                  <a:srgbClr val="C4D3E4"/>
                </a:solidFill>
                <a:latin typeface="Aptos"/>
              </a:defRPr>
            </a:pPr>
            <a:r>
              <a:rPr>
                <a:solidFill/>
              </a:rPr>
              <a:t>09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71016" y="2048256"/>
            <a:ext cx="1691640" cy="45720"/>
          </a:xfrm>
          <a:prstGeom prst="rect">
            <a:avLst/>
          </a:prstGeom>
          <a:solidFill>
            <a:srgbClr val="8B6AA9"/>
          </a:solidFill>
          <a:ln>
            <a:solidFill>
              <a:srgbClr val="8B6A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49808" y="1783080"/>
            <a:ext cx="438912" cy="438912"/>
          </a:xfrm>
          <a:prstGeom prst="roundRect">
            <a:avLst>
              <a:gd name="adj" fmla="val 12000"/>
            </a:avLst>
          </a:prstGeom>
          <a:solidFill>
            <a:srgbClr val="4E3D5F"/>
          </a:solidFill>
          <a:ln>
            <a:solidFill>
              <a:srgbClr val="4E3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9808" y="1847088"/>
            <a:ext cx="438912" cy="182880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 algn="ctr">
              <a:defRPr sz="1200" b="1">
                <a:solidFill>
                  <a:srgbClr val="1F1031"/>
                </a:solidFill>
                <a:latin typeface="Aptos"/>
              </a:defRPr>
            </a:pPr>
            <a:r>
              <a:rPr>
                <a:solidFill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7" y="2496312"/>
            <a:ext cx="914400" cy="274320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 algn="ctr">
              <a:defRPr sz="1000" b="1">
                <a:solidFill>
                  <a:srgbClr val="C4D3E4"/>
                </a:solidFill>
                <a:latin typeface="Aptos"/>
              </a:defRPr>
            </a:pPr>
            <a:r>
              <a:rPr>
                <a:solidFill/>
              </a:rPr>
              <a:t>STANDBY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7" y="2880360"/>
            <a:ext cx="1463040" cy="384048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 algn="ctr">
              <a:defRPr sz="1100" b="0">
                <a:solidFill>
                  <a:srgbClr val="C4D3E4"/>
                </a:solidFill>
                <a:latin typeface="Aptos"/>
              </a:defRPr>
            </a:pPr>
            <a:r>
              <a:rPr>
                <a:solidFill/>
              </a:rPr>
              <a:t>Ready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83863" y="2048256"/>
            <a:ext cx="1691640" cy="45720"/>
          </a:xfrm>
          <a:prstGeom prst="rect">
            <a:avLst/>
          </a:prstGeom>
          <a:solidFill>
            <a:srgbClr val="8B6AA9"/>
          </a:solidFill>
          <a:ln>
            <a:solidFill>
              <a:srgbClr val="8B6A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2962656" y="1783080"/>
            <a:ext cx="438912" cy="438912"/>
          </a:xfrm>
          <a:prstGeom prst="roundRect">
            <a:avLst>
              <a:gd name="adj" fmla="val 12000"/>
            </a:avLst>
          </a:prstGeom>
          <a:solidFill>
            <a:srgbClr val="9152A9"/>
          </a:solidFill>
          <a:ln>
            <a:solidFill>
              <a:srgbClr val="9152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962656" y="1847088"/>
            <a:ext cx="438912" cy="182880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 algn="ctr">
              <a:defRPr sz="1200" b="1">
                <a:solidFill>
                  <a:srgbClr val="1F1031"/>
                </a:solidFill>
                <a:latin typeface="Aptos"/>
              </a:defRPr>
            </a:pPr>
            <a:r>
              <a:rPr>
                <a:solidFill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34056" y="2496312"/>
            <a:ext cx="914400" cy="274320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 algn="ctr">
              <a:defRPr sz="1000" b="1">
                <a:solidFill>
                  <a:srgbClr val="FF7C6B"/>
                </a:solidFill>
                <a:latin typeface="Aptos"/>
              </a:defRPr>
            </a:pPr>
            <a:r>
              <a:rPr>
                <a:solidFill/>
              </a:rPr>
              <a:t>ACTIVATED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59735" y="2880360"/>
            <a:ext cx="1463040" cy="384048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 algn="ctr">
              <a:defRPr sz="1100" b="0">
                <a:solidFill>
                  <a:srgbClr val="C4D3E4"/>
                </a:solidFill>
                <a:latin typeface="Aptos"/>
              </a:defRPr>
            </a:pPr>
            <a:r>
              <a:rPr>
                <a:solidFill/>
              </a:rPr>
              <a:t>Signal received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96712" y="2048256"/>
            <a:ext cx="1691640" cy="45720"/>
          </a:xfrm>
          <a:prstGeom prst="rect">
            <a:avLst/>
          </a:prstGeom>
          <a:solidFill>
            <a:srgbClr val="8B6AA9"/>
          </a:solidFill>
          <a:ln>
            <a:solidFill>
              <a:srgbClr val="8B6A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5175504" y="1783080"/>
            <a:ext cx="438912" cy="438912"/>
          </a:xfrm>
          <a:prstGeom prst="roundRect">
            <a:avLst>
              <a:gd name="adj" fmla="val 12000"/>
            </a:avLst>
          </a:prstGeom>
          <a:solidFill>
            <a:srgbClr val="704896"/>
          </a:solidFill>
          <a:ln>
            <a:solidFill>
              <a:srgbClr val="704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175504" y="1847088"/>
            <a:ext cx="438912" cy="182880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 algn="ctr">
              <a:defRPr sz="1200" b="1">
                <a:solidFill>
                  <a:srgbClr val="1F1031"/>
                </a:solidFill>
                <a:latin typeface="Aptos"/>
              </a:defRPr>
            </a:pPr>
            <a:r>
              <a:rPr>
                <a:solidFill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46904" y="2496312"/>
            <a:ext cx="914400" cy="274320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 algn="ctr">
              <a:defRPr sz="1000" b="1">
                <a:solidFill>
                  <a:srgbClr val="37E0C5"/>
                </a:solidFill>
                <a:latin typeface="Aptos"/>
              </a:defRPr>
            </a:pPr>
            <a:r>
              <a:rPr>
                <a:solidFill/>
              </a:rPr>
              <a:t>COLLECTING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72584" y="2880360"/>
            <a:ext cx="1463040" cy="384048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 algn="ctr">
              <a:defRPr sz="1100" b="0">
                <a:solidFill>
                  <a:srgbClr val="C4D3E4"/>
                </a:solidFill>
                <a:latin typeface="Aptos"/>
              </a:defRPr>
            </a:pPr>
            <a:r>
              <a:rPr>
                <a:solidFill/>
              </a:rPr>
              <a:t>Evidence live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09560" y="2048256"/>
            <a:ext cx="1691640" cy="45720"/>
          </a:xfrm>
          <a:prstGeom prst="rect">
            <a:avLst/>
          </a:prstGeom>
          <a:solidFill>
            <a:srgbClr val="8B6AA9"/>
          </a:solidFill>
          <a:ln>
            <a:solidFill>
              <a:srgbClr val="8B6A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7388352" y="1783080"/>
            <a:ext cx="438912" cy="438912"/>
          </a:xfrm>
          <a:prstGeom prst="roundRect">
            <a:avLst>
              <a:gd name="adj" fmla="val 12000"/>
            </a:avLst>
          </a:prstGeom>
          <a:solidFill>
            <a:srgbClr val="AA79C3"/>
          </a:solidFill>
          <a:ln>
            <a:solidFill>
              <a:srgbClr val="AA79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388352" y="1847088"/>
            <a:ext cx="438912" cy="182880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 algn="ctr">
              <a:defRPr sz="1200" b="1">
                <a:solidFill>
                  <a:srgbClr val="1F1031"/>
                </a:solidFill>
                <a:latin typeface="Aptos"/>
              </a:defRPr>
            </a:pPr>
            <a:r>
              <a:rPr>
                <a:solidFill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59752" y="2496312"/>
            <a:ext cx="914400" cy="274320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 algn="ctr">
              <a:defRPr sz="1000" b="1">
                <a:solidFill>
                  <a:srgbClr val="FFD166"/>
                </a:solidFill>
                <a:latin typeface="Aptos"/>
              </a:defRPr>
            </a:pPr>
            <a:r>
              <a:rPr>
                <a:solidFill/>
              </a:rPr>
              <a:t>RESPONDING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85432" y="2880360"/>
            <a:ext cx="1463040" cy="384048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 algn="ctr">
              <a:defRPr sz="1100" b="0">
                <a:solidFill>
                  <a:srgbClr val="C4D3E4"/>
                </a:solidFill>
                <a:latin typeface="Aptos"/>
              </a:defRPr>
            </a:pPr>
            <a:r>
              <a:rPr>
                <a:solidFill/>
              </a:rPr>
              <a:t>Human action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01200" y="1783080"/>
            <a:ext cx="438912" cy="438912"/>
          </a:xfrm>
          <a:prstGeom prst="roundRect">
            <a:avLst>
              <a:gd name="adj" fmla="val 12000"/>
            </a:avLst>
          </a:prstGeom>
          <a:solidFill>
            <a:srgbClr val="BE9BDC"/>
          </a:solidFill>
          <a:ln>
            <a:solidFill>
              <a:srgbClr val="BE9B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601200" y="1847088"/>
            <a:ext cx="438912" cy="182880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 algn="ctr">
              <a:defRPr sz="1200" b="1">
                <a:solidFill>
                  <a:srgbClr val="1F1031"/>
                </a:solidFill>
                <a:latin typeface="Aptos"/>
              </a:defRPr>
            </a:pPr>
            <a:r>
              <a:rPr>
                <a:solidFill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72600" y="2496312"/>
            <a:ext cx="914400" cy="274320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 algn="ctr">
              <a:defRPr sz="1000" b="1">
                <a:solidFill>
                  <a:srgbClr val="73E29A"/>
                </a:solidFill>
                <a:latin typeface="Aptos"/>
              </a:defRPr>
            </a:pPr>
            <a:r>
              <a:rPr>
                <a:solidFill/>
              </a:rPr>
              <a:t>RESOLVED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98280" y="2880360"/>
            <a:ext cx="1463040" cy="384048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 algn="ctr">
              <a:defRPr sz="1100" b="0">
                <a:solidFill>
                  <a:srgbClr val="C4D3E4"/>
                </a:solidFill>
                <a:latin typeface="Aptos"/>
              </a:defRPr>
            </a:pPr>
            <a:r>
              <a:rPr>
                <a:solidFill/>
              </a:rPr>
              <a:t>Closed safely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3886200"/>
            <a:ext cx="3246120" cy="1143000"/>
          </a:xfrm>
          <a:prstGeom prst="roundRect">
            <a:avLst>
              <a:gd name="adj" fmla="val 12000"/>
            </a:avLst>
          </a:prstGeom>
          <a:solidFill>
            <a:srgbClr val="F6F0FC"/>
          </a:solidFill>
          <a:ln>
            <a:solidFill>
              <a:srgbClr val="8B6A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22960" y="3886200"/>
            <a:ext cx="64008" cy="1143000"/>
          </a:xfrm>
          <a:prstGeom prst="rect">
            <a:avLst/>
          </a:prstGeom>
          <a:solidFill>
            <a:srgbClr val="9152A9"/>
          </a:solidFill>
          <a:ln>
            <a:solidFill>
              <a:srgbClr val="9152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51560" y="4087368"/>
            <a:ext cx="457200" cy="320040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 algn="ctr">
              <a:defRPr sz="2000" b="1">
                <a:solidFill>
                  <a:srgbClr val="FF7C6B"/>
                </a:solidFill>
                <a:latin typeface="Aptos"/>
              </a:defRPr>
            </a:pPr>
            <a:r>
              <a:rPr>
                <a:solidFill/>
              </a:rPr>
              <a:t>⚡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54480" y="4050791"/>
            <a:ext cx="2286000" cy="384048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1800" b="1">
                <a:solidFill>
                  <a:srgbClr val="F7FBFF"/>
                </a:solidFill>
                <a:latin typeface="Aptos"/>
              </a:defRPr>
            </a:pPr>
            <a:r>
              <a:rPr>
                <a:solidFill/>
              </a:rPr>
              <a:t>Activation event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" y="4599432"/>
            <a:ext cx="2788920" cy="265176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1450" b="0">
                <a:solidFill>
                  <a:srgbClr val="C4D3E4"/>
                </a:solidFill>
                <a:latin typeface="Aptos"/>
              </a:defRPr>
            </a:pPr>
            <a:r>
              <a:rPr>
                <a:solidFill/>
              </a:rPr>
              <a:t>Keyword HELP • wearable button • simulated fall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462272" y="3886200"/>
            <a:ext cx="3246120" cy="1143000"/>
          </a:xfrm>
          <a:prstGeom prst="roundRect">
            <a:avLst>
              <a:gd name="adj" fmla="val 12000"/>
            </a:avLst>
          </a:prstGeom>
          <a:solidFill>
            <a:srgbClr val="F6F0FC"/>
          </a:solidFill>
          <a:ln>
            <a:solidFill>
              <a:srgbClr val="8B6A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4462272" y="3886200"/>
            <a:ext cx="64008" cy="1143000"/>
          </a:xfrm>
          <a:prstGeom prst="rect">
            <a:avLst/>
          </a:prstGeom>
          <a:solidFill>
            <a:srgbClr val="704896"/>
          </a:solidFill>
          <a:ln>
            <a:solidFill>
              <a:srgbClr val="704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690872" y="4087368"/>
            <a:ext cx="457200" cy="320040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 algn="ctr">
              <a:defRPr sz="2000" b="1">
                <a:solidFill>
                  <a:srgbClr val="37E0C5"/>
                </a:solidFill>
                <a:latin typeface="Aptos"/>
              </a:defRPr>
            </a:pPr>
            <a:r>
              <a:rPr>
                <a:solidFill/>
              </a:rPr>
              <a:t>▣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93792" y="4050791"/>
            <a:ext cx="2286000" cy="384048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1800" b="1">
                <a:solidFill>
                  <a:srgbClr val="F7FBFF"/>
                </a:solidFill>
                <a:latin typeface="Aptos"/>
              </a:defRPr>
            </a:pPr>
            <a:r>
              <a:rPr>
                <a:solidFill/>
              </a:rPr>
              <a:t>Incident record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90872" y="4599432"/>
            <a:ext cx="2788920" cy="265176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1450" b="0">
                <a:solidFill>
                  <a:srgbClr val="C4D3E4"/>
                </a:solidFill>
                <a:latin typeface="Aptos"/>
              </a:defRPr>
            </a:pPr>
            <a:r>
              <a:rPr>
                <a:solidFill/>
              </a:rPr>
              <a:t>ID, user, time, method, priority, location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101583" y="3886200"/>
            <a:ext cx="3246120" cy="1143000"/>
          </a:xfrm>
          <a:prstGeom prst="roundRect">
            <a:avLst>
              <a:gd name="adj" fmla="val 12000"/>
            </a:avLst>
          </a:prstGeom>
          <a:solidFill>
            <a:srgbClr val="F6F0FC"/>
          </a:solidFill>
          <a:ln>
            <a:solidFill>
              <a:srgbClr val="8B6A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8101583" y="3886200"/>
            <a:ext cx="64008" cy="1143000"/>
          </a:xfrm>
          <a:prstGeom prst="rect">
            <a:avLst/>
          </a:prstGeom>
          <a:solidFill>
            <a:srgbClr val="AA79C3"/>
          </a:solidFill>
          <a:ln>
            <a:solidFill>
              <a:srgbClr val="AA79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330183" y="4087368"/>
            <a:ext cx="457200" cy="320040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 algn="ctr">
              <a:defRPr sz="2000" b="1">
                <a:solidFill>
                  <a:srgbClr val="FFD166"/>
                </a:solidFill>
                <a:latin typeface="Aptos"/>
              </a:defRPr>
            </a:pPr>
            <a:r>
              <a:rPr>
                <a:solidFill/>
              </a:rPr>
              <a:t>✓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33104" y="4050791"/>
            <a:ext cx="2286000" cy="384048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1800" b="1">
                <a:solidFill>
                  <a:srgbClr val="F7FBFF"/>
                </a:solidFill>
                <a:latin typeface="Aptos"/>
              </a:defRPr>
            </a:pPr>
            <a:r>
              <a:rPr>
                <a:solidFill/>
              </a:rPr>
              <a:t>Human response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30183" y="4599432"/>
            <a:ext cx="2788920" cy="265176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1450" b="0">
                <a:solidFill>
                  <a:srgbClr val="C4D3E4"/>
                </a:solidFill>
                <a:latin typeface="Aptos"/>
              </a:defRPr>
            </a:pPr>
            <a:r>
              <a:rPr>
                <a:solidFill/>
              </a:rPr>
              <a:t>Acknowledge → Responding → Resolve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D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464040" y="-594360"/>
            <a:ext cx="3886200" cy="3886200"/>
          </a:xfrm>
          <a:prstGeom prst="ellipse">
            <a:avLst/>
          </a:prstGeom>
          <a:solidFill>
            <a:srgbClr val="704896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1051560" y="5074920"/>
            <a:ext cx="3566160" cy="3566160"/>
          </a:xfrm>
          <a:prstGeom prst="ellipse">
            <a:avLst/>
          </a:prstGeom>
          <a:solidFill>
            <a:srgbClr val="9152A9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183879" y="5257800"/>
            <a:ext cx="2377440" cy="2377440"/>
          </a:xfrm>
          <a:prstGeom prst="ellipse">
            <a:avLst/>
          </a:prstGeom>
          <a:solidFill>
            <a:srgbClr val="AA79C3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5623560" y="-502920"/>
            <a:ext cx="2880360" cy="2880360"/>
          </a:xfrm>
          <a:prstGeom prst="ellipse">
            <a:avLst/>
          </a:prstGeom>
          <a:solidFill>
            <a:srgbClr val="7D57B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D57BE"/>
          </a:solidFill>
          <a:ln>
            <a:solidFill>
              <a:srgbClr val="7D5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329184"/>
            <a:ext cx="5486400" cy="274320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1200" b="1">
                <a:solidFill>
                  <a:srgbClr val="37E0C5"/>
                </a:solidFill>
                <a:latin typeface="Aptos"/>
              </a:defRPr>
            </a:pPr>
            <a:r>
              <a:rPr>
                <a:solidFill/>
              </a:rPr>
              <a:t>WHAT JUDGES WILL SEE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0080"/>
            <a:ext cx="10789920" cy="640080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3200" b="1">
                <a:solidFill>
                  <a:srgbClr val="F7FBFF"/>
                </a:solidFill>
                <a:latin typeface="Aptos"/>
              </a:defRPr>
            </a:pPr>
            <a:r>
              <a:rPr>
                <a:solidFill/>
              </a:rPr>
              <a:t>Live incident room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384048"/>
            <a:ext cx="502920" cy="274320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 algn="r">
              <a:defRPr sz="1100" b="1">
                <a:solidFill>
                  <a:srgbClr val="C4D3E4"/>
                </a:solidFill>
                <a:latin typeface="Aptos"/>
              </a:defRPr>
            </a:pPr>
            <a:r>
              <a:rPr>
                <a:solidFill/>
              </a:rPr>
              <a:t>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298448"/>
            <a:ext cx="10927080" cy="4800600"/>
          </a:xfrm>
          <a:prstGeom prst="roundRect">
            <a:avLst>
              <a:gd name="adj" fmla="val 12000"/>
            </a:avLst>
          </a:prstGeom>
          <a:solidFill>
            <a:srgbClr val="F6F0FC"/>
          </a:solidFill>
          <a:ln>
            <a:solidFill>
              <a:srgbClr val="8B6A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58368" y="1298448"/>
            <a:ext cx="10927080" cy="530352"/>
          </a:xfrm>
          <a:prstGeom prst="roundRect">
            <a:avLst>
              <a:gd name="adj" fmla="val 12000"/>
            </a:avLst>
          </a:prstGeom>
          <a:solidFill>
            <a:srgbClr val="EDE1F7"/>
          </a:solidFill>
          <a:ln>
            <a:solidFill>
              <a:srgbClr val="EDE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1463040"/>
            <a:ext cx="3657600" cy="201168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1100" b="1">
                <a:solidFill>
                  <a:srgbClr val="F7FBFF"/>
                </a:solidFill>
                <a:latin typeface="Aptos"/>
              </a:defRPr>
            </a:pPr>
            <a:r>
              <a:rPr>
                <a:solidFill/>
              </a:rPr>
              <a:t>ACTIVE INCIDENT  #INC-2048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46920" y="1435608"/>
            <a:ext cx="1371600" cy="228600"/>
          </a:xfrm>
          <a:prstGeom prst="roundRect">
            <a:avLst>
              <a:gd name="adj" fmla="val 12000"/>
            </a:avLst>
          </a:prstGeom>
          <a:solidFill>
            <a:srgbClr val="9152A9"/>
          </a:solidFill>
          <a:ln>
            <a:solidFill>
              <a:srgbClr val="9152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848088" y="1453896"/>
            <a:ext cx="960120" cy="146304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 algn="ctr">
              <a:defRPr sz="900" b="1">
                <a:solidFill>
                  <a:srgbClr val="1F1031"/>
                </a:solidFill>
                <a:latin typeface="Aptos"/>
              </a:defRPr>
            </a:pPr>
            <a:r>
              <a:rPr>
                <a:solidFill/>
              </a:rPr>
              <a:t>● LIVE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2148840"/>
            <a:ext cx="2880360" cy="3429000"/>
          </a:xfrm>
          <a:prstGeom prst="roundRect">
            <a:avLst>
              <a:gd name="adj" fmla="val 12000"/>
            </a:avLst>
          </a:prstGeom>
          <a:solidFill>
            <a:srgbClr val="E5D8F6"/>
          </a:solidFill>
          <a:ln>
            <a:solidFill>
              <a:srgbClr val="8B6A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24712" y="2404872"/>
            <a:ext cx="2377440" cy="201168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1000" b="1">
                <a:solidFill>
                  <a:srgbClr val="37E0C5"/>
                </a:solidFill>
                <a:latin typeface="Aptos"/>
              </a:defRPr>
            </a:pPr>
            <a:r>
              <a:rPr>
                <a:solidFill/>
              </a:rPr>
              <a:t>LAST KNOWN LOCATION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" y="2770632"/>
            <a:ext cx="2377440" cy="274320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1600" b="1">
                <a:solidFill>
                  <a:srgbClr val="F7FBFF"/>
                </a:solidFill>
                <a:latin typeface="Aptos"/>
              </a:defRPr>
            </a:pPr>
            <a:r>
              <a:rPr>
                <a:solidFill/>
              </a:rPr>
              <a:t>Mbombela, Mpumalanga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" y="3273552"/>
            <a:ext cx="2377440" cy="1143000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1200" b="0">
                <a:solidFill>
                  <a:srgbClr val="C4D3E4"/>
                </a:solidFill>
                <a:latin typeface="Aptos"/>
              </a:defRPr>
            </a:pPr>
            <a:r>
              <a:rPr>
                <a:solidFill/>
              </a:rPr>
              <a:t>Latitude  −25.4745</a:t>
            </a:r>
            <a:br/>
            <a:r>
              <a:rPr>
                <a:solidFill/>
              </a:rPr>
              <a:t>Longitude  30.9703</a:t>
            </a:r>
            <a:br/>
            <a:r>
              <a:rPr>
                <a:solidFill/>
              </a:rPr>
              <a:t>Accuracy  ±8 m</a:t>
            </a:r>
            <a:br/>
            <a:r>
              <a:rPr>
                <a:solidFill/>
              </a:rPr>
              <a:t>Updated  14:32:20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41648" y="2148840"/>
            <a:ext cx="2971800" cy="3429000"/>
          </a:xfrm>
          <a:prstGeom prst="roundRect">
            <a:avLst>
              <a:gd name="adj" fmla="val 12000"/>
            </a:avLst>
          </a:prstGeom>
          <a:solidFill>
            <a:srgbClr val="E5D8F6"/>
          </a:solidFill>
          <a:ln>
            <a:solidFill>
              <a:srgbClr val="8B6A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270248" y="2404872"/>
            <a:ext cx="2194560" cy="201168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1000" b="1">
                <a:solidFill>
                  <a:srgbClr val="37E0C5"/>
                </a:solidFill>
                <a:latin typeface="Aptos"/>
              </a:defRPr>
            </a:pPr>
            <a:r>
              <a:rPr>
                <a:solidFill/>
              </a:rPr>
              <a:t>TIMELINE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70248" y="2834640"/>
            <a:ext cx="2286000" cy="228600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1050" b="0">
                <a:solidFill>
                  <a:srgbClr val="C4D3E4"/>
                </a:solidFill>
                <a:latin typeface="Aptos"/>
              </a:defRPr>
            </a:pPr>
            <a:r>
              <a:rPr>
                <a:solidFill/>
              </a:rPr>
              <a:t>14:32:05  Keyword detected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70248" y="3273552"/>
            <a:ext cx="2286000" cy="228600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1050" b="0">
                <a:solidFill>
                  <a:srgbClr val="C4D3E4"/>
                </a:solidFill>
                <a:latin typeface="Aptos"/>
              </a:defRPr>
            </a:pPr>
            <a:r>
              <a:rPr>
                <a:solidFill/>
              </a:rPr>
              <a:t>14:32:08  Members notified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70248" y="3712464"/>
            <a:ext cx="2286000" cy="228600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1050" b="0">
                <a:solidFill>
                  <a:srgbClr val="C4D3E4"/>
                </a:solidFill>
                <a:latin typeface="Aptos"/>
              </a:defRPr>
            </a:pPr>
            <a:r>
              <a:rPr>
                <a:solidFill/>
              </a:rPr>
              <a:t>14:32:15  Audio received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0248" y="4151376"/>
            <a:ext cx="2286000" cy="228600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1050" b="0">
                <a:solidFill>
                  <a:srgbClr val="C4D3E4"/>
                </a:solidFill>
                <a:latin typeface="Aptos"/>
              </a:defRPr>
            </a:pPr>
            <a:r>
              <a:rPr>
                <a:solidFill/>
              </a:rPr>
              <a:t>14:32:30  Telemetry received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70248" y="4590288"/>
            <a:ext cx="2286000" cy="228600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1050" b="1">
                <a:solidFill>
                  <a:srgbClr val="F7FBFF"/>
                </a:solidFill>
                <a:latin typeface="Aptos"/>
              </a:defRPr>
            </a:pPr>
            <a:r>
              <a:rPr>
                <a:solidFill/>
              </a:rPr>
              <a:t>14:32:35  Acknowledged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60336" y="2148840"/>
            <a:ext cx="3657600" cy="3429000"/>
          </a:xfrm>
          <a:prstGeom prst="roundRect">
            <a:avLst>
              <a:gd name="adj" fmla="val 12000"/>
            </a:avLst>
          </a:prstGeom>
          <a:solidFill>
            <a:srgbClr val="E5D8F6"/>
          </a:solidFill>
          <a:ln>
            <a:solidFill>
              <a:srgbClr val="8B6A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498079" y="2404872"/>
            <a:ext cx="2743200" cy="201168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1000" b="1">
                <a:solidFill>
                  <a:srgbClr val="FFD166"/>
                </a:solidFill>
                <a:latin typeface="Aptos"/>
              </a:defRPr>
            </a:pPr>
            <a:r>
              <a:rPr>
                <a:solidFill/>
              </a:rPr>
              <a:t>SIMULATED DEVICE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2761488"/>
            <a:ext cx="2011680" cy="274320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1600" b="1">
                <a:solidFill>
                  <a:srgbClr val="F7FBFF"/>
                </a:solidFill>
                <a:latin typeface="Aptos"/>
              </a:defRPr>
            </a:pPr>
            <a:r>
              <a:rPr>
                <a:solidFill/>
              </a:rPr>
              <a:t>SafeWatch Demo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79" y="3182112"/>
            <a:ext cx="2743200" cy="228600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1200" b="1">
                <a:solidFill>
                  <a:srgbClr val="73E29A"/>
                </a:solidFill>
                <a:latin typeface="Aptos"/>
              </a:defRPr>
            </a:pPr>
            <a:r>
              <a:rPr>
                <a:solidFill/>
              </a:rPr>
              <a:t>● Connected    Battery 78%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3639312"/>
            <a:ext cx="2926080" cy="1188720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1200" b="0">
                <a:solidFill>
                  <a:srgbClr val="C4D3E4"/>
                </a:solidFill>
                <a:latin typeface="Aptos"/>
              </a:defRPr>
            </a:pPr>
            <a:r>
              <a:rPr>
                <a:solidFill/>
              </a:rPr>
              <a:t>Heart rate     92 BPM</a:t>
            </a:r>
            <a:br/>
            <a:r>
              <a:rPr>
                <a:solidFill/>
              </a:rPr>
              <a:t>Motion         Walking</a:t>
            </a:r>
            <a:br/>
            <a:r>
              <a:rPr>
                <a:solidFill/>
              </a:rPr>
              <a:t>Fall detection  Normal</a:t>
            </a:r>
            <a:br/>
            <a:r>
              <a:rPr>
                <a:solidFill/>
              </a:rPr>
              <a:t>GPS            Available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D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464040" y="-594360"/>
            <a:ext cx="3886200" cy="3886200"/>
          </a:xfrm>
          <a:prstGeom prst="ellipse">
            <a:avLst/>
          </a:prstGeom>
          <a:solidFill>
            <a:srgbClr val="704896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1051560" y="5074920"/>
            <a:ext cx="3566160" cy="3566160"/>
          </a:xfrm>
          <a:prstGeom prst="ellipse">
            <a:avLst/>
          </a:prstGeom>
          <a:solidFill>
            <a:srgbClr val="9152A9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183879" y="5257800"/>
            <a:ext cx="2377440" cy="2377440"/>
          </a:xfrm>
          <a:prstGeom prst="ellipse">
            <a:avLst/>
          </a:prstGeom>
          <a:solidFill>
            <a:srgbClr val="AA79C3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5623560" y="-502920"/>
            <a:ext cx="2880360" cy="2880360"/>
          </a:xfrm>
          <a:prstGeom prst="ellipse">
            <a:avLst/>
          </a:prstGeom>
          <a:solidFill>
            <a:srgbClr val="7D57B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D57BE"/>
          </a:solidFill>
          <a:ln>
            <a:solidFill>
              <a:srgbClr val="7D5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329184"/>
            <a:ext cx="5486400" cy="274320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1200" b="1">
                <a:solidFill>
                  <a:srgbClr val="37E0C5"/>
                </a:solidFill>
                <a:latin typeface="Aptos"/>
              </a:defRPr>
            </a:pPr>
            <a:r>
              <a:rPr>
                <a:solidFill/>
              </a:rPr>
              <a:t>COLLECTION AND TRANSMISSION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0080"/>
            <a:ext cx="10789920" cy="640080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3200" b="1">
                <a:solidFill>
                  <a:srgbClr val="F7FBFF"/>
                </a:solidFill>
                <a:latin typeface="Aptos"/>
              </a:defRPr>
            </a:pPr>
            <a:r>
              <a:rPr>
                <a:solidFill/>
              </a:rPr>
              <a:t>Evidence is a live, accountable stream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384048"/>
            <a:ext cx="502920" cy="274320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 algn="r">
              <a:defRPr sz="1100" b="1">
                <a:solidFill>
                  <a:srgbClr val="C4D3E4"/>
                </a:solidFill>
                <a:latin typeface="Aptos"/>
              </a:defRPr>
            </a:pPr>
            <a:r>
              <a:rPr>
                <a:solidFill/>
              </a:rPr>
              <a:t>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298448"/>
            <a:ext cx="10332720" cy="411480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1700" b="1">
                <a:solidFill>
                  <a:srgbClr val="F7FBFF"/>
                </a:solidFill>
                <a:latin typeface="Aptos"/>
              </a:defRPr>
            </a:pPr>
            <a:r>
              <a:rPr>
                <a:solidFill/>
              </a:rPr>
              <a:t>The prototype makes the 10-second concept observable — and lets the operator accelerate it for a fast demo.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965960"/>
            <a:ext cx="6629400" cy="3611880"/>
          </a:xfrm>
          <a:prstGeom prst="roundRect">
            <a:avLst>
              <a:gd name="adj" fmla="val 12000"/>
            </a:avLst>
          </a:prstGeom>
          <a:solidFill>
            <a:srgbClr val="F6F0FC"/>
          </a:solidFill>
          <a:ln>
            <a:solidFill>
              <a:srgbClr val="8B6A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32688" y="2212848"/>
            <a:ext cx="2743200" cy="228600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1000" b="1">
                <a:solidFill>
                  <a:srgbClr val="37E0C5"/>
                </a:solidFill>
                <a:latin typeface="Aptos"/>
              </a:defRPr>
            </a:pPr>
            <a:r>
              <a:rPr>
                <a:solidFill/>
              </a:rPr>
              <a:t>EVIDENCE STREAM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23560" y="2212848"/>
            <a:ext cx="1371600" cy="228600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 algn="r">
              <a:defRPr sz="1000" b="1">
                <a:solidFill>
                  <a:srgbClr val="FFD166"/>
                </a:solidFill>
                <a:latin typeface="Aptos"/>
              </a:defRPr>
            </a:pPr>
            <a:r>
              <a:rPr>
                <a:solidFill/>
              </a:rPr>
              <a:t>DEMO INTERVAL  2 sec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2688" y="2670048"/>
            <a:ext cx="6126480" cy="384048"/>
          </a:xfrm>
          <a:prstGeom prst="roundRect">
            <a:avLst>
              <a:gd name="adj" fmla="val 12000"/>
            </a:avLst>
          </a:prstGeom>
          <a:solidFill>
            <a:srgbClr val="E5D8F6"/>
          </a:solidFill>
          <a:ln>
            <a:solidFill>
              <a:srgbClr val="E5D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78992" y="2752344"/>
            <a:ext cx="1005840" cy="164592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1000" b="0">
                <a:solidFill>
                  <a:srgbClr val="C4D3E4"/>
                </a:solidFill>
                <a:latin typeface="Aptos"/>
              </a:defRPr>
            </a:pPr>
            <a:r>
              <a:rPr>
                <a:solidFill/>
              </a:rPr>
              <a:t>14:32:15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12848" y="2743200"/>
            <a:ext cx="2103120" cy="182880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1100" b="1">
                <a:solidFill>
                  <a:srgbClr val="F7FBFF"/>
                </a:solidFill>
                <a:latin typeface="Aptos"/>
              </a:defRPr>
            </a:pPr>
            <a:r>
              <a:rPr>
                <a:solidFill/>
              </a:rPr>
              <a:t>Audio segment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4920" y="2752344"/>
            <a:ext cx="1417320" cy="164592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 algn="r">
              <a:defRPr sz="950" b="1">
                <a:solidFill>
                  <a:srgbClr val="37E0C5"/>
                </a:solidFill>
                <a:latin typeface="Aptos"/>
              </a:defRPr>
            </a:pPr>
            <a:r>
              <a:rPr>
                <a:solidFill/>
              </a:rPr>
              <a:t>UPLOADED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2688" y="3191256"/>
            <a:ext cx="6126480" cy="384048"/>
          </a:xfrm>
          <a:prstGeom prst="roundRect">
            <a:avLst>
              <a:gd name="adj" fmla="val 12000"/>
            </a:avLst>
          </a:prstGeom>
          <a:solidFill>
            <a:srgbClr val="E5D8F6"/>
          </a:solidFill>
          <a:ln>
            <a:solidFill>
              <a:srgbClr val="E5D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78992" y="3273551"/>
            <a:ext cx="1005840" cy="164592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1000" b="0">
                <a:solidFill>
                  <a:srgbClr val="C4D3E4"/>
                </a:solidFill>
                <a:latin typeface="Aptos"/>
              </a:defRPr>
            </a:pPr>
            <a:r>
              <a:rPr>
                <a:solidFill/>
              </a:rPr>
              <a:t>14:32:20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12848" y="3264408"/>
            <a:ext cx="2103120" cy="182880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1100" b="1">
                <a:solidFill>
                  <a:srgbClr val="F7FBFF"/>
                </a:solidFill>
                <a:latin typeface="Aptos"/>
              </a:defRPr>
            </a:pPr>
            <a:r>
              <a:rPr>
                <a:solidFill/>
              </a:rPr>
              <a:t>Location update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74920" y="3273551"/>
            <a:ext cx="1417320" cy="164592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 algn="r">
              <a:defRPr sz="950" b="1">
                <a:solidFill>
                  <a:srgbClr val="73E29A"/>
                </a:solidFill>
                <a:latin typeface="Aptos"/>
              </a:defRPr>
            </a:pPr>
            <a:r>
              <a:rPr>
                <a:solidFill/>
              </a:rPr>
              <a:t>RECEIVED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2688" y="3712463"/>
            <a:ext cx="6126480" cy="384048"/>
          </a:xfrm>
          <a:prstGeom prst="roundRect">
            <a:avLst>
              <a:gd name="adj" fmla="val 12000"/>
            </a:avLst>
          </a:prstGeom>
          <a:solidFill>
            <a:srgbClr val="E5D8F6"/>
          </a:solidFill>
          <a:ln>
            <a:solidFill>
              <a:srgbClr val="E5D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78992" y="3794759"/>
            <a:ext cx="1005840" cy="164592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1000" b="0">
                <a:solidFill>
                  <a:srgbClr val="C4D3E4"/>
                </a:solidFill>
                <a:latin typeface="Aptos"/>
              </a:defRPr>
            </a:pPr>
            <a:r>
              <a:rPr>
                <a:solidFill/>
              </a:rPr>
              <a:t>14:32:25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12848" y="3785615"/>
            <a:ext cx="2103120" cy="182880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1100" b="1">
                <a:solidFill>
                  <a:srgbClr val="F7FBFF"/>
                </a:solidFill>
                <a:latin typeface="Aptos"/>
              </a:defRPr>
            </a:pPr>
            <a:r>
              <a:rPr>
                <a:solidFill/>
              </a:rPr>
              <a:t>Audio segment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74920" y="3794759"/>
            <a:ext cx="1417320" cy="164592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 algn="r">
              <a:defRPr sz="950" b="1">
                <a:solidFill>
                  <a:srgbClr val="FFD166"/>
                </a:solidFill>
                <a:latin typeface="Aptos"/>
              </a:defRPr>
            </a:pPr>
            <a:r>
              <a:rPr>
                <a:solidFill/>
              </a:rPr>
              <a:t>UPLOADING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32688" y="4233672"/>
            <a:ext cx="6126480" cy="384048"/>
          </a:xfrm>
          <a:prstGeom prst="roundRect">
            <a:avLst>
              <a:gd name="adj" fmla="val 12000"/>
            </a:avLst>
          </a:prstGeom>
          <a:solidFill>
            <a:srgbClr val="E5D8F6"/>
          </a:solidFill>
          <a:ln>
            <a:solidFill>
              <a:srgbClr val="E5D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78992" y="4315968"/>
            <a:ext cx="1005840" cy="164592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1000" b="0">
                <a:solidFill>
                  <a:srgbClr val="C4D3E4"/>
                </a:solidFill>
                <a:latin typeface="Aptos"/>
              </a:defRPr>
            </a:pPr>
            <a:r>
              <a:rPr>
                <a:solidFill/>
              </a:rPr>
              <a:t>14:32:30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12848" y="4306824"/>
            <a:ext cx="2103120" cy="182880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1100" b="1">
                <a:solidFill>
                  <a:srgbClr val="F7FBFF"/>
                </a:solidFill>
                <a:latin typeface="Aptos"/>
              </a:defRPr>
            </a:pPr>
            <a:r>
              <a:rPr>
                <a:solidFill/>
              </a:rPr>
              <a:t>Wearable telemetry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74920" y="4315968"/>
            <a:ext cx="1417320" cy="164592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 algn="r">
              <a:defRPr sz="950" b="1">
                <a:solidFill>
                  <a:srgbClr val="73E29A"/>
                </a:solidFill>
                <a:latin typeface="Aptos"/>
              </a:defRPr>
            </a:pPr>
            <a:r>
              <a:rPr>
                <a:solidFill/>
              </a:rPr>
              <a:t>RECEIVED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32688" y="4754879"/>
            <a:ext cx="6126480" cy="384048"/>
          </a:xfrm>
          <a:prstGeom prst="roundRect">
            <a:avLst>
              <a:gd name="adj" fmla="val 12000"/>
            </a:avLst>
          </a:prstGeom>
          <a:solidFill>
            <a:srgbClr val="E5D8F6"/>
          </a:solidFill>
          <a:ln>
            <a:solidFill>
              <a:srgbClr val="E5D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78992" y="4837175"/>
            <a:ext cx="1005840" cy="164592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1000" b="0">
                <a:solidFill>
                  <a:srgbClr val="C4D3E4"/>
                </a:solidFill>
                <a:latin typeface="Aptos"/>
              </a:defRPr>
            </a:pPr>
            <a:r>
              <a:rPr>
                <a:solidFill/>
              </a:rPr>
              <a:t>14:32:35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12848" y="4828031"/>
            <a:ext cx="2103120" cy="182880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1100" b="1">
                <a:solidFill>
                  <a:srgbClr val="F7FBFF"/>
                </a:solidFill>
                <a:latin typeface="Aptos"/>
              </a:defRPr>
            </a:pPr>
            <a:r>
              <a:rPr>
                <a:solidFill/>
              </a:rPr>
              <a:t>Image frame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74920" y="4837175"/>
            <a:ext cx="1417320" cy="164592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 algn="r">
              <a:defRPr sz="950" b="1">
                <a:solidFill>
                  <a:srgbClr val="FF7C6B"/>
                </a:solidFill>
                <a:latin typeface="Aptos"/>
              </a:defRPr>
            </a:pPr>
            <a:r>
              <a:rPr>
                <a:solidFill/>
              </a:rPr>
              <a:t>PENDING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635240" y="1965960"/>
            <a:ext cx="3840480" cy="1417320"/>
          </a:xfrm>
          <a:prstGeom prst="roundRect">
            <a:avLst>
              <a:gd name="adj" fmla="val 12000"/>
            </a:avLst>
          </a:prstGeom>
          <a:solidFill>
            <a:srgbClr val="F6F0FC"/>
          </a:solidFill>
          <a:ln>
            <a:solidFill>
              <a:srgbClr val="8B6A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7635240" y="1965960"/>
            <a:ext cx="64008" cy="1417320"/>
          </a:xfrm>
          <a:prstGeom prst="rect">
            <a:avLst/>
          </a:prstGeom>
          <a:solidFill>
            <a:srgbClr val="BE9BDC"/>
          </a:solidFill>
          <a:ln>
            <a:solidFill>
              <a:srgbClr val="BE9B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863840" y="2167128"/>
            <a:ext cx="457200" cy="320040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 algn="ctr">
              <a:defRPr sz="2000" b="1">
                <a:solidFill>
                  <a:srgbClr val="73E29A"/>
                </a:solidFill>
                <a:latin typeface="Aptos"/>
              </a:defRPr>
            </a:pPr>
            <a:r>
              <a:rPr>
                <a:solidFill/>
              </a:rPr>
              <a:t>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66760" y="2130552"/>
            <a:ext cx="2880360" cy="384048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1800" b="1">
                <a:solidFill>
                  <a:srgbClr val="F7FBFF"/>
                </a:solidFill>
                <a:latin typeface="Aptos"/>
              </a:defRPr>
            </a:pPr>
            <a:r>
              <a:rPr>
                <a:solidFill/>
              </a:rPr>
              <a:t>Transmission indicator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63840" y="2679191"/>
            <a:ext cx="3383280" cy="539496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1450" b="0">
                <a:solidFill>
                  <a:srgbClr val="C4D3E4"/>
                </a:solidFill>
                <a:latin typeface="Aptos"/>
              </a:defRPr>
            </a:pPr>
            <a:r>
              <a:rPr>
                <a:solidFill/>
              </a:rPr>
              <a:t>● LIVE — last evidence received 3 seconds ago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635240" y="3639312"/>
            <a:ext cx="3840480" cy="1417320"/>
          </a:xfrm>
          <a:prstGeom prst="roundRect">
            <a:avLst>
              <a:gd name="adj" fmla="val 12000"/>
            </a:avLst>
          </a:prstGeom>
          <a:solidFill>
            <a:srgbClr val="F6F0FC"/>
          </a:solidFill>
          <a:ln>
            <a:solidFill>
              <a:srgbClr val="8B6A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7635240" y="3639312"/>
            <a:ext cx="64008" cy="1417320"/>
          </a:xfrm>
          <a:prstGeom prst="rect">
            <a:avLst/>
          </a:prstGeom>
          <a:solidFill>
            <a:srgbClr val="9152A9"/>
          </a:solidFill>
          <a:ln>
            <a:solidFill>
              <a:srgbClr val="9152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863840" y="3840480"/>
            <a:ext cx="457200" cy="320040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 algn="ctr">
              <a:defRPr sz="2000" b="1">
                <a:solidFill>
                  <a:srgbClr val="FF7C6B"/>
                </a:solidFill>
                <a:latin typeface="Aptos"/>
              </a:defRPr>
            </a:pPr>
            <a:r>
              <a:rPr>
                <a:solidFill/>
              </a:rPr>
              <a:t>↻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66760" y="3803904"/>
            <a:ext cx="2880360" cy="384048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1800" b="1">
                <a:solidFill>
                  <a:srgbClr val="F7FBFF"/>
                </a:solidFill>
                <a:latin typeface="Aptos"/>
              </a:defRPr>
            </a:pPr>
            <a:r>
              <a:rPr>
                <a:solidFill/>
              </a:rPr>
              <a:t>Offline-ready behavior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63840" y="4352544"/>
            <a:ext cx="3383280" cy="539496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1450" b="0">
                <a:solidFill>
                  <a:srgbClr val="C4D3E4"/>
                </a:solidFill>
                <a:latin typeface="Aptos"/>
              </a:defRPr>
            </a:pPr>
            <a:r>
              <a:rPr>
                <a:solidFill/>
              </a:rPr>
              <a:t>Queue locally → preserve timestamp → retry → deduplicate on reconnect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D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464040" y="-594360"/>
            <a:ext cx="3886200" cy="3886200"/>
          </a:xfrm>
          <a:prstGeom prst="ellipse">
            <a:avLst/>
          </a:prstGeom>
          <a:solidFill>
            <a:srgbClr val="704896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1051560" y="5074920"/>
            <a:ext cx="3566160" cy="3566160"/>
          </a:xfrm>
          <a:prstGeom prst="ellipse">
            <a:avLst/>
          </a:prstGeom>
          <a:solidFill>
            <a:srgbClr val="9152A9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183879" y="5257800"/>
            <a:ext cx="2377440" cy="2377440"/>
          </a:xfrm>
          <a:prstGeom prst="ellipse">
            <a:avLst/>
          </a:prstGeom>
          <a:solidFill>
            <a:srgbClr val="AA79C3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5623560" y="-502920"/>
            <a:ext cx="2880360" cy="2880360"/>
          </a:xfrm>
          <a:prstGeom prst="ellipse">
            <a:avLst/>
          </a:prstGeom>
          <a:solidFill>
            <a:srgbClr val="7D57B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D57BE"/>
          </a:solidFill>
          <a:ln>
            <a:solidFill>
              <a:srgbClr val="7D5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329184"/>
            <a:ext cx="5486400" cy="274320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1200" b="1">
                <a:solidFill>
                  <a:srgbClr val="37E0C5"/>
                </a:solidFill>
                <a:latin typeface="Aptos"/>
              </a:defRPr>
            </a:pPr>
            <a:r>
              <a:rPr>
                <a:solidFill/>
              </a:rPr>
              <a:t>DEVICE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0080"/>
            <a:ext cx="10789920" cy="640080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3200" b="1">
                <a:solidFill>
                  <a:srgbClr val="F7FBFF"/>
                </a:solidFill>
                <a:latin typeface="Aptos"/>
              </a:defRPr>
            </a:pPr>
            <a:r>
              <a:rPr>
                <a:solidFill/>
              </a:rPr>
              <a:t>Simulated IoT: honest now, replaceable later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384048"/>
            <a:ext cx="502920" cy="274320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 algn="r">
              <a:defRPr sz="1100" b="1">
                <a:solidFill>
                  <a:srgbClr val="C4D3E4"/>
                </a:solidFill>
                <a:latin typeface="Aptos"/>
              </a:defRPr>
            </a:pPr>
            <a:r>
              <a:rPr>
                <a:solidFill/>
              </a:rPr>
              <a:t>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298448"/>
            <a:ext cx="10424160" cy="411480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1700" b="1">
                <a:solidFill>
                  <a:srgbClr val="F7FBFF"/>
                </a:solidFill>
                <a:latin typeface="Aptos"/>
              </a:defRPr>
            </a:pPr>
            <a:r>
              <a:rPr>
                <a:solidFill/>
              </a:rPr>
              <a:t>Every hardware-dependent capability is clearly marked as simulated. The contract stays stable when real devices are introduced.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965960"/>
            <a:ext cx="3429000" cy="3337560"/>
          </a:xfrm>
          <a:prstGeom prst="roundRect">
            <a:avLst>
              <a:gd name="adj" fmla="val 12000"/>
            </a:avLst>
          </a:prstGeom>
          <a:solidFill>
            <a:srgbClr val="F6F0FC"/>
          </a:solidFill>
          <a:ln>
            <a:solidFill>
              <a:srgbClr val="8B6A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85800" y="1965960"/>
            <a:ext cx="64008" cy="3337560"/>
          </a:xfrm>
          <a:prstGeom prst="rect">
            <a:avLst/>
          </a:prstGeom>
          <a:solidFill>
            <a:srgbClr val="AA79C3"/>
          </a:solidFill>
          <a:ln>
            <a:solidFill>
              <a:srgbClr val="AA79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2167128"/>
            <a:ext cx="457200" cy="320040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 algn="ctr">
              <a:defRPr sz="2000" b="1">
                <a:solidFill>
                  <a:srgbClr val="FFD166"/>
                </a:solidFill>
                <a:latin typeface="Aptos"/>
              </a:defRPr>
            </a:pPr>
            <a:r>
              <a:rPr>
                <a:solidFill/>
              </a:rPr>
              <a:t>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130552"/>
            <a:ext cx="2468880" cy="384048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1800" b="1">
                <a:solidFill>
                  <a:srgbClr val="F7FBFF"/>
                </a:solidFill>
                <a:latin typeface="Aptos"/>
              </a:defRPr>
            </a:pPr>
            <a:r>
              <a:rPr>
                <a:solidFill/>
              </a:rPr>
              <a:t>SafeWatch Demo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679191"/>
            <a:ext cx="2971800" cy="2459736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1450" b="0">
                <a:solidFill>
                  <a:srgbClr val="C4D3E4"/>
                </a:solidFill>
                <a:latin typeface="Aptos"/>
              </a:defRPr>
            </a:pPr>
            <a:r>
              <a:rPr>
                <a:solidFill/>
              </a:rPr>
              <a:t>SIMULATED DEVICE</a:t>
            </a:r>
            <a:br/>
            <a:br/>
            <a:r>
              <a:rPr>
                <a:solidFill/>
              </a:rPr>
              <a:t>Connected • 78% battery</a:t>
            </a:r>
            <a:br/>
            <a:r>
              <a:rPr>
                <a:solidFill/>
              </a:rPr>
              <a:t>Heart rate: 92 BPM</a:t>
            </a:r>
            <a:br/>
            <a:r>
              <a:rPr>
                <a:solidFill/>
              </a:rPr>
              <a:t>Motion: Walking</a:t>
            </a:r>
            <a:br/>
            <a:r>
              <a:rPr>
                <a:solidFill/>
              </a:rPr>
              <a:t>Fall detection: Normal</a:t>
            </a:r>
            <a:br/>
            <a:r>
              <a:rPr>
                <a:solidFill/>
              </a:rPr>
              <a:t>GPS: Available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70832" y="1965960"/>
            <a:ext cx="3429000" cy="3337560"/>
          </a:xfrm>
          <a:prstGeom prst="roundRect">
            <a:avLst>
              <a:gd name="adj" fmla="val 12000"/>
            </a:avLst>
          </a:prstGeom>
          <a:solidFill>
            <a:srgbClr val="F6F0FC"/>
          </a:solidFill>
          <a:ln>
            <a:solidFill>
              <a:srgbClr val="8B6A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370832" y="1965960"/>
            <a:ext cx="64008" cy="3337560"/>
          </a:xfrm>
          <a:prstGeom prst="rect">
            <a:avLst/>
          </a:prstGeom>
          <a:solidFill>
            <a:srgbClr val="704896"/>
          </a:solidFill>
          <a:ln>
            <a:solidFill>
              <a:srgbClr val="704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99432" y="2167128"/>
            <a:ext cx="457200" cy="320040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 algn="ctr">
              <a:defRPr sz="2000" b="1">
                <a:solidFill>
                  <a:srgbClr val="37E0C5"/>
                </a:solidFill>
                <a:latin typeface="Aptos"/>
              </a:defRPr>
            </a:pPr>
            <a:r>
              <a:rPr>
                <a:solidFill/>
              </a:rPr>
              <a:t>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02352" y="2130552"/>
            <a:ext cx="2468880" cy="384048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1800" b="1">
                <a:solidFill>
                  <a:srgbClr val="F7FBFF"/>
                </a:solidFill>
                <a:latin typeface="Aptos"/>
              </a:defRPr>
            </a:pPr>
            <a:r>
              <a:rPr>
                <a:solidFill/>
              </a:rPr>
              <a:t>Triggers to demonstrate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9432" y="2679191"/>
            <a:ext cx="2971800" cy="2459736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1450" b="0">
                <a:solidFill>
                  <a:srgbClr val="C4D3E4"/>
                </a:solidFill>
                <a:latin typeface="Aptos"/>
              </a:defRPr>
            </a:pPr>
            <a:r>
              <a:rPr>
                <a:solidFill/>
              </a:rPr>
              <a:t>• Simulate wearable emergency button</a:t>
            </a:r>
            <a:br/>
            <a:r>
              <a:rPr>
                <a:solidFill/>
              </a:rPr>
              <a:t>• Simulate sudden / confirmed fall</a:t>
            </a:r>
            <a:br/>
            <a:r>
              <a:rPr>
                <a:solidFill/>
              </a:rPr>
              <a:t>• Generate changing heart rate</a:t>
            </a:r>
            <a:br/>
            <a:r>
              <a:rPr>
                <a:solidFill/>
              </a:rPr>
              <a:t>• Toggle weak or disconnected state</a:t>
            </a:r>
            <a:br/>
            <a:r>
              <a:rPr>
                <a:solidFill/>
              </a:rPr>
              <a:t>• Decrease battery during incident</a:t>
            </a:r>
            <a:br/>
            <a:r>
              <a:rPr>
                <a:solidFill/>
              </a:rPr>
              <a:t>• Move along a predefined route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55864" y="1965960"/>
            <a:ext cx="3429000" cy="3337560"/>
          </a:xfrm>
          <a:prstGeom prst="roundRect">
            <a:avLst>
              <a:gd name="adj" fmla="val 12000"/>
            </a:avLst>
          </a:prstGeom>
          <a:solidFill>
            <a:srgbClr val="F6F0FC"/>
          </a:solidFill>
          <a:ln>
            <a:solidFill>
              <a:srgbClr val="8B6A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055864" y="1965960"/>
            <a:ext cx="64008" cy="3337560"/>
          </a:xfrm>
          <a:prstGeom prst="rect">
            <a:avLst/>
          </a:prstGeom>
          <a:solidFill>
            <a:srgbClr val="9152A9"/>
          </a:solidFill>
          <a:ln>
            <a:solidFill>
              <a:srgbClr val="9152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84464" y="2167128"/>
            <a:ext cx="457200" cy="320040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 algn="ctr">
              <a:defRPr sz="2000" b="1">
                <a:solidFill>
                  <a:srgbClr val="FF7C6B"/>
                </a:solidFill>
                <a:latin typeface="Aptos"/>
              </a:defRPr>
            </a:pPr>
            <a:r>
              <a:rPr>
                <a:solidFill/>
              </a:rPr>
              <a:t>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87384" y="2130552"/>
            <a:ext cx="2468880" cy="384048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1800" b="1">
                <a:solidFill>
                  <a:srgbClr val="F7FBFF"/>
                </a:solidFill>
                <a:latin typeface="Aptos"/>
              </a:defRPr>
            </a:pPr>
            <a:r>
              <a:rPr>
                <a:solidFill/>
              </a:rPr>
              <a:t>Future hardware seam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84464" y="2679191"/>
            <a:ext cx="2971800" cy="2459736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1450" b="0">
                <a:solidFill>
                  <a:srgbClr val="C4D3E4"/>
                </a:solidFill>
                <a:latin typeface="Aptos"/>
              </a:defRPr>
            </a:pPr>
            <a:r>
              <a:rPr>
                <a:solidFill/>
              </a:rPr>
              <a:t>Device adapter → telemetry contract → event bus → incident service</a:t>
            </a:r>
            <a:br/>
            <a:br/>
            <a:r>
              <a:rPr>
                <a:solidFill/>
              </a:rPr>
              <a:t>No redesign of the incident, notification or dashboard layers is required.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D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464040" y="-594360"/>
            <a:ext cx="3886200" cy="3886200"/>
          </a:xfrm>
          <a:prstGeom prst="ellipse">
            <a:avLst/>
          </a:prstGeom>
          <a:solidFill>
            <a:srgbClr val="704896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1051560" y="5074920"/>
            <a:ext cx="3566160" cy="3566160"/>
          </a:xfrm>
          <a:prstGeom prst="ellipse">
            <a:avLst/>
          </a:prstGeom>
          <a:solidFill>
            <a:srgbClr val="9152A9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183879" y="5257800"/>
            <a:ext cx="2377440" cy="2377440"/>
          </a:xfrm>
          <a:prstGeom prst="ellipse">
            <a:avLst/>
          </a:prstGeom>
          <a:solidFill>
            <a:srgbClr val="AA79C3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5623560" y="-502920"/>
            <a:ext cx="2880360" cy="2880360"/>
          </a:xfrm>
          <a:prstGeom prst="ellipse">
            <a:avLst/>
          </a:prstGeom>
          <a:solidFill>
            <a:srgbClr val="7D57B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D57BE"/>
          </a:solidFill>
          <a:ln>
            <a:solidFill>
              <a:srgbClr val="7D5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329184"/>
            <a:ext cx="5486400" cy="274320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1200" b="1">
                <a:solidFill>
                  <a:srgbClr val="37E0C5"/>
                </a:solidFill>
                <a:latin typeface="Aptos"/>
              </a:defRPr>
            </a:pPr>
            <a:r>
              <a:rPr>
                <a:solidFill/>
              </a:rPr>
              <a:t>BACKEND AND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0080"/>
            <a:ext cx="10789920" cy="640080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3200" b="1">
                <a:solidFill>
                  <a:srgbClr val="F7FBFF"/>
                </a:solidFill>
                <a:latin typeface="Aptos"/>
              </a:defRPr>
            </a:pPr>
            <a:r>
              <a:rPr>
                <a:solidFill/>
              </a:rPr>
              <a:t>Production-structured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384048"/>
            <a:ext cx="502920" cy="274320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 algn="r">
              <a:defRPr sz="1100" b="1">
                <a:solidFill>
                  <a:srgbClr val="C4D3E4"/>
                </a:solidFill>
                <a:latin typeface="Aptos"/>
              </a:defRPr>
            </a:pPr>
            <a:r>
              <a:rPr>
                <a:solidFill/>
              </a:rPr>
              <a:t>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2668" y="1805940"/>
            <a:ext cx="2286000" cy="1234440"/>
          </a:xfrm>
          <a:prstGeom prst="roundRect">
            <a:avLst>
              <a:gd name="adj" fmla="val 0"/>
            </a:avLst>
          </a:prstGeom>
          <a:solidFill>
            <a:srgbClr val="F6F0FC"/>
          </a:solidFill>
          <a:ln>
            <a:solidFill>
              <a:srgbClr val="8B6A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891540" y="1743849"/>
            <a:ext cx="1920240" cy="233910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 algn="ctr">
              <a:defRPr sz="1100" b="1">
                <a:solidFill>
                  <a:srgbClr val="37E0C5"/>
                </a:solidFill>
                <a:latin typeface="Aptos"/>
              </a:defRPr>
            </a:pPr>
            <a:r>
              <a:rPr dirty="0">
                <a:solidFill/>
              </a:rPr>
              <a:t>WEB 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221992"/>
            <a:ext cx="1920240" cy="803297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 algn="ctr">
              <a:defRPr sz="1100" b="0">
                <a:solidFill>
                  <a:srgbClr val="C4D3E4"/>
                </a:solidFill>
                <a:latin typeface="Aptos"/>
              </a:defRPr>
            </a:pPr>
            <a:r>
              <a:rPr sz="1600" dirty="0">
                <a:solidFill/>
              </a:rPr>
              <a:t>React + TypeScript</a:t>
            </a:r>
            <a:br>
              <a:rPr sz="1600" dirty="0"/>
            </a:br>
            <a:r>
              <a:rPr sz="1600" dirty="0">
                <a:solidFill/>
              </a:rPr>
              <a:t>Responsive dashboard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81528" y="2084831"/>
            <a:ext cx="320040" cy="274320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 algn="ctr">
              <a:defRPr sz="2000" b="1">
                <a:solidFill>
                  <a:srgbClr val="F7FBFF"/>
                </a:solidFill>
                <a:latin typeface="Aptos"/>
              </a:defRPr>
            </a:pPr>
            <a:r>
              <a:rPr>
                <a:solidFill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74720" y="1645920"/>
            <a:ext cx="2286000" cy="1234440"/>
          </a:xfrm>
          <a:prstGeom prst="roundRect">
            <a:avLst>
              <a:gd name="adj" fmla="val 12000"/>
            </a:avLst>
          </a:prstGeom>
          <a:solidFill>
            <a:srgbClr val="F6F0FC"/>
          </a:solidFill>
          <a:ln>
            <a:solidFill>
              <a:srgbClr val="8B6A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57600" y="1874519"/>
            <a:ext cx="1920240" cy="228600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 algn="ctr">
              <a:defRPr sz="1100" b="1">
                <a:solidFill>
                  <a:srgbClr val="FF7C6B"/>
                </a:solidFill>
                <a:latin typeface="Aptos"/>
              </a:defRPr>
            </a:pPr>
            <a:r>
              <a:rPr>
                <a:solidFill/>
              </a:rPr>
              <a:t>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6441" y="2311109"/>
            <a:ext cx="1920240" cy="411480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 algn="ctr">
              <a:defRPr sz="1100" b="0">
                <a:solidFill>
                  <a:srgbClr val="C4D3E4"/>
                </a:solidFill>
                <a:latin typeface="Aptos"/>
              </a:defRPr>
            </a:pPr>
            <a:r>
              <a:rPr dirty="0">
                <a:solidFill/>
              </a:rPr>
              <a:t>Auth • incidents</a:t>
            </a:r>
            <a:br>
              <a:rPr dirty="0"/>
            </a:br>
            <a:r>
              <a:rPr dirty="0">
                <a:solidFill/>
              </a:rPr>
              <a:t>Evidence • permissions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70448" y="2084831"/>
            <a:ext cx="320040" cy="274320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 algn="ctr">
              <a:defRPr sz="2000" b="1">
                <a:solidFill>
                  <a:srgbClr val="F7FBFF"/>
                </a:solidFill>
                <a:latin typeface="Aptos"/>
              </a:defRPr>
            </a:pPr>
            <a:r>
              <a:rPr>
                <a:solidFill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1645920"/>
            <a:ext cx="2286000" cy="1234440"/>
          </a:xfrm>
          <a:prstGeom prst="roundRect">
            <a:avLst>
              <a:gd name="adj" fmla="val 12000"/>
            </a:avLst>
          </a:prstGeom>
          <a:solidFill>
            <a:srgbClr val="F6F0FC"/>
          </a:solidFill>
          <a:ln>
            <a:solidFill>
              <a:srgbClr val="8B6A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46520" y="1874519"/>
            <a:ext cx="1920240" cy="228600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 algn="ctr">
              <a:defRPr sz="1100" b="1">
                <a:solidFill>
                  <a:srgbClr val="FFD166"/>
                </a:solidFill>
                <a:latin typeface="Aptos"/>
              </a:defRPr>
            </a:pPr>
            <a:r>
              <a:rPr>
                <a:solidFill/>
              </a:rPr>
              <a:t>REAL-TIME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2221992"/>
            <a:ext cx="1920240" cy="411480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 algn="ctr">
              <a:defRPr sz="1100" b="0">
                <a:solidFill>
                  <a:srgbClr val="C4D3E4"/>
                </a:solidFill>
                <a:latin typeface="Aptos"/>
              </a:defRPr>
            </a:pPr>
            <a:r>
              <a:rPr>
                <a:solidFill/>
              </a:rPr>
              <a:t>WebSockets / SSE</a:t>
            </a:r>
            <a:br/>
            <a:r>
              <a:rPr>
                <a:solidFill/>
              </a:rPr>
              <a:t>Presence + updates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7" y="2084831"/>
            <a:ext cx="320040" cy="274320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 algn="ctr">
              <a:defRPr sz="2000" b="1">
                <a:solidFill>
                  <a:srgbClr val="F7FBFF"/>
                </a:solidFill>
                <a:latin typeface="Aptos"/>
              </a:defRPr>
            </a:pPr>
            <a:r>
              <a:rPr>
                <a:solidFill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52559" y="1645920"/>
            <a:ext cx="2286000" cy="1234440"/>
          </a:xfrm>
          <a:prstGeom prst="roundRect">
            <a:avLst>
              <a:gd name="adj" fmla="val 12000"/>
            </a:avLst>
          </a:prstGeom>
          <a:solidFill>
            <a:srgbClr val="F6F0FC"/>
          </a:solidFill>
          <a:ln>
            <a:solidFill>
              <a:srgbClr val="8B6A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35439" y="1874519"/>
            <a:ext cx="1920240" cy="228600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 algn="ctr">
              <a:defRPr sz="1100" b="1">
                <a:solidFill>
                  <a:srgbClr val="73E29A"/>
                </a:solidFill>
                <a:latin typeface="Aptos"/>
              </a:defRPr>
            </a:pPr>
            <a:r>
              <a:rPr>
                <a:solidFill/>
              </a:rPr>
              <a:t>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39" y="2221992"/>
            <a:ext cx="1920240" cy="411480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 algn="ctr">
              <a:defRPr sz="1100" b="0">
                <a:solidFill>
                  <a:srgbClr val="C4D3E4"/>
                </a:solidFill>
                <a:latin typeface="Aptos"/>
              </a:defRPr>
            </a:pPr>
            <a:r>
              <a:rPr>
                <a:solidFill/>
              </a:rPr>
              <a:t>PostgreSQL</a:t>
            </a:r>
            <a:br/>
            <a:r>
              <a:rPr>
                <a:solidFill/>
              </a:rPr>
              <a:t>Object storage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43000" y="3493008"/>
            <a:ext cx="9875520" cy="64008"/>
          </a:xfrm>
          <a:prstGeom prst="rect">
            <a:avLst/>
          </a:prstGeom>
          <a:solidFill>
            <a:srgbClr val="8B6AA9"/>
          </a:solidFill>
          <a:ln>
            <a:solidFill>
              <a:srgbClr val="8B6A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85800" y="3794760"/>
            <a:ext cx="3429000" cy="1325880"/>
          </a:xfrm>
          <a:prstGeom prst="roundRect">
            <a:avLst>
              <a:gd name="adj" fmla="val 12000"/>
            </a:avLst>
          </a:prstGeom>
          <a:solidFill>
            <a:srgbClr val="F6F0FC"/>
          </a:solidFill>
          <a:ln>
            <a:solidFill>
              <a:srgbClr val="8B6A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85800" y="3794760"/>
            <a:ext cx="64008" cy="1325880"/>
          </a:xfrm>
          <a:prstGeom prst="rect">
            <a:avLst/>
          </a:prstGeom>
          <a:solidFill>
            <a:srgbClr val="704896"/>
          </a:solidFill>
          <a:ln>
            <a:solidFill>
              <a:srgbClr val="704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4400" y="3995928"/>
            <a:ext cx="457200" cy="320040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 algn="ctr">
              <a:defRPr sz="2000" b="1">
                <a:solidFill>
                  <a:srgbClr val="37E0C5"/>
                </a:solidFill>
                <a:latin typeface="Aptos"/>
              </a:defRPr>
            </a:pPr>
            <a:r>
              <a:rPr>
                <a:solidFill/>
              </a:rPr>
              <a:t>!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20" y="3959352"/>
            <a:ext cx="2468880" cy="384048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1800" b="1">
                <a:solidFill>
                  <a:srgbClr val="F7FBFF"/>
                </a:solidFill>
                <a:latin typeface="Aptos"/>
              </a:defRPr>
            </a:pPr>
            <a:r>
              <a:rPr>
                <a:solidFill/>
              </a:rPr>
              <a:t>Notification service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507992"/>
            <a:ext cx="2971800" cy="448056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1450" b="0">
                <a:solidFill>
                  <a:srgbClr val="C4D3E4"/>
                </a:solidFill>
                <a:latin typeface="Aptos"/>
              </a:defRPr>
            </a:pPr>
            <a:r>
              <a:rPr>
                <a:solidFill/>
              </a:rPr>
              <a:t>Automated dispatch hooks, in-app alerts, email/SMS-ready notifications and status updates to trusted members.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70832" y="3794760"/>
            <a:ext cx="3429000" cy="1325880"/>
          </a:xfrm>
          <a:prstGeom prst="roundRect">
            <a:avLst>
              <a:gd name="adj" fmla="val 12000"/>
            </a:avLst>
          </a:prstGeom>
          <a:solidFill>
            <a:srgbClr val="F6F0FC"/>
          </a:solidFill>
          <a:ln>
            <a:solidFill>
              <a:srgbClr val="8B6A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370832" y="3794760"/>
            <a:ext cx="64008" cy="1325880"/>
          </a:xfrm>
          <a:prstGeom prst="rect">
            <a:avLst/>
          </a:prstGeom>
          <a:solidFill>
            <a:srgbClr val="AA79C3"/>
          </a:solidFill>
          <a:ln>
            <a:solidFill>
              <a:srgbClr val="AA79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99432" y="3995928"/>
            <a:ext cx="457200" cy="320040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 algn="ctr">
              <a:defRPr sz="2000" b="1">
                <a:solidFill>
                  <a:srgbClr val="FFD166"/>
                </a:solidFill>
                <a:latin typeface="Aptos"/>
              </a:defRPr>
            </a:pPr>
            <a:r>
              <a:rPr>
                <a:solidFill/>
              </a:rPr>
              <a:t>⟳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02352" y="3959352"/>
            <a:ext cx="2468880" cy="384048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1800" b="1">
                <a:solidFill>
                  <a:srgbClr val="F7FBFF"/>
                </a:solidFill>
                <a:latin typeface="Aptos"/>
              </a:defRPr>
            </a:pPr>
            <a:r>
              <a:rPr>
                <a:solidFill/>
              </a:rPr>
              <a:t>Simulation engine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99432" y="4507992"/>
            <a:ext cx="2971800" cy="448056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1450" b="0">
                <a:solidFill>
                  <a:srgbClr val="C4D3E4"/>
                </a:solidFill>
                <a:latin typeface="Aptos"/>
              </a:defRPr>
            </a:pPr>
            <a:r>
              <a:rPr>
                <a:solidFill/>
              </a:rPr>
              <a:t>Evidence scheduler, location route, IoT telemetry, offline queue and retry policy.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55864" y="3794760"/>
            <a:ext cx="3429000" cy="1325880"/>
          </a:xfrm>
          <a:prstGeom prst="roundRect">
            <a:avLst>
              <a:gd name="adj" fmla="val 12000"/>
            </a:avLst>
          </a:prstGeom>
          <a:solidFill>
            <a:srgbClr val="F6F0FC"/>
          </a:solidFill>
          <a:ln>
            <a:solidFill>
              <a:srgbClr val="8B6A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8055864" y="3794760"/>
            <a:ext cx="64008" cy="1325880"/>
          </a:xfrm>
          <a:prstGeom prst="rect">
            <a:avLst/>
          </a:prstGeom>
          <a:solidFill>
            <a:srgbClr val="9152A9"/>
          </a:solidFill>
          <a:ln>
            <a:solidFill>
              <a:srgbClr val="9152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284464" y="3995928"/>
            <a:ext cx="457200" cy="320040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 algn="ctr">
              <a:defRPr sz="2000" b="1">
                <a:solidFill>
                  <a:srgbClr val="FF7C6B"/>
                </a:solidFill>
                <a:latin typeface="Aptos"/>
              </a:defRPr>
            </a:pPr>
            <a:r>
              <a:rPr>
                <a:solidFill/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87384" y="3959352"/>
            <a:ext cx="2468880" cy="384048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1800" b="1">
                <a:solidFill>
                  <a:srgbClr val="F7FBFF"/>
                </a:solidFill>
                <a:latin typeface="Aptos"/>
              </a:defRPr>
            </a:pPr>
            <a:r>
              <a:rPr>
                <a:solidFill/>
              </a:rPr>
              <a:t>Audit + authorization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84464" y="4507992"/>
            <a:ext cx="2971800" cy="448056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1450" b="0">
                <a:solidFill>
                  <a:srgbClr val="C4D3E4"/>
                </a:solidFill>
                <a:latin typeface="Aptos"/>
              </a:defRPr>
            </a:pPr>
            <a:r>
              <a:rPr>
                <a:solidFill/>
              </a:rPr>
              <a:t>Role-based incident access, consent checks and immutable event history.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D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464040" y="-594360"/>
            <a:ext cx="3886200" cy="3886200"/>
          </a:xfrm>
          <a:prstGeom prst="ellipse">
            <a:avLst/>
          </a:prstGeom>
          <a:solidFill>
            <a:srgbClr val="704896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1051560" y="5074920"/>
            <a:ext cx="3566160" cy="3566160"/>
          </a:xfrm>
          <a:prstGeom prst="ellipse">
            <a:avLst/>
          </a:prstGeom>
          <a:solidFill>
            <a:srgbClr val="9152A9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183879" y="5257800"/>
            <a:ext cx="2377440" cy="2377440"/>
          </a:xfrm>
          <a:prstGeom prst="ellipse">
            <a:avLst/>
          </a:prstGeom>
          <a:solidFill>
            <a:srgbClr val="AA79C3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5623560" y="-502920"/>
            <a:ext cx="2880360" cy="2880360"/>
          </a:xfrm>
          <a:prstGeom prst="ellipse">
            <a:avLst/>
          </a:prstGeom>
          <a:solidFill>
            <a:srgbClr val="7D57B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D57BE"/>
          </a:solidFill>
          <a:ln>
            <a:solidFill>
              <a:srgbClr val="7D5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329184"/>
            <a:ext cx="5486400" cy="274320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1200" b="1">
                <a:solidFill>
                  <a:srgbClr val="37E0C5"/>
                </a:solidFill>
                <a:latin typeface="Aptos"/>
              </a:defRPr>
            </a:pPr>
            <a:r>
              <a:rPr>
                <a:solidFill/>
              </a:rPr>
              <a:t>NON-FUNCTIONAL FOUNDATION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0080"/>
            <a:ext cx="10789920" cy="640080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3200" b="1">
                <a:solidFill>
                  <a:srgbClr val="F7FBFF"/>
                </a:solidFill>
                <a:latin typeface="Aptos"/>
              </a:defRPr>
            </a:pPr>
            <a:r>
              <a:rPr>
                <a:solidFill/>
              </a:rPr>
              <a:t>Trust, authorization and resilience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384048"/>
            <a:ext cx="502920" cy="274320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 algn="r">
              <a:defRPr sz="1100" b="1">
                <a:solidFill>
                  <a:srgbClr val="C4D3E4"/>
                </a:solidFill>
                <a:latin typeface="Aptos"/>
              </a:defRPr>
            </a:pPr>
            <a:r>
              <a:rPr>
                <a:solidFill/>
              </a:rPr>
              <a:t>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417320"/>
            <a:ext cx="3337560" cy="1627632"/>
          </a:xfrm>
          <a:prstGeom prst="roundRect">
            <a:avLst>
              <a:gd name="adj" fmla="val 12000"/>
            </a:avLst>
          </a:prstGeom>
          <a:solidFill>
            <a:srgbClr val="F6F0FC"/>
          </a:solidFill>
          <a:ln>
            <a:solidFill>
              <a:srgbClr val="8B6A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31520" y="1417320"/>
            <a:ext cx="64008" cy="1627632"/>
          </a:xfrm>
          <a:prstGeom prst="rect">
            <a:avLst/>
          </a:prstGeom>
          <a:solidFill>
            <a:srgbClr val="704896"/>
          </a:solidFill>
          <a:ln>
            <a:solidFill>
              <a:srgbClr val="704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1618488"/>
            <a:ext cx="457200" cy="320040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 algn="ctr">
              <a:defRPr sz="2000" b="1">
                <a:solidFill>
                  <a:srgbClr val="37E0C5"/>
                </a:solidFill>
                <a:latin typeface="Aptos"/>
              </a:defRPr>
            </a:pPr>
            <a:r>
              <a:rPr>
                <a:solidFill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1581912"/>
            <a:ext cx="2377439" cy="384048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1800" b="1">
                <a:solidFill>
                  <a:srgbClr val="F7FBFF"/>
                </a:solidFill>
                <a:latin typeface="Aptos"/>
              </a:defRPr>
            </a:pPr>
            <a:r>
              <a:rPr>
                <a:solidFill/>
              </a:rPr>
              <a:t>Authentication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130552"/>
            <a:ext cx="2880360" cy="749808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1450" b="0">
                <a:solidFill>
                  <a:srgbClr val="C4D3E4"/>
                </a:solidFill>
                <a:latin typeface="Aptos"/>
              </a:defRPr>
            </a:pPr>
            <a:r>
              <a:rPr>
                <a:solidFill/>
              </a:rPr>
              <a:t>Register, login, logout, reset and verification flows.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59" y="1417320"/>
            <a:ext cx="3337560" cy="1627632"/>
          </a:xfrm>
          <a:prstGeom prst="roundRect">
            <a:avLst>
              <a:gd name="adj" fmla="val 12000"/>
            </a:avLst>
          </a:prstGeom>
          <a:solidFill>
            <a:srgbClr val="F6F0FC"/>
          </a:solidFill>
          <a:ln>
            <a:solidFill>
              <a:srgbClr val="8B6A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480559" y="1417320"/>
            <a:ext cx="64008" cy="1627632"/>
          </a:xfrm>
          <a:prstGeom prst="rect">
            <a:avLst/>
          </a:prstGeom>
          <a:solidFill>
            <a:srgbClr val="9152A9"/>
          </a:solidFill>
          <a:ln>
            <a:solidFill>
              <a:srgbClr val="9152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709159" y="1618488"/>
            <a:ext cx="457200" cy="320040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 algn="ctr">
              <a:defRPr sz="2000" b="1">
                <a:solidFill>
                  <a:srgbClr val="FF7C6B"/>
                </a:solidFill>
                <a:latin typeface="Aptos"/>
              </a:defRPr>
            </a:pPr>
            <a:r>
              <a:rPr>
                <a:solidFill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79" y="1581912"/>
            <a:ext cx="2377439" cy="384048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1800" b="1">
                <a:solidFill>
                  <a:srgbClr val="F7FBFF"/>
                </a:solidFill>
                <a:latin typeface="Aptos"/>
              </a:defRPr>
            </a:pPr>
            <a:r>
              <a:rPr>
                <a:solidFill/>
              </a:rPr>
              <a:t>Least privilege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59" y="2130552"/>
            <a:ext cx="2880360" cy="749808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1450" b="0">
                <a:solidFill>
                  <a:srgbClr val="C4D3E4"/>
                </a:solidFill>
                <a:latin typeface="Aptos"/>
              </a:defRPr>
            </a:pPr>
            <a:r>
              <a:rPr>
                <a:solidFill/>
              </a:rPr>
              <a:t>Trusted members only see incidents they are authorized to access.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1417320"/>
            <a:ext cx="3337560" cy="1627632"/>
          </a:xfrm>
          <a:prstGeom prst="roundRect">
            <a:avLst>
              <a:gd name="adj" fmla="val 12000"/>
            </a:avLst>
          </a:prstGeom>
          <a:solidFill>
            <a:srgbClr val="F6F0FC"/>
          </a:solidFill>
          <a:ln>
            <a:solidFill>
              <a:srgbClr val="8B6A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229600" y="1417320"/>
            <a:ext cx="64008" cy="1627632"/>
          </a:xfrm>
          <a:prstGeom prst="rect">
            <a:avLst/>
          </a:prstGeom>
          <a:solidFill>
            <a:srgbClr val="AA79C3"/>
          </a:solidFill>
          <a:ln>
            <a:solidFill>
              <a:srgbClr val="AA79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58200" y="1618488"/>
            <a:ext cx="457200" cy="320040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 algn="ctr">
              <a:defRPr sz="2000" b="1">
                <a:solidFill>
                  <a:srgbClr val="FFD166"/>
                </a:solidFill>
                <a:latin typeface="Aptos"/>
              </a:defRPr>
            </a:pPr>
            <a:r>
              <a:rPr>
                <a:solidFill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0" y="1581912"/>
            <a:ext cx="2377439" cy="384048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1800" b="1">
                <a:solidFill>
                  <a:srgbClr val="F7FBFF"/>
                </a:solidFill>
                <a:latin typeface="Aptos"/>
              </a:defRPr>
            </a:pPr>
            <a:r>
              <a:rPr>
                <a:solidFill/>
              </a:rPr>
              <a:t>Consent-aware sharing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8200" y="2130552"/>
            <a:ext cx="2880360" cy="749808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1450" b="0">
                <a:solidFill>
                  <a:srgbClr val="C4D3E4"/>
                </a:solidFill>
                <a:latin typeface="Aptos"/>
              </a:defRPr>
            </a:pPr>
            <a:r>
              <a:rPr>
                <a:solidFill/>
              </a:rPr>
              <a:t>Evidence, location and wearable permissions are explicit and configurable.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3566160"/>
            <a:ext cx="3337560" cy="1627632"/>
          </a:xfrm>
          <a:prstGeom prst="roundRect">
            <a:avLst>
              <a:gd name="adj" fmla="val 12000"/>
            </a:avLst>
          </a:prstGeom>
          <a:solidFill>
            <a:srgbClr val="F6F0FC"/>
          </a:solidFill>
          <a:ln>
            <a:solidFill>
              <a:srgbClr val="8B6A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31520" y="3566160"/>
            <a:ext cx="64008" cy="1627632"/>
          </a:xfrm>
          <a:prstGeom prst="rect">
            <a:avLst/>
          </a:prstGeom>
          <a:solidFill>
            <a:srgbClr val="BE9BDC"/>
          </a:solidFill>
          <a:ln>
            <a:solidFill>
              <a:srgbClr val="BE9B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60120" y="3767328"/>
            <a:ext cx="457200" cy="320040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 algn="ctr">
              <a:defRPr sz="2000" b="1">
                <a:solidFill>
                  <a:srgbClr val="73E29A"/>
                </a:solidFill>
                <a:latin typeface="Aptos"/>
              </a:defRPr>
            </a:pPr>
            <a:r>
              <a:rPr>
                <a:solidFill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40" y="3730752"/>
            <a:ext cx="2377439" cy="384048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1800" b="1">
                <a:solidFill>
                  <a:srgbClr val="F7FBFF"/>
                </a:solidFill>
                <a:latin typeface="Aptos"/>
              </a:defRPr>
            </a:pPr>
            <a:r>
              <a:rPr>
                <a:solidFill/>
              </a:rPr>
              <a:t>Reliable delivery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4279392"/>
            <a:ext cx="2880360" cy="749808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1450" b="0">
                <a:solidFill>
                  <a:srgbClr val="C4D3E4"/>
                </a:solidFill>
                <a:latin typeface="Aptos"/>
              </a:defRPr>
            </a:pPr>
            <a:r>
              <a:rPr>
                <a:solidFill/>
              </a:rPr>
              <a:t>Pending evidence, timestamps, retry states and duplicate protection.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480559" y="3566160"/>
            <a:ext cx="3337560" cy="1627632"/>
          </a:xfrm>
          <a:prstGeom prst="roundRect">
            <a:avLst>
              <a:gd name="adj" fmla="val 12000"/>
            </a:avLst>
          </a:prstGeom>
          <a:solidFill>
            <a:srgbClr val="F6F0FC"/>
          </a:solidFill>
          <a:ln>
            <a:solidFill>
              <a:srgbClr val="8B6A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480559" y="3566160"/>
            <a:ext cx="64008" cy="1627632"/>
          </a:xfrm>
          <a:prstGeom prst="rect">
            <a:avLst/>
          </a:prstGeom>
          <a:solidFill>
            <a:srgbClr val="704896"/>
          </a:solidFill>
          <a:ln>
            <a:solidFill>
              <a:srgbClr val="704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709159" y="3767328"/>
            <a:ext cx="457200" cy="320040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 algn="ctr">
              <a:defRPr sz="2000" b="1">
                <a:solidFill>
                  <a:srgbClr val="37E0C5"/>
                </a:solidFill>
                <a:latin typeface="Aptos"/>
              </a:defRPr>
            </a:pPr>
            <a:r>
              <a:rPr>
                <a:solidFill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12079" y="3730752"/>
            <a:ext cx="2377439" cy="384048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1800" b="1">
                <a:solidFill>
                  <a:srgbClr val="F7FBFF"/>
                </a:solidFill>
                <a:latin typeface="Aptos"/>
              </a:defRPr>
            </a:pPr>
            <a:r>
              <a:rPr>
                <a:solidFill/>
              </a:rPr>
              <a:t>Auditability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9159" y="4279392"/>
            <a:ext cx="2880360" cy="749808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1450" b="0">
                <a:solidFill>
                  <a:srgbClr val="C4D3E4"/>
                </a:solidFill>
                <a:latin typeface="Aptos"/>
              </a:defRPr>
            </a:pPr>
            <a:r>
              <a:rPr>
                <a:solidFill/>
              </a:rPr>
              <a:t>Who activated, viewed, acknowledged, escalated or resolved — always traceable.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29600" y="3566160"/>
            <a:ext cx="3337560" cy="1627632"/>
          </a:xfrm>
          <a:prstGeom prst="roundRect">
            <a:avLst>
              <a:gd name="adj" fmla="val 12000"/>
            </a:avLst>
          </a:prstGeom>
          <a:solidFill>
            <a:srgbClr val="F6F0FC"/>
          </a:solidFill>
          <a:ln>
            <a:solidFill>
              <a:srgbClr val="8B6A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8229600" y="3566160"/>
            <a:ext cx="64008" cy="1627632"/>
          </a:xfrm>
          <a:prstGeom prst="rect">
            <a:avLst/>
          </a:prstGeom>
          <a:solidFill>
            <a:srgbClr val="9152A9"/>
          </a:solidFill>
          <a:ln>
            <a:solidFill>
              <a:srgbClr val="9152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458200" y="3767328"/>
            <a:ext cx="457200" cy="320040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 algn="ctr">
              <a:defRPr sz="2000" b="1">
                <a:solidFill>
                  <a:srgbClr val="FF7C6B"/>
                </a:solidFill>
                <a:latin typeface="Aptos"/>
              </a:defRPr>
            </a:pPr>
            <a:r>
              <a:rPr>
                <a:solidFill/>
              </a:rPr>
              <a:t>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61120" y="3730752"/>
            <a:ext cx="2377439" cy="384048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1800" b="1">
                <a:solidFill>
                  <a:srgbClr val="F7FBFF"/>
                </a:solidFill>
                <a:latin typeface="Aptos"/>
              </a:defRPr>
            </a:pPr>
            <a:r>
              <a:rPr>
                <a:solidFill/>
              </a:rPr>
              <a:t>Hardware honesty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58200" y="4279392"/>
            <a:ext cx="2880360" cy="749808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1450" b="0">
                <a:solidFill>
                  <a:srgbClr val="C4D3E4"/>
                </a:solidFill>
                <a:latin typeface="Aptos"/>
              </a:defRPr>
            </a:pPr>
            <a:r>
              <a:rPr>
                <a:solidFill/>
              </a:rPr>
              <a:t>Every simulated signal is labeled; real adapters can be added later.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D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464040" y="-594360"/>
            <a:ext cx="3886200" cy="3886200"/>
          </a:xfrm>
          <a:prstGeom prst="ellipse">
            <a:avLst/>
          </a:prstGeom>
          <a:solidFill>
            <a:srgbClr val="704896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1051560" y="5074920"/>
            <a:ext cx="3566160" cy="3566160"/>
          </a:xfrm>
          <a:prstGeom prst="ellipse">
            <a:avLst/>
          </a:prstGeom>
          <a:solidFill>
            <a:srgbClr val="9152A9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183879" y="5257800"/>
            <a:ext cx="2377440" cy="2377440"/>
          </a:xfrm>
          <a:prstGeom prst="ellipse">
            <a:avLst/>
          </a:prstGeom>
          <a:solidFill>
            <a:srgbClr val="AA79C3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5623560" y="-502920"/>
            <a:ext cx="2880360" cy="2880360"/>
          </a:xfrm>
          <a:prstGeom prst="ellipse">
            <a:avLst/>
          </a:prstGeom>
          <a:solidFill>
            <a:srgbClr val="7D57B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D57BE"/>
          </a:solidFill>
          <a:ln>
            <a:solidFill>
              <a:srgbClr val="7D5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329184"/>
            <a:ext cx="5486400" cy="274320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1200" b="1">
                <a:solidFill>
                  <a:srgbClr val="37E0C5"/>
                </a:solidFill>
                <a:latin typeface="Aptos"/>
              </a:defRPr>
            </a:pPr>
            <a:r>
              <a:rPr>
                <a:solidFill/>
              </a:rPr>
              <a:t>END-TO-END SCRIPT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0080"/>
            <a:ext cx="10789920" cy="640080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3200" b="1">
                <a:solidFill>
                  <a:srgbClr val="F7FBFF"/>
                </a:solidFill>
                <a:latin typeface="Aptos"/>
              </a:defRPr>
            </a:pPr>
            <a:r>
              <a:rPr>
                <a:solidFill/>
              </a:rPr>
              <a:t>The judge-ready demo journey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384048"/>
            <a:ext cx="502920" cy="274320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 algn="r">
              <a:defRPr sz="1100" b="1">
                <a:solidFill>
                  <a:srgbClr val="C4D3E4"/>
                </a:solidFill>
                <a:latin typeface="Aptos"/>
              </a:defRPr>
            </a:pPr>
            <a:r>
              <a:rPr>
                <a:solidFill/>
              </a:rPr>
              <a:t>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325880"/>
            <a:ext cx="438912" cy="438912"/>
          </a:xfrm>
          <a:prstGeom prst="roundRect">
            <a:avLst>
              <a:gd name="adj" fmla="val 12000"/>
            </a:avLst>
          </a:prstGeom>
          <a:solidFill>
            <a:srgbClr val="704896"/>
          </a:solidFill>
          <a:ln>
            <a:solidFill>
              <a:srgbClr val="704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1426464"/>
            <a:ext cx="438912" cy="164592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 algn="ctr">
              <a:defRPr sz="1200" b="1">
                <a:solidFill>
                  <a:srgbClr val="1F1031"/>
                </a:solidFill>
                <a:latin typeface="Aptos"/>
              </a:defRPr>
            </a:pPr>
            <a:r>
              <a:rPr>
                <a:solidFill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1344168"/>
            <a:ext cx="1371600" cy="228600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1400" b="1">
                <a:solidFill>
                  <a:srgbClr val="F7FBFF"/>
                </a:solidFill>
                <a:latin typeface="Aptos"/>
              </a:defRPr>
            </a:pPr>
            <a:r>
              <a:rPr>
                <a:solidFill/>
              </a:rPr>
              <a:t>Configure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07792" y="1344168"/>
            <a:ext cx="8046720" cy="320040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1200" b="0">
                <a:solidFill>
                  <a:srgbClr val="C4D3E4"/>
                </a:solidFill>
                <a:latin typeface="Aptos"/>
              </a:defRPr>
            </a:pPr>
            <a:r>
              <a:rPr>
                <a:solidFill/>
              </a:rPr>
              <a:t>Set keyword HELP; add a trusted member; grant demo permissions.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2075688"/>
            <a:ext cx="438912" cy="438912"/>
          </a:xfrm>
          <a:prstGeom prst="roundRect">
            <a:avLst>
              <a:gd name="adj" fmla="val 12000"/>
            </a:avLst>
          </a:prstGeom>
          <a:solidFill>
            <a:srgbClr val="704896"/>
          </a:solidFill>
          <a:ln>
            <a:solidFill>
              <a:srgbClr val="704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2176272"/>
            <a:ext cx="438912" cy="164592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 algn="ctr">
              <a:defRPr sz="1200" b="1">
                <a:solidFill>
                  <a:srgbClr val="1F1031"/>
                </a:solidFill>
                <a:latin typeface="Aptos"/>
              </a:defRPr>
            </a:pPr>
            <a:r>
              <a:rPr>
                <a:solidFill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2093976"/>
            <a:ext cx="1371600" cy="228600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1400" b="1">
                <a:solidFill>
                  <a:srgbClr val="F7FBFF"/>
                </a:solidFill>
                <a:latin typeface="Aptos"/>
              </a:defRPr>
            </a:pPr>
            <a:r>
              <a:rPr>
                <a:solidFill/>
              </a:rPr>
              <a:t>Trigger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07792" y="2093976"/>
            <a:ext cx="8046720" cy="320040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1200" b="0">
                <a:solidFill>
                  <a:srgbClr val="C4D3E4"/>
                </a:solidFill>
                <a:latin typeface="Aptos"/>
              </a:defRPr>
            </a:pPr>
            <a:r>
              <a:rPr>
                <a:solidFill/>
              </a:rPr>
              <a:t>Click Simulate Keyword Detection — incident ID appears immediately.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2825496"/>
            <a:ext cx="438912" cy="438912"/>
          </a:xfrm>
          <a:prstGeom prst="roundRect">
            <a:avLst>
              <a:gd name="adj" fmla="val 12000"/>
            </a:avLst>
          </a:prstGeom>
          <a:solidFill>
            <a:srgbClr val="704896"/>
          </a:solidFill>
          <a:ln>
            <a:solidFill>
              <a:srgbClr val="704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" y="2926079"/>
            <a:ext cx="438912" cy="164592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 algn="ctr">
              <a:defRPr sz="1200" b="1">
                <a:solidFill>
                  <a:srgbClr val="1F1031"/>
                </a:solidFill>
                <a:latin typeface="Aptos"/>
              </a:defRPr>
            </a:pPr>
            <a:r>
              <a:rPr>
                <a:solidFill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2843784"/>
            <a:ext cx="1371600" cy="228600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1400" b="1">
                <a:solidFill>
                  <a:srgbClr val="F7FBFF"/>
                </a:solidFill>
                <a:latin typeface="Aptos"/>
              </a:defRPr>
            </a:pPr>
            <a:r>
              <a:rPr>
                <a:solidFill/>
              </a:rPr>
              <a:t>Observe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07792" y="2843784"/>
            <a:ext cx="8046720" cy="320040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1200" b="0">
                <a:solidFill>
                  <a:srgbClr val="C4D3E4"/>
                </a:solidFill>
                <a:latin typeface="Aptos"/>
              </a:defRPr>
            </a:pPr>
            <a:r>
              <a:rPr>
                <a:solidFill/>
              </a:rPr>
              <a:t>Watch location, timeline, evidence interval and SafeWatch telemetry update.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3575304"/>
            <a:ext cx="438912" cy="438912"/>
          </a:xfrm>
          <a:prstGeom prst="roundRect">
            <a:avLst>
              <a:gd name="adj" fmla="val 12000"/>
            </a:avLst>
          </a:prstGeom>
          <a:solidFill>
            <a:srgbClr val="704896"/>
          </a:solidFill>
          <a:ln>
            <a:solidFill>
              <a:srgbClr val="704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7240" y="3675888"/>
            <a:ext cx="438912" cy="164592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 algn="ctr">
              <a:defRPr sz="1200" b="1">
                <a:solidFill>
                  <a:srgbClr val="1F1031"/>
                </a:solidFill>
                <a:latin typeface="Aptos"/>
              </a:defRPr>
            </a:pPr>
            <a:r>
              <a:rPr>
                <a:solidFill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3593592"/>
            <a:ext cx="1371600" cy="228600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1400" b="1">
                <a:solidFill>
                  <a:srgbClr val="F7FBFF"/>
                </a:solidFill>
                <a:latin typeface="Aptos"/>
              </a:defRPr>
            </a:pPr>
            <a:r>
              <a:rPr>
                <a:solidFill/>
              </a:rPr>
              <a:t>Respond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07792" y="3593592"/>
            <a:ext cx="8046720" cy="320040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1200" b="0">
                <a:solidFill>
                  <a:srgbClr val="C4D3E4"/>
                </a:solidFill>
                <a:latin typeface="Aptos"/>
              </a:defRPr>
            </a:pPr>
            <a:r>
              <a:rPr>
                <a:solidFill/>
              </a:rPr>
              <a:t>Switch to trusted-member view; acknowledge, mark Responding and escalate if needed.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4325112"/>
            <a:ext cx="438912" cy="438912"/>
          </a:xfrm>
          <a:prstGeom prst="roundRect">
            <a:avLst>
              <a:gd name="adj" fmla="val 12000"/>
            </a:avLst>
          </a:prstGeom>
          <a:solidFill>
            <a:srgbClr val="BE9BDC"/>
          </a:solidFill>
          <a:ln>
            <a:solidFill>
              <a:srgbClr val="BE9B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77240" y="4425696"/>
            <a:ext cx="438912" cy="164592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 algn="ctr">
              <a:defRPr sz="1200" b="1">
                <a:solidFill>
                  <a:srgbClr val="1F1031"/>
                </a:solidFill>
                <a:latin typeface="Aptos"/>
              </a:defRPr>
            </a:pPr>
            <a:r>
              <a:rPr>
                <a:solidFill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40" y="4343399"/>
            <a:ext cx="1371600" cy="228600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1400" b="1">
                <a:solidFill>
                  <a:srgbClr val="F7FBFF"/>
                </a:solidFill>
                <a:latin typeface="Aptos"/>
              </a:defRPr>
            </a:pPr>
            <a:r>
              <a:rPr>
                <a:solidFill/>
              </a:rPr>
              <a:t>Interrupt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07792" y="4343399"/>
            <a:ext cx="8046720" cy="320040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1200" b="0">
                <a:solidFill>
                  <a:srgbClr val="C4D3E4"/>
                </a:solidFill>
                <a:latin typeface="Aptos"/>
              </a:defRPr>
            </a:pPr>
            <a:r>
              <a:rPr>
                <a:solidFill/>
              </a:rPr>
              <a:t>Toggle connectivity; show evidence queued as pending, then retry on reconnect.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" y="5074920"/>
            <a:ext cx="438912" cy="438912"/>
          </a:xfrm>
          <a:prstGeom prst="roundRect">
            <a:avLst>
              <a:gd name="adj" fmla="val 12000"/>
            </a:avLst>
          </a:prstGeom>
          <a:solidFill>
            <a:srgbClr val="BE9BDC"/>
          </a:solidFill>
          <a:ln>
            <a:solidFill>
              <a:srgbClr val="BE9B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77240" y="5175504"/>
            <a:ext cx="438912" cy="164592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 algn="ctr">
              <a:defRPr sz="1200" b="1">
                <a:solidFill>
                  <a:srgbClr val="1F1031"/>
                </a:solidFill>
                <a:latin typeface="Aptos"/>
              </a:defRPr>
            </a:pPr>
            <a:r>
              <a:rPr>
                <a:solidFill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63040" y="5093207"/>
            <a:ext cx="1371600" cy="228600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1400" b="1">
                <a:solidFill>
                  <a:srgbClr val="F7FBFF"/>
                </a:solidFill>
                <a:latin typeface="Aptos"/>
              </a:defRPr>
            </a:pPr>
            <a:r>
              <a:rPr>
                <a:solidFill/>
              </a:rPr>
              <a:t>Close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07792" y="5093207"/>
            <a:ext cx="8046720" cy="320040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1200" b="0">
                <a:solidFill>
                  <a:srgbClr val="C4D3E4"/>
                </a:solidFill>
                <a:latin typeface="Aptos"/>
              </a:defRPr>
            </a:pPr>
            <a:r>
              <a:rPr>
                <a:solidFill/>
              </a:rPr>
              <a:t>Resolve with notes; review complete incident history and audit events.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D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464040" y="-594360"/>
            <a:ext cx="3886200" cy="3886200"/>
          </a:xfrm>
          <a:prstGeom prst="ellipse">
            <a:avLst/>
          </a:prstGeom>
          <a:solidFill>
            <a:srgbClr val="704896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1051560" y="5074920"/>
            <a:ext cx="3566160" cy="3566160"/>
          </a:xfrm>
          <a:prstGeom prst="ellipse">
            <a:avLst/>
          </a:prstGeom>
          <a:solidFill>
            <a:srgbClr val="9152A9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183879" y="5257800"/>
            <a:ext cx="2377440" cy="2377440"/>
          </a:xfrm>
          <a:prstGeom prst="ellipse">
            <a:avLst/>
          </a:prstGeom>
          <a:solidFill>
            <a:srgbClr val="AA79C3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5623560" y="-502920"/>
            <a:ext cx="2880360" cy="2880360"/>
          </a:xfrm>
          <a:prstGeom prst="ellipse">
            <a:avLst/>
          </a:prstGeom>
          <a:solidFill>
            <a:srgbClr val="7D57B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D57BE"/>
          </a:solidFill>
          <a:ln>
            <a:solidFill>
              <a:srgbClr val="7D5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329184"/>
            <a:ext cx="5486400" cy="274320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1200" b="1">
                <a:solidFill>
                  <a:srgbClr val="37E0C5"/>
                </a:solidFill>
                <a:latin typeface="Aptos"/>
              </a:defRPr>
            </a:pPr>
            <a:r>
              <a:rPr>
                <a:solidFill/>
              </a:rPr>
              <a:t>DELIVERY 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0080"/>
            <a:ext cx="10789920" cy="640080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3200" b="1">
                <a:solidFill>
                  <a:srgbClr val="F7FBFF"/>
                </a:solidFill>
                <a:latin typeface="Aptos"/>
              </a:defRPr>
            </a:pPr>
            <a:r>
              <a:rPr>
                <a:solidFill/>
              </a:rPr>
              <a:t>Build priorities and definition of done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384048"/>
            <a:ext cx="502920" cy="274320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 algn="r">
              <a:defRPr sz="1100" b="1">
                <a:solidFill>
                  <a:srgbClr val="C4D3E4"/>
                </a:solidFill>
                <a:latin typeface="Aptos"/>
              </a:defRPr>
            </a:pPr>
            <a:r>
              <a:rPr>
                <a:solidFill/>
              </a:rPr>
              <a:t>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417320"/>
            <a:ext cx="3474720" cy="3566160"/>
          </a:xfrm>
          <a:prstGeom prst="roundRect">
            <a:avLst>
              <a:gd name="adj" fmla="val 12000"/>
            </a:avLst>
          </a:prstGeom>
          <a:solidFill>
            <a:srgbClr val="F6F0FC"/>
          </a:solidFill>
          <a:ln>
            <a:solidFill>
              <a:srgbClr val="8B6A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85800" y="1417320"/>
            <a:ext cx="64008" cy="3566160"/>
          </a:xfrm>
          <a:prstGeom prst="rect">
            <a:avLst/>
          </a:prstGeom>
          <a:solidFill>
            <a:srgbClr val="704896"/>
          </a:solidFill>
          <a:ln>
            <a:solidFill>
              <a:srgbClr val="704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1618488"/>
            <a:ext cx="457200" cy="320040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 algn="ctr">
              <a:defRPr sz="2000" b="1">
                <a:solidFill>
                  <a:srgbClr val="37E0C5"/>
                </a:solidFill>
                <a:latin typeface="Aptos"/>
              </a:defRPr>
            </a:pPr>
            <a:r>
              <a:rPr>
                <a:solidFill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1581912"/>
            <a:ext cx="2514600" cy="384048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1800" b="1">
                <a:solidFill>
                  <a:srgbClr val="F7FBFF"/>
                </a:solidFill>
                <a:latin typeface="Aptos"/>
              </a:defRPr>
            </a:pPr>
            <a:r>
              <a:rPr>
                <a:solidFill/>
              </a:rPr>
              <a:t>Phase 1 — foundation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130552"/>
            <a:ext cx="3017520" cy="2688336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1450" b="0">
                <a:solidFill>
                  <a:srgbClr val="C4D3E4"/>
                </a:solidFill>
                <a:latin typeface="Aptos"/>
              </a:defRPr>
            </a:pPr>
            <a:r>
              <a:rPr>
                <a:solidFill/>
              </a:rPr>
              <a:t>• Authentication and roles</a:t>
            </a:r>
            <a:br/>
            <a:r>
              <a:rPr>
                <a:solidFill/>
              </a:rPr>
              <a:t>• Profile and trusted members</a:t>
            </a:r>
            <a:br/>
            <a:r>
              <a:rPr>
                <a:solidFill/>
              </a:rPr>
              <a:t>• Keyword configuration</a:t>
            </a:r>
            <a:br/>
            <a:r>
              <a:rPr>
                <a:solidFill/>
              </a:rPr>
              <a:t>• Incident and timeline data model</a:t>
            </a:r>
            <a:br/>
            <a:r>
              <a:rPr>
                <a:solidFill/>
              </a:rPr>
              <a:t>• Responsive web shell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0832" y="1417320"/>
            <a:ext cx="3474720" cy="3566160"/>
          </a:xfrm>
          <a:prstGeom prst="roundRect">
            <a:avLst>
              <a:gd name="adj" fmla="val 12000"/>
            </a:avLst>
          </a:prstGeom>
          <a:solidFill>
            <a:srgbClr val="F6F0FC"/>
          </a:solidFill>
          <a:ln>
            <a:solidFill>
              <a:srgbClr val="8B6A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370832" y="1417320"/>
            <a:ext cx="64008" cy="3566160"/>
          </a:xfrm>
          <a:prstGeom prst="rect">
            <a:avLst/>
          </a:prstGeom>
          <a:solidFill>
            <a:srgbClr val="AA79C3"/>
          </a:solidFill>
          <a:ln>
            <a:solidFill>
              <a:srgbClr val="AA79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99432" y="1618488"/>
            <a:ext cx="457200" cy="320040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 algn="ctr">
              <a:defRPr sz="2000" b="1">
                <a:solidFill>
                  <a:srgbClr val="FFD166"/>
                </a:solidFill>
                <a:latin typeface="Aptos"/>
              </a:defRPr>
            </a:pPr>
            <a:r>
              <a:rPr>
                <a:solidFill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02352" y="1581912"/>
            <a:ext cx="2514600" cy="384048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1800" b="1">
                <a:solidFill>
                  <a:srgbClr val="F7FBFF"/>
                </a:solidFill>
                <a:latin typeface="Aptos"/>
              </a:defRPr>
            </a:pPr>
            <a:r>
              <a:rPr>
                <a:solidFill/>
              </a:rPr>
              <a:t>Phase 2 — live response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9432" y="2130552"/>
            <a:ext cx="3017520" cy="2688336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1450" b="0">
                <a:solidFill>
                  <a:srgbClr val="C4D3E4"/>
                </a:solidFill>
                <a:latin typeface="Aptos"/>
              </a:defRPr>
            </a:pPr>
            <a:r>
              <a:rPr>
                <a:solidFill/>
              </a:rPr>
              <a:t>• Real-time incident updates</a:t>
            </a:r>
            <a:br/>
            <a:r>
              <a:rPr>
                <a:solidFill/>
              </a:rPr>
              <a:t>• City-data and dispatch integration</a:t>
            </a:r>
            <a:br/>
            <a:r>
              <a:rPr>
                <a:solidFill/>
              </a:rPr>
              <a:t>• Evidence scheduler and statuses</a:t>
            </a:r>
            <a:br/>
            <a:r>
              <a:rPr>
                <a:solidFill/>
              </a:rPr>
              <a:t>• Location map and route simulation</a:t>
            </a:r>
            <a:br/>
            <a:r>
              <a:rPr>
                <a:solidFill/>
              </a:rPr>
              <a:t>• Notifications and response actions</a:t>
            </a:r>
            <a:br/>
            <a:r>
              <a:rPr>
                <a:solidFill/>
              </a:rPr>
              <a:t>• Simulated wearable telemetry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55864" y="1417320"/>
            <a:ext cx="3474720" cy="3566160"/>
          </a:xfrm>
          <a:prstGeom prst="roundRect">
            <a:avLst>
              <a:gd name="adj" fmla="val 12000"/>
            </a:avLst>
          </a:prstGeom>
          <a:solidFill>
            <a:srgbClr val="F6F0FC"/>
          </a:solidFill>
          <a:ln>
            <a:solidFill>
              <a:srgbClr val="8B6A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055864" y="1417320"/>
            <a:ext cx="64008" cy="3566160"/>
          </a:xfrm>
          <a:prstGeom prst="rect">
            <a:avLst/>
          </a:prstGeom>
          <a:solidFill>
            <a:srgbClr val="9152A9"/>
          </a:solidFill>
          <a:ln>
            <a:solidFill>
              <a:srgbClr val="9152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84464" y="1618488"/>
            <a:ext cx="457200" cy="320040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 algn="ctr">
              <a:defRPr sz="2000" b="1">
                <a:solidFill>
                  <a:srgbClr val="FF7C6B"/>
                </a:solidFill>
                <a:latin typeface="Aptos"/>
              </a:defRPr>
            </a:pPr>
            <a:r>
              <a:rPr>
                <a:solidFill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87384" y="1581912"/>
            <a:ext cx="2514600" cy="384048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1800" b="1">
                <a:solidFill>
                  <a:srgbClr val="F7FBFF"/>
                </a:solidFill>
                <a:latin typeface="Aptos"/>
              </a:defRPr>
            </a:pPr>
            <a:r>
              <a:rPr>
                <a:solidFill/>
              </a:rPr>
              <a:t>Phase 3 — hardening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4464" y="2130552"/>
            <a:ext cx="3017520" cy="2688336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1450" b="0">
                <a:solidFill>
                  <a:srgbClr val="C4D3E4"/>
                </a:solidFill>
                <a:latin typeface="Aptos"/>
              </a:defRPr>
            </a:pPr>
            <a:r>
              <a:rPr>
                <a:solidFill/>
              </a:rPr>
              <a:t>• Offline queue and deduplication</a:t>
            </a:r>
            <a:br/>
            <a:r>
              <a:rPr>
                <a:solidFill/>
              </a:rPr>
              <a:t>• Authorization tests</a:t>
            </a:r>
            <a:br/>
            <a:r>
              <a:rPr>
                <a:solidFill/>
              </a:rPr>
              <a:t>• Audit log review</a:t>
            </a:r>
            <a:br/>
            <a:r>
              <a:rPr>
                <a:solidFill/>
              </a:rPr>
              <a:t>• Demo-mode controls</a:t>
            </a:r>
            <a:br/>
            <a:r>
              <a:rPr>
                <a:solidFill/>
              </a:rPr>
              <a:t>• Hardware adapter documentation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5358384"/>
            <a:ext cx="1737360" cy="228600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1100" b="1">
                <a:solidFill>
                  <a:srgbClr val="37E0C5"/>
                </a:solidFill>
                <a:latin typeface="Aptos"/>
              </a:defRPr>
            </a:pPr>
            <a:r>
              <a:rPr>
                <a:solidFill/>
              </a:rPr>
              <a:t>Definition of done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14600" y="5303520"/>
            <a:ext cx="8595360" cy="411480"/>
          </a:xfrm>
          <a:prstGeom prst="rect">
            <a:avLst/>
          </a:prstGeom>
          <a:noFill/>
          <a:ln/>
        </p:spPr>
        <p:txBody>
          <a:bodyPr wrap="square" lIns="36576" tIns="18288" rIns="36576" anchor="t">
            <a:spAutoFit/>
          </a:bodyPr>
          <a:lstStyle/>
          <a:p>
            <a:pPr>
              <a:defRPr sz="1600" b="1">
                <a:solidFill>
                  <a:srgbClr val="F7FBFF"/>
                </a:solidFill>
                <a:latin typeface="Aptos"/>
              </a:defRPr>
            </a:pPr>
            <a:r>
              <a:rPr>
                <a:solidFill/>
              </a:rPr>
              <a:t>A judge can activate an incident, see the system react in real time, coordinate a response, interrupt connectivity, reconnect, and resolve the incident with a complete history.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D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7D57B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789920" cy="50292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7FBFF"/>
                </a:solidFill>
                <a:latin typeface="Aptos"/>
              </a:defRPr>
            </a:pPr>
            <a:r>
              <a:rPr>
                <a:solidFill/>
              </a:rPr>
              <a:t>3D CONCEPT VISUALS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32688"/>
            <a:ext cx="10515600" cy="32004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4AAEB"/>
                </a:solidFill>
                <a:latin typeface="Aptos"/>
              </a:defRPr>
            </a:pPr>
            <a:r>
              <a:rPr>
                <a:solidFill/>
              </a:rPr>
              <a:t>Visualising silent protection, smart-city intelligence and coordinated response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5669280" cy="3886200"/>
          </a:xfrm>
          <a:prstGeom prst="roundRect">
            <a:avLst/>
          </a:prstGeom>
          <a:solidFill>
            <a:srgbClr val="F6F0FC"/>
          </a:solidFill>
          <a:ln w="19050">
            <a:solidFill>
              <a:srgbClr val="7D5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46520" y="1417320"/>
            <a:ext cx="5166360" cy="3886200"/>
          </a:xfrm>
          <a:prstGeom prst="roundRect">
            <a:avLst/>
          </a:prstGeom>
          <a:solidFill>
            <a:srgbClr val="F6F0FC"/>
          </a:solidFill>
          <a:ln w="19050">
            <a:solidFill>
              <a:srgbClr val="7D5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device_shield_3d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572768"/>
            <a:ext cx="5358384" cy="3502152"/>
          </a:xfrm>
          <a:prstGeom prst="rect">
            <a:avLst/>
          </a:prstGeom>
          <a:ln/>
        </p:spPr>
      </p:pic>
      <p:pic>
        <p:nvPicPr>
          <p:cNvPr id="8" name="Picture 7" descr="device_shield_3d_c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1968" y="1572768"/>
            <a:ext cx="4855464" cy="3502152"/>
          </a:xfrm>
          <a:prstGeom prst="rect">
            <a:avLst/>
          </a:prstGeom>
          <a:ln/>
        </p:spPr>
      </p:pic>
      <p:sp>
        <p:nvSpPr>
          <p:cNvPr id="9" name="TextBox 8"/>
          <p:cNvSpPr txBox="1"/>
          <p:nvPr/>
        </p:nvSpPr>
        <p:spPr>
          <a:xfrm>
            <a:off x="868680" y="4937760"/>
            <a:ext cx="4937760" cy="27432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7E0C5"/>
                </a:solidFill>
                <a:latin typeface="Aptos"/>
              </a:defRPr>
            </a:pPr>
            <a:r>
              <a:rPr>
                <a:solidFill/>
              </a:rPr>
              <a:t>Silent survivor protection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4937760"/>
            <a:ext cx="4937760" cy="27432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7E0C5"/>
                </a:solidFill>
                <a:latin typeface="Aptos"/>
              </a:defRPr>
            </a:pPr>
            <a:r>
              <a:rPr>
                <a:solidFill/>
              </a:rPr>
              <a:t>Real-time city data + automated dispatch</a:t>
            </a:r>
          </a:p>
        </p:txBody>
      </p:sp>
      <p:pic>
        <p:nvPicPr>
          <p:cNvPr id="11" name="Picture 10" descr="device_shield_3d_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6360" y="5468112"/>
            <a:ext cx="1234440" cy="1234440"/>
          </a:xfrm>
          <a:prstGeom prst="rect">
            <a:avLst/>
          </a:prstGeom>
          <a:ln/>
        </p:spPr>
      </p:pic>
      <p:sp>
        <p:nvSpPr>
          <p:cNvPr id="12" name="TextBox 11"/>
          <p:cNvSpPr txBox="1"/>
          <p:nvPr/>
        </p:nvSpPr>
        <p:spPr>
          <a:xfrm>
            <a:off x="6446520" y="5742432"/>
            <a:ext cx="5120640" cy="32004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F7FBFF"/>
                </a:solidFill>
                <a:latin typeface="Aptos"/>
              </a:defRPr>
            </a:pPr>
            <a:r>
              <a:rPr>
                <a:solidFill/>
              </a:rPr>
              <a:t>Protect • Detect • Coordinate • Respond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1719</Words>
  <Application>Microsoft Office PowerPoint</Application>
  <PresentationFormat>Widescreen</PresentationFormat>
  <Paragraphs>296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Device Shield — Smart City GBV Response System</dc:title>
  <dc:subject>Web-only smart-city GBV response prototype presentation</dc:subject>
  <dc:creator>Arena.ai</dc:creator>
  <cp:keywords>emergency safety, incident response, web dashboard, simulated IoT</cp:keywords>
  <dc:description>generated using python-pptx</dc:description>
  <cp:lastModifiedBy>L Mbethe</cp:lastModifiedBy>
  <cp:revision>2</cp:revision>
  <dcterms:created xsi:type="dcterms:W3CDTF">2013-01-27T09:14:16Z</dcterms:created>
  <dcterms:modified xsi:type="dcterms:W3CDTF">2026-09-17T23:26:51Z</dcterms:modified>
  <cp:category/>
</cp:coreProperties>
</file>